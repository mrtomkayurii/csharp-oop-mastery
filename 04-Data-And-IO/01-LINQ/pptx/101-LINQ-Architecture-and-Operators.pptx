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6576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.NET 10 LTS · C# 14 · ENTERPRISE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Language Integrated Query (LINQ)</a:t>
            </a:r>
            <a:br/>
            <a:r>
              <a:t>у .NET 10</a:t>
            </a:r>
          </a:p>
          <a:p>
            <a:pPr>
              <a:defRPr sz="2000">
                <a:solidFill>
                  <a:srgbClr val="94A3B8"/>
                </a:solidFill>
                <a:latin typeface="Calibri"/>
              </a:defRPr>
            </a:pPr>
            <a:r>
              <a:t>Повний курс архітектури, компіляторних механік, моделей виконання та патернів обробки даних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41071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15 КАТЕГОРІЙ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Повний спектр операторів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Від базової фільтрації до Hash Joins та Fold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4114800"/>
            <a:ext cx="341071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101 ПРИКЛАД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100% практичного коду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Чисті приклади на реальних моделях Northwind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4114800"/>
            <a:ext cx="3410712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NET 10 PERFORMANCE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Оптимізація та пам'ять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Streaming, O(1) memory, уникнення Multiple Enumeration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НАВЧАЛЬНИЙ 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Архітектурна карта курсу: 7 тематичних модулів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02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81912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08760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Архітектурний Фундамент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Декларативність, IEnumerable / IEnumerator, автомат станів yield return, Roslyn desugaring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24328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788920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15768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Механіка Виконання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Deferred проти Immediate виконання, Streaming (O(1)) проти Buffering (O(N)), Multiple Enumeration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31336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995928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922776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Фільтрація та Проєкції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Where з індексом, Select та DTO, сплощення 1:N через SelectMany, декартовий Cross Join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202936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29783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Секціонування та Сортування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Конвеєрна пагінація Skip/Take, предикатний TakeWhile/SkipWhile, IOrderedEnumerable, ThenBy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417320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581912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1508760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Групування та Множини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Анатомія GroupBy, хешування ключів, ILookup кешування, Distinct, Union, Intersect, Except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2624328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4224" y="2788920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3" y="2715768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Реляційні З'єднання &amp; Агрегати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Hash Join, GroupJoin (1:N), Left Outer Join через DefaultIfEmpty, універсальний Fold/Aggregate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7064" y="3831336"/>
            <a:ext cx="523036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3995928"/>
            <a:ext cx="685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3" y="3922776"/>
            <a:ext cx="4178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Advanced &amp; Best Practices</a:t>
            </a:r>
          </a:p>
          <a:p>
            <a:pPr>
              <a:defRPr sz="1100">
                <a:solidFill>
                  <a:srgbClr val="334155"/>
                </a:solidFill>
                <a:latin typeface="Calibri"/>
              </a:defRPr>
            </a:pPr>
            <a:r>
              <a:t>Short-circuiting Any/All, First проти Single, кастомні оператори (Zip), ТОП-7 антипатернів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 ·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Парадигма: Імперативний код проти Декларативного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03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alibri"/>
              </a:defRPr>
            </a:pPr>
            <a:r>
              <a:t>🔴 Імперативний підхід («ЯК обчислювати»)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Керування потоком: </a:t>
            </a:r>
            <a:r>
              <a:rPr sz="1350">
                <a:solidFill>
                  <a:srgbClr val="334155"/>
                </a:solidFill>
                <a:latin typeface="Calibri"/>
              </a:rPr>
              <a:t>Ручні цикли for/foreach, кроки ітерації та прапорці стану.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Виділення пам'яті: </a:t>
            </a:r>
            <a:r>
              <a:rPr sz="1350">
                <a:solidFill>
                  <a:srgbClr val="334155"/>
                </a:solidFill>
                <a:latin typeface="Calibri"/>
              </a:rPr>
              <a:t>Обов'язкове створення проміжних списків new List&lt;T&gt;() у Heap.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Складність коду: </a:t>
            </a:r>
            <a:r>
              <a:rPr sz="1350">
                <a:solidFill>
                  <a:srgbClr val="334155"/>
                </a:solidFill>
                <a:latin typeface="Calibri"/>
              </a:rPr>
              <a:t>Логіка фільтрації розпорошена серед керуючих конструкцій.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❌ Ручний перебір з виділенням пам'яті у Heap: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List&lt;Product&gt; result = new List&lt;Product&gt;();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foreach (var p in products)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if (p.UnitPrice &gt; 50 &amp;&amp; p.UnitsInStock &gt; 0)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result.Add(p); // Зайві алокації в пам'яті!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🟢 Декларативний LINQ («ЩО отримати»)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Композиція функцій: </a:t>
            </a:r>
            <a:r>
              <a:rPr sz="1350">
                <a:solidFill>
                  <a:srgbClr val="334155"/>
                </a:solidFill>
                <a:latin typeface="Calibri"/>
              </a:rPr>
              <a:t>Опис результату через чисті предикати без сторонніх ефектів.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Потокова обробка: </a:t>
            </a:r>
            <a:r>
              <a:rPr sz="1350">
                <a:solidFill>
                  <a:srgbClr val="334155"/>
                </a:solidFill>
                <a:latin typeface="Calibri"/>
              </a:rPr>
              <a:t>Нуль проміжних списків у пам'яті (константна пам'ять O(1)).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Безпека та якість: </a:t>
            </a:r>
            <a:r>
              <a:rPr sz="1350">
                <a:solidFill>
                  <a:srgbClr val="334155"/>
                </a:solidFill>
                <a:latin typeface="Calibri"/>
              </a:rPr>
              <a:t>Строга типізація на етапі компіляції та самодокументований код.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✅ Декларативний потоковий конвеєр LINQ: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result =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.Where(p =&gt; p.UnitPrice &gt; 50 &amp;&amp; p.UnitsInStock &gt; 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Потоковий ітератор (O(1) додаткової пам'яті)!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Жодного проміжного списку не створено в Heap.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Архітектурна перевага LINQ: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Декларативність LINQ усуває понад 70% шаблонного коду перебору та виключає помилки мутабельного стану колекцій під час обробки.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 ·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C# Roslyn Compiler: Децукрування та Expression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04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Query Syntax проти Method Syntax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Децукрування (Desugaring): </a:t>
            </a:r>
            <a:r>
              <a:rPr sz="1300">
                <a:solidFill>
                  <a:srgbClr val="334155"/>
                </a:solidFill>
                <a:latin typeface="Calibri"/>
              </a:rPr>
              <a:t>Roslyn на етапі парсингу завжди перетворює Query Syntax у виклики методів розширення.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Повна еквівалентність: </a:t>
            </a:r>
            <a:r>
              <a:rPr sz="1300">
                <a:solidFill>
                  <a:srgbClr val="334155"/>
                </a:solidFill>
                <a:latin typeface="Calibri"/>
              </a:rPr>
              <a:t>from x in list where x &gt; 5 select x повністю транслюється в list.Where(x =&gt; x &gt; 5).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Байт-код IL: </a:t>
            </a:r>
            <a:r>
              <a:rPr sz="1300">
                <a:solidFill>
                  <a:srgbClr val="334155"/>
                </a:solidFill>
                <a:latin typeface="Calibri"/>
              </a:rPr>
              <a:t>Згенерований компілятором код абсолютно ідентичний — нульова різниця у швидкодії.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Сфери застосування: </a:t>
            </a:r>
            <a:r>
              <a:rPr sz="1300">
                <a:solidFill>
                  <a:srgbClr val="334155"/>
                </a:solidFill>
                <a:latin typeface="Calibri"/>
              </a:rPr>
              <a:t>Query Syntax краще для Join / GroupJoin; Method Syntax — для Take, Skip, OrderBy.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Дві гілки абстракції LINQ: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IEnumerable&lt;T&gt; використовує Func&lt;T&gt; (делегати в пам'яті).</a:t>
            </a:r>
            <a:br/>
            <a:r>
              <a:t>IQueryable&lt;T&gt; використовує Expression&lt;Func&lt;T&gt;&gt; (дерева виразів для SQL).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1. Декларативний Query Syntax: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q1 = from p in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 where p.UnitsInStock &gt; 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 select p.ProductName;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2. Roslyn транслює це у Method Syntax: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q2 =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 .Where(p =&gt; p.UnitsInStock &gt; 0)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 .Select(p =&gt; p.ProductName);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Байт-код CIL для q1 та q2 ідентичний на 100%!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Chai, Chang, Aniseed Syrup...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Примітка: IQueryable передає Expression Tree в EF Core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Program.cs · LinqSamplesCommon/TestData.cs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⚙️ Під капотом: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IEnumerable&lt;T&gt; оперує скомпільованими IL-інструкціями в пам'яті. IQueryable&lt;T&gt; передає дерево синтаксису (Expression Tree) провайдеру EF Core для трансляції в чистий 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 · АРХІТЕКТУРА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Анатомія Ітерації: Дует IEnumerable&lt;T&gt; та IEnumerator&lt;T&gt;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05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Pull-модель та автомат станів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Інтерфейс IEnumerable&lt;T&gt;: </a:t>
            </a:r>
            <a:r>
              <a:rPr sz="1300">
                <a:solidFill>
                  <a:srgbClr val="334155"/>
                </a:solidFill>
                <a:latin typeface="Calibri"/>
              </a:rPr>
              <a:t>Є фабрикою курсорів перебору і надає єдиний метод: GetEnumerator().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IEnumerator&lt;T&gt;: </a:t>
            </a:r>
            <a:r>
              <a:rPr sz="1300">
                <a:solidFill>
                  <a:srgbClr val="334155"/>
                </a:solidFill>
                <a:latin typeface="Calibri"/>
              </a:rPr>
              <a:t>Курсор перебору зі станом: MoveNext(), Current та IDisposable.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Pull-модель (тягнуча): </a:t>
            </a:r>
            <a:r>
              <a:rPr sz="1300">
                <a:solidFill>
                  <a:srgbClr val="334155"/>
                </a:solidFill>
                <a:latin typeface="Calibri"/>
              </a:rPr>
              <a:t>Споживач сам витягує дані викликом MoveNext(). Дані генеруються виключно за запитом.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yield return автомат: </a:t>
            </a:r>
            <a:r>
              <a:rPr sz="1300">
                <a:solidFill>
                  <a:srgbClr val="334155"/>
                </a:solidFill>
                <a:latin typeface="Calibri"/>
              </a:rPr>
              <a:t>Roslyn створює клас-автомат станів з полем state, що пам'ятає точку зупинки.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Пам'ять та ресурси: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Генерація елементів через yield return вимагає O(1) додаткової пам'яті. При виході з циклу (break) викликається Dispose().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Розгортання циклу foreach компілятором Roslyn: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using (IEnumerator&lt;Product&gt; e = products.GetEnumerator())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while (e.MoveNext())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Product item = e.Current;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Console.WriteLine(item.ProductName);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Якщо викликати break, виконується блок finally e.Dispose()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Наступні елементи колекції взагалі не читатимуться!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DataSetLinq98.cs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Золоте правило ітератора: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Код методу з 'yield return' не виконує жодного рядка в момент виклику. Перший рядок починає виконуватися лише під час першого виклику MoveNext().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 · МОДЕЛІ ВИКОНАННЯ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Відкладене (Deferred) проти Негайного (Immediate) виконання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06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Дві моделі обчислення запитів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Відкладене (Deferred): </a:t>
            </a:r>
            <a:r>
              <a:rPr sz="1300">
                <a:solidFill>
                  <a:srgbClr val="334155"/>
                </a:solidFill>
                <a:latin typeface="Calibri"/>
              </a:rPr>
              <a:t>Створення запиту (Where, Select, OrderBy) не виконує фільтрацію одразу — це лише план дій.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Динамічна композиція: </a:t>
            </a:r>
            <a:r>
              <a:rPr sz="1300">
                <a:solidFill>
                  <a:srgbClr val="334155"/>
                </a:solidFill>
                <a:latin typeface="Calibri"/>
              </a:rPr>
              <a:t>Запит можна розширювати новими Where залежно від параметрів пошуку без копіювання списків.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Негайне (Immediate): </a:t>
            </a:r>
            <a:r>
              <a:rPr sz="1300">
                <a:solidFill>
                  <a:srgbClr val="334155"/>
                </a:solidFill>
                <a:latin typeface="Calibri"/>
              </a:rPr>
              <a:t>Оператори ToList(), ToArray(), Count(), First() миттєво матеріалізують результати в пам'ять.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Свіжість даних: </a:t>
            </a:r>
            <a:r>
              <a:rPr sz="1300">
                <a:solidFill>
                  <a:srgbClr val="334155"/>
                </a:solidFill>
                <a:latin typeface="Calibri"/>
              </a:rPr>
              <a:t>Відкладений запит бачить зміни, внесені в колекцію ПІСЛЯ оголошення самого запиту.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Точки матеріалізації (Materialization points):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Будь-який термінальний виклик (.ToList, .Count, foreach) негайно запускає повний обхід конвеєра даних.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list = new List&lt;int&gt; { 1, 2, 3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1. Оголошення відкладеного запиту (нічого не обчислено!)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query = list.Where(x =&gt; x &gt; 1);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2. Зміна базового джерела даних у пам'яті: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list.Add(4);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3. Матеріалізація запиту споживачем: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foreach (var n in query) Console.Write($"{n} ");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2 3 4  // Число 4 враховано автоматично!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Immediate виклик фіксує знімок стану: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snapshot = list.Where(x =&gt; x &gt; 1).ToList();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Linq99.cs, Linq100.cs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⚠️ Увага до стану джерела: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Відкладений запит завжди звертається до актуального стану колекції на момент матеріалізації, що дозволяє створювати гнучкі фільтри без копіювання даних.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 · МОДЕЛІ ВИКОНАННЯ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Потокова обробка (Streaming) проти Буферизації (Buffering)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07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Calibri"/>
              </a:defRPr>
            </a:pPr>
            <a:r>
              <a:t>🌊 Потокові оператори (Streaming)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Оператори: </a:t>
            </a:r>
            <a:r>
              <a:rPr sz="1350">
                <a:solidFill>
                  <a:srgbClr val="334155"/>
                </a:solidFill>
                <a:latin typeface="Calibri"/>
              </a:rPr>
              <a:t>Where, Select, SelectMany, Take, Skip.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Принцип дії: </a:t>
            </a:r>
            <a:r>
              <a:rPr sz="1350">
                <a:solidFill>
                  <a:srgbClr val="334155"/>
                </a:solidFill>
                <a:latin typeface="Calibri"/>
              </a:rPr>
              <a:t>Отримує один елемент зліва, трансформує і негайно віддає направо.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Пам'ять O(1): </a:t>
            </a:r>
            <a:r>
              <a:rPr sz="1350">
                <a:solidFill>
                  <a:srgbClr val="334155"/>
                </a:solidFill>
                <a:latin typeface="Calibri"/>
              </a:rPr>
              <a:t>Працює за фіксовану константну пам'ять незалежно від обсягу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Streaming: обробка потоку по 1 елементу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stream = largeFile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.Select(line =&gt; Parse(line))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.Where(record =&gt; record.IsValid);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Пам'ять залишається на рівні O(1)!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Calibri"/>
              </a:defRPr>
            </a:pPr>
            <a:r>
              <a:t>📦 Буферизуючі оператори (Buffering)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Оператори: </a:t>
            </a:r>
            <a:r>
              <a:rPr sz="1350">
                <a:solidFill>
                  <a:srgbClr val="334155"/>
                </a:solidFill>
                <a:latin typeface="Calibri"/>
              </a:rPr>
              <a:t>OrderBy, ThenBy, GroupBy, Reverse.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Принцип дії: </a:t>
            </a:r>
            <a:r>
              <a:rPr sz="1350">
                <a:solidFill>
                  <a:srgbClr val="334155"/>
                </a:solidFill>
                <a:latin typeface="Calibri"/>
              </a:rPr>
              <a:t>Зобов'язані вичитати 100% елементів у внутрішній буфер до видачі першого результату.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Пам'ять O(N): </a:t>
            </a:r>
            <a:r>
              <a:rPr sz="1350">
                <a:solidFill>
                  <a:srgbClr val="334155"/>
                </a:solidFill>
                <a:latin typeface="Calibri"/>
              </a:rPr>
              <a:t>Створюють суттєве навантаження на Garbage Collector при великих обсягах.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Buffering: вичитує всю колекцію в буфер!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sorted = stream.OrderBy(r =&gt; r.Timestamp);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⚠️ Небезпека: на нескінченному потоці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виклик OrderBy спричинить OutOfMemoryException!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Архітектурна рекомендація: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 високонавантажених пайплайнах завжди застосовуйте фільтрацію (Where) та пагінацію (Take) ПЕРЕД буферизуючими операціями (OrderBy), щоб мінімізувати розмір буфера.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 · МОДЕЛІ ВИКОНАННЯ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Антипатерн Multiple Enumeration (Подвійна Ітерація)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08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alibri"/>
              </a:defRPr>
            </a:pPr>
            <a:r>
              <a:t>Анатомія прихованого витоку ресурсів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Суть проблеми: </a:t>
            </a:r>
            <a:r>
              <a:rPr sz="1300">
                <a:solidFill>
                  <a:srgbClr val="334155"/>
                </a:solidFill>
                <a:latin typeface="Calibri"/>
              </a:rPr>
              <a:t>Один і той самий IEnumerable&lt;T&gt; ітерується більше одного разу (наприклад, Any() -&gt; Count() -&gt; foreach).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Наслідок у БД: </a:t>
            </a:r>
            <a:r>
              <a:rPr sz="1300">
                <a:solidFill>
                  <a:srgbClr val="334155"/>
                </a:solidFill>
                <a:latin typeface="Calibri"/>
              </a:rPr>
              <a:t>Відправляється кілька однакових важких SQL-запитів до бази даних замість одного.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Наслідок у CPU: </a:t>
            </a:r>
            <a:r>
              <a:rPr sz="1300">
                <a:solidFill>
                  <a:srgbClr val="334155"/>
                </a:solidFill>
                <a:latin typeface="Calibri"/>
              </a:rPr>
              <a:t>Повторне виконання важких обчислень, парсинг файлів або десеріалізація JSON.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Недетермінованість: </a:t>
            </a:r>
            <a:r>
              <a:rPr sz="1300">
                <a:solidFill>
                  <a:srgbClr val="334155"/>
                </a:solidFill>
                <a:latin typeface="Calibri"/>
              </a:rPr>
              <a:t>Якщо джерело даних встигло змінитися між ітераціями, результат буде неузгодженим.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Золоте правило лікування: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Якщо до послідовності звертаються більше одного разу — негайно збережіть її у List&lt;T&gt; або масив на вході методу.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❌ АНТИПАТЕРН: Трикратна ітерація важкого запиту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public void ProcessOrders(IEnumerable&lt;Order&gt; orders)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if (orders.Any())              // 1-й прохід (запит до БД)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var count = orders.Count();// 2-й прохід (запит до БД)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foreach (var o in orders)  // 3-й прохід (запит до БД)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Process(o);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✅ ПРАВИЛЬНО: Матеріалізація на вході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orderList = orders.ToList();   // Лише 1 запит до БД!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Linq101.cs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Calibri"/>
              </a:defRPr>
            </a:pPr>
            <a:r>
              <a:t>⚠️ Золоте правило безпеки: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Якщо до вхідного параметра IEnumerable&lt;T&gt; звертаються більше ніж один раз — негайно збережіть його у List&lt;T&gt; або масив для усунення зайвих запитів.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 · ФІЛЬТРАЦІЯ ТА ПРОЄКЦІЇ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Фільтрація за Предикатом: Where та Індексований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09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Принцип роботи оператора Where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Базовий Where: </a:t>
            </a:r>
            <a:r>
              <a:rPr sz="1300">
                <a:solidFill>
                  <a:srgbClr val="334155"/>
                </a:solidFill>
                <a:latin typeface="Calibri"/>
              </a:rPr>
              <a:t>Приймає Func&lt;T, bool&gt; та просіює потік за O(1) додаткової пам'яті.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Індексований Where: </a:t>
            </a:r>
            <a:r>
              <a:rPr sz="1300">
                <a:solidFill>
                  <a:srgbClr val="334155"/>
                </a:solidFill>
                <a:latin typeface="Calibri"/>
              </a:rPr>
              <a:t>Перевантаження Func&lt;T, int, bool&gt; передає порядковий номер елемента (0-based) без зовнішніх лічильників.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Усунення стану: </a:t>
            </a:r>
            <a:r>
              <a:rPr sz="1300">
                <a:solidFill>
                  <a:srgbClr val="334155"/>
                </a:solidFill>
                <a:latin typeface="Calibri"/>
              </a:rPr>
              <a:t>Більше немає потреби заводити зовнішній лічильник int i = 0 перед циклом перебору.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Композиція предикатів: </a:t>
            </a:r>
            <a:r>
              <a:rPr sz="1300">
                <a:solidFill>
                  <a:srgbClr val="334155"/>
                </a:solidFill>
                <a:latin typeface="Calibri"/>
              </a:rPr>
              <a:t>Where(p1).Where(p2) об'єднується компілятором у Where(x =&gt; p1(x) &amp;&amp; p2(x)).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Алгоритмічна характеристика: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Часова складність: O(N) в один прохід. Просторова складність: O(1) (чистий потоковий ітератор).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Приклад 1: Базовий Where (відбір товарів без залишку)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outOfStock = products.Where(p =&gt; p.UnitsInStock == 0);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Приклад 2: Індексований Where (елементи менші за свій індекс)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numbers = { 5, 4, 1, 3, 9, 8, 6, 7, 2, 0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shortDigits = numbers.Where((num, index) =&gt; num &lt; index);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foreach (var n in shortDigits) Console.Write($"{n} ");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1 2 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Пояснення: 1 &lt; index(2), 2 &lt; index(8), 0 &lt; index(9)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RestrictionOperators.cs (Linq1 - Linq5)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Чистий функціональний код: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Індексований Where усуває мутабельний стан і дає змогу реалізувати складні алгоритми вибірки парних позицій чи вибірок за кроком (stride) в один рядок.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 · ФІЛЬТРАЦІЯ ТА ПРОЄКЦІЇ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Проєкція Даних: Select, Кортежі та Легковажні DTO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10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Трансформація типу 1:1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Оператор Select: </a:t>
            </a:r>
            <a:r>
              <a:rPr sz="1300">
                <a:solidFill>
                  <a:srgbClr val="334155"/>
                </a:solidFill>
                <a:latin typeface="Calibri"/>
              </a:rPr>
              <a:t>Перетворює кожен елемент типу TSource на TResult (відображення f: X -&gt; Y).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Патерн DTO: </a:t>
            </a:r>
            <a:r>
              <a:rPr sz="1300">
                <a:solidFill>
                  <a:srgbClr val="334155"/>
                </a:solidFill>
                <a:latin typeface="Calibri"/>
              </a:rPr>
              <a:t>Захищає від витоку внутрішніх полів доменної моделі назовні (API, UI контракти).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Анонімні типи: </a:t>
            </a:r>
            <a:r>
              <a:rPr sz="1300">
                <a:solidFill>
                  <a:srgbClr val="334155"/>
                </a:solidFill>
                <a:latin typeface="Calibri"/>
              </a:rPr>
              <a:t>new { p.ProductName, p.UnitPrice } створює незмінний типізований об'єкт без нового класу.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Кортежі ValueTuple: </a:t>
            </a:r>
            <a:r>
              <a:rPr sz="1300">
                <a:solidFill>
                  <a:srgbClr val="334155"/>
                </a:solidFill>
                <a:latin typeface="Calibri"/>
              </a:rPr>
              <a:t>(p.ProductName, p.UnitPrice) — розміщуються на стеку, уникаючи виділення у Heap.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Оптимізація бази даних у EF Core: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У роботі з базою даних проєкція Select транслюється в конкретний SELECT col1, col2, не вивантажуючи зайві поля.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Проєкція у легковажний DTO з розрахунковим полем: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productDtos = products.Select(p =&gt; new ProductDto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Id = p.ProductID,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Name = p.ProductName,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TotalPrice = p.UnitPrice * p.UnitsInStock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Індексований Select (нумерація списку на льоту):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numbered = words.Select((w, idx) =&gt; $"{idx + 1}. {w}");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1. Apple | 2. Banana | 3. Cherry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ProjectionOperators.cs (Linq6 - Linq13)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Практика Clean Architecture: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Проєкція сутностей бази даних у контракти запиту (DTO) всередині Select є базовим патерном розробки високонавантажених REST API та Webhook-сервісів.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 · ФІЛЬТРАЦІЯ ТА ПРОЄКЦІЇ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Патерн 1:N — Сплощення Колекцій через SelectMany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11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Сплощення деревоподібних структур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Проблема вкладеності: </a:t>
            </a:r>
            <a:r>
              <a:rPr sz="1300">
                <a:solidFill>
                  <a:srgbClr val="334155"/>
                </a:solidFill>
                <a:latin typeface="Calibri"/>
              </a:rPr>
              <a:t>Select(c =&gt; c.Orders) повертає IEnumerable&lt;List&lt;Order&gt;&gt; (список списків).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Рішення SelectMany: </a:t>
            </a:r>
            <a:r>
              <a:rPr sz="1300">
                <a:solidFill>
                  <a:srgbClr val="334155"/>
                </a:solidFill>
                <a:latin typeface="Calibri"/>
              </a:rPr>
              <a:t>Розгортає кожен вкладений список і зшиває їх в один плаский потік IEnumerable&lt;Order&gt;.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Функціональний аналог: </a:t>
            </a:r>
            <a:r>
              <a:rPr sz="1300">
                <a:solidFill>
                  <a:srgbClr val="334155"/>
                </a:solidFill>
                <a:latin typeface="Calibri"/>
              </a:rPr>
              <a:t>Оператор FlatMap у мовах Java, JavaScript, Rust або зв'язувач Bind (&gt;&gt;=) у Haskell.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Батьківський контекст: </a:t>
            </a:r>
            <a:r>
              <a:rPr sz="1300">
                <a:solidFill>
                  <a:srgbClr val="334155"/>
                </a:solidFill>
                <a:latin typeface="Calibri"/>
              </a:rPr>
              <a:t>Перевантаження resultSelector зберігає доступ і до батька, і до дочірнього елемента.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Монадний патерн FlatMap: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SelectMany дозволяє обробляти складні зв'язки «один-до-багатьох» як єдиний лінійний потік даних без циклів.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Витягування всіх замовлень клієнтів з Вашингтона: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waOrders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customers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.Where(c =&gt; c.Region == "WA")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.SelectMany(c =&gt; c.Orders, (c, o) =&gt; new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c.CustomerID,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o.OrderID,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o.OrderDate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});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На виході: єдиний лінійний потік замовлень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Без вкладених списків і без зайвих циклів!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ProjectionOperators.cs (Linq14 - Linq17)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Монадний патерн FlatMap: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SelectMany дає змогу розгортати ієрархічні гранулярні структури даних (Категорія -&gt; Товар -&gt; Відгук) у єдиний потік для подальшої фільтрації та аналізу.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 · ФІЛЬТРАЦІЯ ТА ПРОЄКЦІЇ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SelectMany як Декартовий Добуток (Cross Join)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12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Комбінаторика без реляційних ключів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Декартовий добуток: </a:t>
            </a:r>
            <a:r>
              <a:rPr sz="1300">
                <a:solidFill>
                  <a:srgbClr val="334155"/>
                </a:solidFill>
                <a:latin typeface="Calibri"/>
              </a:rPr>
              <a:t>Генерація пар кожного елемента множини А з кожним елементом множини Б (N * M пар).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Синтаксис запитів: </a:t>
            </a:r>
            <a:r>
              <a:rPr sz="1300">
                <a:solidFill>
                  <a:srgbClr val="334155"/>
                </a:solidFill>
                <a:latin typeface="Calibri"/>
              </a:rPr>
              <a:t>Два оператори from поспіль (from a in seqA from b in seqB) автоматично стають SelectMany.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Фільтрація на льоту: </a:t>
            </a:r>
            <a:r>
              <a:rPr sz="1300">
                <a:solidFill>
                  <a:srgbClr val="334155"/>
                </a:solidFill>
                <a:latin typeface="Calibri"/>
              </a:rPr>
              <a:t>Додавання where між from відсікає зайві пари без генерації повної декартової матриці.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Сценарії застосування: </a:t>
            </a:r>
            <a:r>
              <a:rPr sz="1300">
                <a:solidFill>
                  <a:srgbClr val="334155"/>
                </a:solidFill>
                <a:latin typeface="Calibri"/>
              </a:rPr>
              <a:t>Координатні сітки, комбінації параметрів для тестів, перебір варіантів цін.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Декартовий добуток у комбінаториці: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SelectMany усуває необхідність писати вкладені цикли для створення декартових пар N × M елементів.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numbersA = { 0, 2, 4, 5, 6, 8, 9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numbersB = { 1, 3, 5, 7, 8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Пари, де число з масиву А менше за число з масиву Б: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pairs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from a in numbersA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from b in numbersB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where a &lt; b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select new { A = a, B = b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foreach (var pair in pairs) Console.WriteLine($"{pair.A} &lt; {pair.B}");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0 &lt; 1 | 0 &lt; 3 ... 4 &lt; 5 | 4 &lt; 7 | 4 &lt; 8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ProjectionOperators.cs (Linq18 - Linq19)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⚙️ Компіляторне перетворення: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Запис з двома 'from' у Query Syntax є найбільш природним та лаконічним виразом декартового добутку в сучасній мові C#.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· СЕКЦІОНУВАННЯ ТА СОРТУВАННЯ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Конвеєрна Пагінація: Take, Skip та C# Index/Range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13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Секціонування потоків даних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Take(n): </a:t>
            </a:r>
            <a:r>
              <a:rPr sz="1300">
                <a:solidFill>
                  <a:srgbClr val="334155"/>
                </a:solidFill>
                <a:latin typeface="Calibri"/>
              </a:rPr>
              <a:t>Повертає перші n елементів. Після цього ітерація негайно завершується (Short-circuit).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Skip(n): </a:t>
            </a:r>
            <a:r>
              <a:rPr sz="1300">
                <a:solidFill>
                  <a:srgbClr val="334155"/>
                </a:solidFill>
                <a:latin typeface="Calibri"/>
              </a:rPr>
              <a:t>Пропускає перші n елементів та повертає всі наступні.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Формула пагінації: </a:t>
            </a:r>
            <a:r>
              <a:rPr sz="1300">
                <a:solidFill>
                  <a:srgbClr val="334155"/>
                </a:solidFill>
                <a:latin typeface="Calibri"/>
              </a:rPr>
              <a:t>source.Skip((page - 1) * pageSize).Take(pageSize).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Синтаксис діапазонів: </a:t>
            </a:r>
            <a:r>
              <a:rPr sz="1300">
                <a:solidFill>
                  <a:srgbClr val="334155"/>
                </a:solidFill>
                <a:latin typeface="Calibri"/>
              </a:rPr>
              <a:t>Take(..5) (перші 5 елементів) або Take(^3..) (останні 3 елементи).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Пакетування .NET 6+ Chunk(size):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Новий метод Chunk(50) автоматично ділить великий потік на масиви для batch-операцій у базі даних.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 page = 3;      // Номер сторінки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 pageSize = 10; // Розмір сторінки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Отримання 3-ї сторінки каталогу клієнтів Вашингтона: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pagedCustomers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customers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.Where(c =&gt; c.Region == "WA")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.OrderBy(c =&gt; c.CustomerID) // Обов'язкове сортування!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.Skip((page - 1) * pageSize)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.Take(pageSize);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.NET 6+ пакетування для масових операцій: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foreach (var batch in products.Chunk(50))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await BulkInsertAsync(batch);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PartitioningOperators.cs (Linq20 - Linq23)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Calibri"/>
              </a:defRPr>
            </a:pPr>
            <a:r>
              <a:t>⚠️ Критична вимога пагінації: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Пагінація через Skip/Take ЗАВЖДИ вимагає детермінованого сортування OrderBy перед секціонуванням, інакше порядок рядків на сторінках буде плаваючим.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· СЕКЦІОНУВАННЯ ТА СОРТУВАННЯ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Предикатне Секціонування: TakeWhile проти SkipWhile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14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C3AED"/>
                </a:solidFill>
                <a:latin typeface="Calibri"/>
              </a:defRPr>
            </a:pPr>
            <a:r>
              <a:t>🛑 Оператор TakeWhile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Принцип дії: </a:t>
            </a:r>
            <a:r>
              <a:rPr sz="1350">
                <a:solidFill>
                  <a:srgbClr val="334155"/>
                </a:solidFill>
                <a:latin typeface="Calibri"/>
              </a:rPr>
              <a:t>Читає елементи, доки умова істинна (true).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Зупинка конвеєра: </a:t>
            </a:r>
            <a:r>
              <a:rPr sz="1350">
                <a:solidFill>
                  <a:srgbClr val="334155"/>
                </a:solidFill>
                <a:latin typeface="Calibri"/>
              </a:rPr>
              <a:t>На першому ж елементі з false — миттєве припинення роботи.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Швидкість: </a:t>
            </a:r>
            <a:r>
              <a:rPr sz="1350">
                <a:solidFill>
                  <a:srgbClr val="334155"/>
                </a:solidFill>
                <a:latin typeface="Calibri"/>
              </a:rPr>
              <a:t>Не сканує всю колекцію, колосальний виграш на відсортованих даних.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numbers = { 2, 4, 6, 1, 8, 10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Зупиниться на числі 1!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tw = numbers.TakeWhile(n =&gt; n % 2 == 0);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2 4 6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Числа 8 та 10 навіть не перевірялися!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  <a:latin typeface="Calibri"/>
              </a:defRPr>
            </a:pPr>
            <a:r>
              <a:t>⏩ Оператор SkipWhile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Принцип дії: </a:t>
            </a:r>
            <a:r>
              <a:rPr sz="1350">
                <a:solidFill>
                  <a:srgbClr val="334155"/>
                </a:solidFill>
                <a:latin typeface="Calibri"/>
              </a:rPr>
              <a:t>Ігнорує елементи, доки умова істинна (true).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Відкриття потоку: </a:t>
            </a:r>
            <a:r>
              <a:rPr sz="1350">
                <a:solidFill>
                  <a:srgbClr val="334155"/>
                </a:solidFill>
                <a:latin typeface="Calibri"/>
              </a:rPr>
              <a:t>На першому ж елементі з false видає цей і ВСІ наступні елементи.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Без повторної перевірки: </a:t>
            </a:r>
            <a:r>
              <a:rPr sz="1350">
                <a:solidFill>
                  <a:srgbClr val="334155"/>
                </a:solidFill>
                <a:latin typeface="Calibri"/>
              </a:rPr>
              <a:t>Після першого false умова більше не перевіряється.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numbers = { 2, 4, 6, 1, 8, 10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Пропустить 2, 4, 6 і видасть решту: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sw = numbers.SkipWhile(n =&gt; n % 2 == 0);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1 8 10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Видав 1, а далі 8 і 10 без перевірки!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Продуктивність у часових рядах: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 впорядкованих за часом або ключем послідовностях TakeWhile дозволяє відсікати застарілі дані за O(1) часу без перебору мільйонів наступних записів.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· СЕКЦІОНУВАННЯ ТА СОРТУВАННЯ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Багатовимірне Впорядкування: OrderBy та ThenBy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15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Інтерфейс IOrderedEnumerable&lt;T&gt;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IOrderedEnumerable&lt;T&gt;: </a:t>
            </a:r>
            <a:r>
              <a:rPr sz="1300">
                <a:solidFill>
                  <a:srgbClr val="334155"/>
                </a:solidFill>
                <a:latin typeface="Calibri"/>
              </a:rPr>
              <a:t>OrderBy повертає спеціалізований тип, що зберігає первинний ключ сортування.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Фатальна помилка: </a:t>
            </a:r>
            <a:r>
              <a:rPr sz="1300">
                <a:solidFill>
                  <a:srgbClr val="334155"/>
                </a:solidFill>
                <a:latin typeface="Calibri"/>
              </a:rPr>
              <a:t>list.OrderBy(x).OrderBy(y) — друге сортування ПОВНІСТЮ СКАСОВУЄ перше!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Вторинне сортування ThenBy: </a:t>
            </a:r>
            <a:r>
              <a:rPr sz="1300">
                <a:solidFill>
                  <a:srgbClr val="334155"/>
                </a:solidFill>
                <a:latin typeface="Calibri"/>
              </a:rPr>
              <a:t>Створює композитний компаратор для елементів з однаковим першим ключем.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Стабільність сортування: </a:t>
            </a:r>
            <a:r>
              <a:rPr sz="1300">
                <a:solidFill>
                  <a:srgbClr val="334155"/>
                </a:solidFill>
                <a:latin typeface="Calibri"/>
              </a:rPr>
              <a:t>Алгоритм є стабільним (зберігає вихідний порядок рівних елементів).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Архітектурне правило: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У будь-якому конвеєрі метод OrderBy викликається рівно один раз. Усі наступні рівні впорядкування задаються виключно через ThenBy.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❌ НЕПРАВИЛЬНО: Подвійний OrderBy скидає сортування!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bad =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.OrderBy(p =&gt; p.Category)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.OrderBy(p =&gt; p.UnitPrice); // Зламало категорію!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✅ ПРАВИЛЬНО: Композитне сортування через ThenBy: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sortedProducts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.OrderBy(p =&gt; p.Category)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.ThenByDescending(p =&gt; p.UnitPrice)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.ThenBy(p =&gt; p.ProductName);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Забезпечує детермінований порядок у звітах і таблицях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OrderingOperators.cs (Linq28 - Linq35)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Calibri"/>
              </a:defRPr>
            </a:pPr>
            <a:r>
              <a:t>⚠️ Архітектурний стандарт: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Використовуйте OrderBy лише один раз на початку ланцюжка, для всіх наступних полів — виключно ThenBy або ThenByDescending.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 · СЕКЦІОНУВАННЯ ТА СОРТУВАННЯ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Кастомні Компаратори та Розворот: IComparer&lt;T&gt; і Reverse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16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34107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3136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Calibri"/>
              </a:defRPr>
            </a:pPr>
            <a:r>
              <a:t>IComparer&lt;T&gt;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Сортування за довжиною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Реалізація IComparer&lt;string&gt;.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x.Length.CompareTo(y.Length).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Ізоляція логіки порівняння.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3136392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2770632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class LengthComp : IComparer&lt;string&gt;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public int Compare(string x, string 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=&gt; x.Length.CompareTo(y.Length);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34107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36192"/>
            <a:ext cx="3136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Calibri"/>
              </a:defRPr>
            </a:pPr>
            <a:r>
              <a:t>StringComparer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Регістронезалежність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Готові оптимізовані компаратори.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StringComparer.OrdinalIgnoreCase.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Усунення помилок локалі.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3611880"/>
            <a:ext cx="3136392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758184"/>
            <a:ext cx="2770632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sorted = words.OrderBy(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w =&gt; w,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StringComparer.OrdinalIgnoreCase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4107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36192"/>
            <a:ext cx="3136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  <a:latin typeface="Calibri"/>
              </a:defRPr>
            </a:pPr>
            <a:r>
              <a:t>Reverse()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Інверсія послідовності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Буферизує вхідний потік.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Видає елементи у зворотному порядку.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O(N) додаткової пам'яті.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3611880"/>
            <a:ext cx="3136392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758184"/>
            <a:ext cx="2770632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digits = { 1, 2, 3, 4, 5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rev = digits.Reverse();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5 4 3 2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📍 Практика в репозиторії: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 прикладі Linq36 (OrderingOperators.cs) реалізовано CaseInsensitiveComparer, який усуває вплив верхнього/нижнього регістра без створення копій ToLower().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 · ГРУПУВАННЯ ТА МНОЖИНИ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Групування Даних: Анатомія Оператора GroupBy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17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Інтерфейс IGrouping&lt;TKey, TElement&gt;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Кожна група — це колекція: </a:t>
            </a:r>
            <a:r>
              <a:rPr sz="1300">
                <a:solidFill>
                  <a:srgbClr val="334155"/>
                </a:solidFill>
                <a:latin typeface="Calibri"/>
              </a:rPr>
              <a:t>Результат GroupBy — це IEnumerable&lt;IGrouping&lt;TKey, TElement&gt;&gt;, де кожна група містить властивість .Key.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Хеш-таблиця в пам'яті: </a:t>
            </a:r>
            <a:r>
              <a:rPr sz="1300">
                <a:solidFill>
                  <a:srgbClr val="334155"/>
                </a:solidFill>
                <a:latin typeface="Calibri"/>
              </a:rPr>
              <a:t>Будує внутрішню таблицю (LookupTable), розбиваючи вхідний потік на кошики за хешем ключа.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Обов'язкова буферизація: </a:t>
            </a:r>
            <a:r>
              <a:rPr sz="1300">
                <a:solidFill>
                  <a:srgbClr val="334155"/>
                </a:solidFill>
                <a:latin typeface="Calibri"/>
              </a:rPr>
              <a:t>GroupBy зобов'язаний вичитати всі елементи, перш ніж видати першу групу.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Селектори key та element: </a:t>
            </a:r>
            <a:r>
              <a:rPr sz="1300">
                <a:solidFill>
                  <a:srgbClr val="334155"/>
                </a:solidFill>
                <a:latin typeface="Calibri"/>
              </a:rPr>
              <a:t>Дозволяє одночасно групувати за однією властивістю, а зберігати інше поле.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Вимоги до ключів групування: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Ключ зобов'язаний коректно реалізовувати GetHashCode() та Equals(). Групування за примітивами (int, Guid) працює найшвидше.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Групування товарів за категорією з вибіркою назв: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productGroups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products.GroupBy(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p =&gt; p.Category,        // KeySelector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p =&gt; p.ProductName      // ElementSelector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foreach (var group in productGroups)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Console.WriteLine($"Категорія: {group.Key}");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foreach (var name in group)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Console.WriteLine($"  - {name}");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На виході: деревоподібна структура звітів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GroupingOperators.cs (Linq41 - Linq45)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Продуктивність ключів групування: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Уникайте групування за складними довгими рядками або нетипізованими об'єктами. Групування за примітивними типами працює в рази швидше.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 · ГРУПУВАННЯ ТА МНОЖИНИ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Багатозначні Словники: ILookup&lt;TKey, TElement&gt;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18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GroupBy проти ToLookup()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Лінивий проти негайного: </a:t>
            </a:r>
            <a:r>
              <a:rPr sz="1300">
                <a:solidFill>
                  <a:srgbClr val="334155"/>
                </a:solidFill>
                <a:latin typeface="Calibri"/>
              </a:rPr>
              <a:t>GroupBy ліниво генерує групи; ToLookup() негайно матеріалізує незмінний індекс 1:N у пам'яті.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Безпека пошуку за O(1): </a:t>
            </a:r>
            <a:r>
              <a:rPr sz="1300">
                <a:solidFill>
                  <a:srgbClr val="334155"/>
                </a:solidFill>
                <a:latin typeface="Calibri"/>
              </a:rPr>
              <a:t>Якщо ключа немає, lookup[key] повертає порожню послідовність Enumerable.Empty&lt;T&gt;(), а не KeyNotFoundException!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Ідеально для кешування: </a:t>
            </a:r>
            <a:r>
              <a:rPr sz="1300">
                <a:solidFill>
                  <a:srgbClr val="334155"/>
                </a:solidFill>
                <a:latin typeface="Calibri"/>
              </a:rPr>
              <a:t>Дозволяє одноразово завантажити всі довідники і виконувати швидкий пошук за ключем.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Незмінність (Immutability): </a:t>
            </a:r>
            <a:r>
              <a:rPr sz="1300">
                <a:solidFill>
                  <a:srgbClr val="334155"/>
                </a:solidFill>
                <a:latin typeface="Calibri"/>
              </a:rPr>
              <a:t>ILookup є read-only структурою, захищеною від випадкової модифікації.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Патерн кешування в пам'яті: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ToLookup — ідеальна структура для швидкого багаторазового кешованого пошуку списків сутностей за зовнішнім ідентифікатором.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Одноразова побудова багатозначного індексу замовлень: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ILookup&lt;string, Order&gt; ordersByCustomer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orders.ToLookup(o =&gt; o.CustomerID);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Миттєвий безпечний пошук за O(1) часу: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alkiOrders = ordersByCustomer["ALFKI"];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Console.WriteLine($"Замовлень: {alkiOrders.Count()}");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Якщо клієнта немає — повертається порожній список: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unknown = ordersByCustomer["NOT_EXISTS"];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0 (жодного KeyNotFoundException!)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GroupingOperators.cs (Linq46 - Linq48)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Патерн кешування в пам'яті: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ToLookup є ідеальним рішенням для організації швидкого індексованого пошуку пов'язаних сутностей у пам'яті без звернень до зовнішніх баз даних.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 · ГРУПУВАННЯ ТА МНОЖИНИ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Теоретико-Множинні Операції: Distinct та 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19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26D3"/>
                </a:solidFill>
                <a:latin typeface="Calibri"/>
              </a:defRPr>
            </a:pPr>
            <a:r>
              <a:t>✨ Оператор Distinct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Усунення дублікатів: </a:t>
            </a:r>
            <a:r>
              <a:rPr sz="1350">
                <a:solidFill>
                  <a:srgbClr val="334155"/>
                </a:solidFill>
                <a:latin typeface="Calibri"/>
              </a:rPr>
              <a:t>Пропускає лише першу появу кожного унікального значення.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Хеш-множина Set&lt;T&gt;: </a:t>
            </a:r>
            <a:r>
              <a:rPr sz="1350">
                <a:solidFill>
                  <a:srgbClr val="334155"/>
                </a:solidFill>
                <a:latin typeface="Calibri"/>
              </a:rPr>
              <a:t>Використовує внутрішній Set для O(1) перевірки наявності.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Нововведення .NET 6+: </a:t>
            </a:r>
            <a:r>
              <a:rPr sz="1350">
                <a:solidFill>
                  <a:srgbClr val="334155"/>
                </a:solidFill>
                <a:latin typeface="Calibri"/>
              </a:rPr>
              <a:t>DistinctBy(p =&gt; p.Id) для унікалізації за конкретним полем.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factors = { 2, 2, 3, 5, 5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unique = factors.Distinct();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2 3 5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Унікалізація об'єктів за полем (.NET 6+):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onePerCat = products.DistinctBy(p =&gt; p.Category);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46E5"/>
                </a:solidFill>
                <a:latin typeface="Calibri"/>
              </a:defRPr>
            </a:pPr>
            <a:r>
              <a:t>🔗 Оператор Union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Об'єднання множин: </a:t>
            </a:r>
            <a:r>
              <a:rPr sz="1350">
                <a:solidFill>
                  <a:srgbClr val="334155"/>
                </a:solidFill>
                <a:latin typeface="Calibri"/>
              </a:rPr>
              <a:t>Склеює дві послідовності без повторення дублікатів.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Відмінність від Concat: </a:t>
            </a:r>
            <a:r>
              <a:rPr sz="1350">
                <a:solidFill>
                  <a:srgbClr val="334155"/>
                </a:solidFill>
                <a:latin typeface="Calibri"/>
              </a:rPr>
              <a:t>Concat залишає дублікати; Union гарантує унікальність.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Складність O(N + M): </a:t>
            </a:r>
            <a:r>
              <a:rPr sz="1350">
                <a:solidFill>
                  <a:srgbClr val="334155"/>
                </a:solidFill>
                <a:latin typeface="Calibri"/>
              </a:rPr>
              <a:t>Лінійний час обходу обох колекцій з побудовою хеш-множини.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seqA = { 1, 2, 3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seqB = { 2, 3, 4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res = seqA.Union(seqB);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1 2 3 4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Concat дав би: 1 2 3 2 3 4 (з дублікатами)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Алгоритмічна складність: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Distinct та Union мають лінійну складність O(N + M) за часом і пам'яттю. Завжди забезпечуйте наявність якісної хеш-функції GetHashCode у порівнюваних об'єктів.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 · ГРУПУВАННЯ ТА МНОЖИНИ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Перетин та Різниця Множин: Intersect та Except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20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26D3"/>
                </a:solidFill>
                <a:latin typeface="Calibri"/>
              </a:defRPr>
            </a:pPr>
            <a:r>
              <a:t>🎯 Оператор Intersect (Перетин)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Спільні елементи: </a:t>
            </a:r>
            <a:r>
              <a:rPr sz="1350">
                <a:solidFill>
                  <a:srgbClr val="334155"/>
                </a:solidFill>
                <a:latin typeface="Calibri"/>
              </a:rPr>
              <a:t>Повертає значення, присутні в ОБОХ колекціях одночасно.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Унікальність результату: </a:t>
            </a:r>
            <a:r>
              <a:rPr sz="1350">
                <a:solidFill>
                  <a:srgbClr val="334155"/>
                </a:solidFill>
                <a:latin typeface="Calibri"/>
              </a:rPr>
              <a:t>Автоматично видаляє дублікати з фінального результату.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Нововведення .NET 6+: </a:t>
            </a:r>
            <a:r>
              <a:rPr sz="1350">
                <a:solidFill>
                  <a:srgbClr val="334155"/>
                </a:solidFill>
                <a:latin typeface="Calibri"/>
              </a:rPr>
              <a:t>IntersectBy дозволяє порівнювати за зовнішнім ключем.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a = { 0, 2, 4, 5, 6, 8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b = { 1, 3, 5, 7, 8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common = a.Intersect(b);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5 8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Тільки спільні числа обох масивів!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✂️ Оператор Except (Різниця A \ B)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Різниця множин: </a:t>
            </a:r>
            <a:r>
              <a:rPr sz="1350">
                <a:solidFill>
                  <a:srgbClr val="334155"/>
                </a:solidFill>
                <a:latin typeface="Calibri"/>
              </a:rPr>
              <a:t>Повертає елементи з А, яких взагалі НЕМАЄ у множині Б.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Пошук дельти синхронізації: </a:t>
            </a:r>
            <a:r>
              <a:rPr sz="1350">
                <a:solidFill>
                  <a:srgbClr val="334155"/>
                </a:solidFill>
                <a:latin typeface="Calibri"/>
              </a:rPr>
              <a:t>Ідеально для виявлення видалених або відсутніх записів.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Порядок має значення: </a:t>
            </a:r>
            <a:r>
              <a:rPr sz="1350">
                <a:solidFill>
                  <a:srgbClr val="334155"/>
                </a:solidFill>
                <a:latin typeface="Calibri"/>
              </a:rPr>
              <a:t>A.Except(B) не дорівнює B.Except(A).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a = { 0, 2, 4, 5, 6, 8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b = { 1, 3, 5, 7, 8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diff = a.Except(b);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0 2 4 6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Пошук клієнтів без замовлень: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inactive = allCustIds.Except(orderCustIds);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Патерн синхронізації: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Оператор Except — це найшвидший спосіб знайти різницю між локальним кешем та серверними даними для формування batch-запитів на оновлення.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 · РЕЛЯЦІЙНІ З'ЄДНАННЯ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Внутрішнє Реляційне З'єднання (Inner Join)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21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Алгоритм Hash Join у LINQ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Реляційне поєднання: </a:t>
            </a:r>
            <a:r>
              <a:rPr sz="1300">
                <a:solidFill>
                  <a:srgbClr val="334155"/>
                </a:solidFill>
                <a:latin typeface="Calibri"/>
              </a:rPr>
              <a:t>Поєднує елементи двох послідовностей на основі рівності ключів.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Hash Match механіка: </a:t>
            </a:r>
            <a:r>
              <a:rPr sz="1300">
                <a:solidFill>
                  <a:srgbClr val="334155"/>
                </a:solidFill>
                <a:latin typeface="Calibri"/>
              </a:rPr>
              <a:t>Join вичитує праву колекцію у хеш-таблицю, після чого потоково проходить по лівій колекції.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Швидкодія O(N + M): </a:t>
            </a:r>
            <a:r>
              <a:rPr sz="1300">
                <a:solidFill>
                  <a:srgbClr val="334155"/>
                </a:solidFill>
                <a:latin typeface="Calibri"/>
              </a:rPr>
              <a:t>В рази швидше за вкладені цикли або вкладені Where, складність яких становить O(N * M).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Елементи без пари: </a:t>
            </a:r>
            <a:r>
              <a:rPr sz="1300">
                <a:solidFill>
                  <a:srgbClr val="334155"/>
                </a:solidFill>
                <a:latin typeface="Calibri"/>
              </a:rPr>
              <a:t>Записи без відповідників у протилежній таблиці відкидаються (аналог SQL INNER JOIN).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Оптимізація пам'яті Join: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У Join завжди передавайте як внутрішню (другу) колекцію ту, що містить менше записів, бо саме для неї будується хеш-таблиця в пам'яті.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З'єднання товарів та категорій за текстовим ключем: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productCategories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from c in categories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join p in products on c equals p.Category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select new { Category = c, p.ProductName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Синтаксис методів (Fluent API):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joined = categories.Join(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products,                 // Inner sequence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c =&gt; c,                   // Outer key selector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 =&gt; p.Category,          // Inner key selector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(c, p) =&gt; new { c, p.ProductName } // Result selector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JoinOperators.cs (Linq102 - Linq103)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Оптимізація пам'яті Join: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 методі Join завжди передавайте як внутрішню (другу) колекцію ту, що містить меншу кількість елементів, оскільки саме для неї будується хеш-таблиця в оперативній пам'яті.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 · РЕЛЯЦІЙНІ З'ЄДНАННЯ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Ієрархічне З'єднання (GroupJoin) та Left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22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Зв'язок 1:N та імітація LEFT JOIN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GroupJoin (1:N): </a:t>
            </a:r>
            <a:r>
              <a:rPr sz="1300">
                <a:solidFill>
                  <a:srgbClr val="334155"/>
                </a:solidFill>
                <a:latin typeface="Calibri"/>
              </a:rPr>
              <a:t>Для кожного лівого елемента повертає сам елемент і повну колекцію всіх його дочірніх відповідників.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Синтаксис into: </a:t>
            </a:r>
            <a:r>
              <a:rPr sz="1300">
                <a:solidFill>
                  <a:srgbClr val="334155"/>
                </a:solidFill>
                <a:latin typeface="Calibri"/>
              </a:rPr>
              <a:t>Конструкція join ... into matchingGroup зберігає нащадків у вкладений IEnumerable.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Емуляція LEFT JOIN: </a:t>
            </a:r>
            <a:r>
              <a:rPr sz="1300">
                <a:solidFill>
                  <a:srgbClr val="334155"/>
                </a:solidFill>
                <a:latin typeface="Calibri"/>
              </a:rPr>
              <a:t>Розгортання групи через from item in matchingGroup.DefaultIfEmpty().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DefaultIfEmpty(): </a:t>
            </a:r>
            <a:r>
              <a:rPr sz="1300">
                <a:solidFill>
                  <a:srgbClr val="334155"/>
                </a:solidFill>
                <a:latin typeface="Calibri"/>
              </a:rPr>
              <a:t>Якщо група порожня, повертає [null], зберігаючи батьківський запис у вибірці.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Золотий стандарт Left Join: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У C# немає ключового слова 'left join'. Комбінація GroupJoin + DefaultIfEmpty є єдиним архітектурно правильним способом Left Join.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Канонічний Left Outer Join постачальників та клієнтів: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leftOuterJoin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from s in suppliers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join c in customers on s.Country equals c.Country into cs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from c in cs.DefaultIfEmpty() // Трюк для збереження s!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select new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s.Country,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s.SupplierName,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CustomerName = c?.CompanyName ?? "(No customers)"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На виході: всі постачальники включно з тими, у кого немає клієнтів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JoinOperators.cs (Linq104 - Linq105)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Золотий стандарт Left Join: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 C# немає ключового слова 'left join'. Комбінація GroupJoin + DefaultIfEmpty є єдиним архітектурно правильним способом вираження лівого зовнішнього з'єднання.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 · РЕЛЯЦІЙНІ З'ЄДНАННЯ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Базові Агрегатні Функції: Count, Sum, Min, Max,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23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Скалярна редукція послідовностей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Термінальні оператори: </a:t>
            </a:r>
            <a:r>
              <a:rPr sz="1300">
                <a:solidFill>
                  <a:srgbClr val="334155"/>
                </a:solidFill>
                <a:latin typeface="Calibri"/>
              </a:rPr>
              <a:t>Негайно вичитують потік і згортають його в одне скалярне значення.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Предикатний Count: </a:t>
            </a:r>
            <a:r>
              <a:rPr sz="1300">
                <a:solidFill>
                  <a:srgbClr val="334155"/>
                </a:solidFill>
                <a:latin typeface="Calibri"/>
              </a:rPr>
              <a:t>source.Count(x =&gt; condition) працює швидше за ланцюжок source.Where(condition).Count().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Селектори властивостей: </a:t>
            </a:r>
            <a:r>
              <a:rPr sz="1300">
                <a:solidFill>
                  <a:srgbClr val="334155"/>
                </a:solidFill>
                <a:latin typeface="Calibri"/>
              </a:rPr>
              <a:t>Sum(p =&gt; p.Price), Average(...), Min(...) обчислюють метрики напряму без зайвого Select.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Небезпека аварії: </a:t>
            </a:r>
            <a:r>
              <a:rPr sz="1300">
                <a:solidFill>
                  <a:srgbClr val="334155"/>
                </a:solidFill>
                <a:latin typeface="Calibri"/>
              </a:rPr>
              <a:t>Min/Max/Average на порожній колекції типів-значень викидають InvalidOperationException!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Захист від порожніх вибірок: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Приведення до Nullable типу: products.Average(p =&gt; (decimal?)p.UnitPrice) повертає null замість аварійної зупинки додатку.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1. Агрегація замовлень клієнта: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stats = customers.Select(c =&gt; new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c.CustomerID,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TotalOrders = c.Orders.Count(),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TotalSpent  = c.Orders.Sum(o =&gt; o.Total),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MaxOrder    = c.Orders.Max(o =&gt; (decimal?)o.Total) ?? 0m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2. Вкладене групування з середньою ціною: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catAvg =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.GroupBy(p =&gt; p.Category)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.Select(g =&gt; new { g.Key, AvgPrice = g.Average(p =&gt; p.UnitPrice) });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AggregateOperators.cs (Linq73 - Linq90)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Calibri"/>
              </a:defRPr>
            </a:pPr>
            <a:r>
              <a:t>⚠️ Захист від аварій: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Уникайте викликів Min / Max / Average на сирих послідовностях без перевірки Any() або приведення до Nullable-типів (int?, decimal?), щоб захистити додаток від збоїв на порожніх даних.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 · РЕЛЯЦІЙНІ З'ЄДНАННЯ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Універсальний Акумулятор: Aggregate (Fold / Reduce)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24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Фундаментальна операція згортки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Оператор Aggregate: </a:t>
            </a:r>
            <a:r>
              <a:rPr sz="1300">
                <a:solidFill>
                  <a:srgbClr val="334155"/>
                </a:solidFill>
                <a:latin typeface="Calibri"/>
              </a:rPr>
              <a:t>Найпотужніший акумулятор функціонального програмування (FoldL у Haskell, reduce в JS).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Акумулятор стану Seed: </a:t>
            </a:r>
            <a:r>
              <a:rPr sz="1300">
                <a:solidFill>
                  <a:srgbClr val="334155"/>
                </a:solidFill>
                <a:latin typeface="Calibri"/>
              </a:rPr>
              <a:t>Приймає початкове значення і функцію оновлення: (acc, next) =&gt; newAccumulator.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Універсальність: </a:t>
            </a:r>
            <a:r>
              <a:rPr sz="1300">
                <a:solidFill>
                  <a:srgbClr val="334155"/>
                </a:solidFill>
                <a:latin typeface="Calibri"/>
              </a:rPr>
              <a:t>Оператори Sum, Count, Min, Max, string.Join є лише окремими випадками Aggregate.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Бізнес-задачі: </a:t>
            </a:r>
            <a:r>
              <a:rPr sz="1300">
                <a:solidFill>
                  <a:srgbClr val="334155"/>
                </a:solidFill>
                <a:latin typeface="Calibri"/>
              </a:rPr>
              <a:t>Фінансові баланси з лімітами і комісіями, перемноження матриць, складні накопичувачі.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Функціональна міць: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Aggregate дозволяє елегантно виразити будь-яку накопичувальну бізнес-логіку без зовнішніх мутабельних змінних.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1. Зняття коштів з рахунку з комісією: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double startBalance = 100.0;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int[] attemptedWithdrawals = { 20, 10, 40, 50, 10, 20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double finalBalance = attemptedWithdrawals.Aggregate(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startBalance, // Початковий Seed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(balance, nextWithdrawal) =&gt;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(nextWithdrawal &lt;= balance) ? (balance - nextWithdrawal) : balance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Ending balance: 20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2. Розрахунок факторіалу 5! = 120: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int fact = Enumerable.Range(1, 5).Aggregate((acc, x) =&gt; acc * x);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AggregateOperators.cs (Linq91 - Linq93)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Функціональна міць: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Оператор Aggregate дозволяє елегантно реалізовувати будь-яку бізнес-логіку накопичувального розрахунку без використання зовнішніх мутабельних змінних.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· ADVANCED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Квантори та Коротке Замикання: Any, All, Contains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25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Математична логіка ∃ та ∀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Any() (Квантор ∃): </a:t>
            </a:r>
            <a:r>
              <a:rPr sz="1300">
                <a:solidFill>
                  <a:srgbClr val="334155"/>
                </a:solidFill>
                <a:latin typeface="Calibri"/>
              </a:rPr>
              <a:t>Повертає true, якщо хоча б один елемент задовольняє умову. Миттєва зупинка (Short-circuit).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All() (Квантор ∀): </a:t>
            </a:r>
            <a:r>
              <a:rPr sz="1300">
                <a:solidFill>
                  <a:srgbClr val="334155"/>
                </a:solidFill>
                <a:latin typeface="Calibri"/>
              </a:rPr>
              <a:t>Повертає true, якщо всі елементи задовольняють умову. Миттєво зупиняється на першому false.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Contains(value): </a:t>
            </a:r>
            <a:r>
              <a:rPr sz="1300">
                <a:solidFill>
                  <a:srgbClr val="334155"/>
                </a:solidFill>
                <a:latin typeface="Calibri"/>
              </a:rPr>
              <a:t>Швидка перевірка наявності конкретного значення за Equals/GetHashCode.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Критичний антипатерн: </a:t>
            </a:r>
            <a:r>
              <a:rPr sz="1300">
                <a:solidFill>
                  <a:srgbClr val="334155"/>
                </a:solidFill>
                <a:latin typeface="Calibri"/>
              </a:rPr>
              <a:t>Перевірка if (list.Count() &gt; 0) змушує сканувати весь мільйон елементів замість O(1) Any()!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Швидкодія Short-circuiting: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Any() завершує виконання після перевірки рівно одного елемента. Виграш становить мільйони непотрібних CPU операцій.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❌ ГРУБА ПОМИЛКА: Рахує 1... 2... 1 000 000 елементів!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if (largeSequence.Count() &gt; 0) { ...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✅ ОПТИМАЛЬНО: Зупиняється після 1-го ж елемента (O(1)):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if (largeSequence.Any()) { ...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Квантор All (перевірка наявності всіх товарів на складі):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fullyStockedCategories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products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.GroupBy(p =&gt; p.Category)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.Where(g =&gt; g.All(p =&gt; p.UnitsInStock &gt; 0));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Quantifiers.cs (Linq67 - Linq72)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Calibri"/>
              </a:defRPr>
            </a:pPr>
            <a:r>
              <a:t>⚠️ Правило №1 для будь-якого .NET розробника: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Ніколи не використовуйте .Count() &gt; 0 для перевірки непустоти послідовності. Використовуйте виключно .Any() для гарантії O(1) складності.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· ADVANCED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Вилучення Елементів: First, Single, ElementAt та *OrDefault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26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2865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651760"/>
                <a:gridCol w="2743200"/>
                <a:gridCol w="2864815"/>
              </a:tblGrid>
              <a:tr h="97155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Оператор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елементів (порожньо)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Рівно 1 елемент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 і більше елементів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First()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InvalidOperationException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Повертає елемент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Повертає перший (зупинка)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FirstOrDefault()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Повертає default(T) /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Повертає елемент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Повертає перший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Single()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InvalidOperationException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✅ Повертає елемент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❌ InvalidOperationException!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B45309"/>
                </a:solidFill>
                <a:latin typeface="Calibri"/>
              </a:defRPr>
            </a:pPr>
            <a:r>
              <a:t>⚠️ Чому Single() небезпечний без унікального індексу: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First() зупиняється на першому знайденому рядку. Single() зобов'язаний просканувати 100% таблиці до кінця, щоб переконатися у відсутності другого дубліката.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· ADVANCED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Матеріалізація та Фільтрація за Типом: ToDictionary та OfType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27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Calibri"/>
              </a:defRPr>
            </a:pPr>
            <a:r>
              <a:t>📖 Оператор ToDictionary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Швидкий пошук за O(1): </a:t>
            </a:r>
            <a:r>
              <a:rPr sz="1350">
                <a:solidFill>
                  <a:srgbClr val="334155"/>
                </a:solidFill>
                <a:latin typeface="Calibri"/>
              </a:rPr>
              <a:t>Створює Dictionary&lt;TKey, TElement&gt; за заданим ключем.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Небезпека дублікатів: </a:t>
            </a:r>
            <a:r>
              <a:rPr sz="1350">
                <a:solidFill>
                  <a:srgbClr val="334155"/>
                </a:solidFill>
                <a:latin typeface="Calibri"/>
              </a:rPr>
              <a:t>При дублікаті ключа викидає ArgumentException!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Альтернатива: </a:t>
            </a:r>
            <a:r>
              <a:rPr sz="1350">
                <a:solidFill>
                  <a:srgbClr val="334155"/>
                </a:solidFill>
                <a:latin typeface="Calibri"/>
              </a:rPr>
              <a:t>Якщо дублікати можливі — використовуйте ToLookup або GroupBy.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Швидкий індекс товарів за ID: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Dictionary&lt;int, Product&gt; map =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products.ToDictionary(p =&gt; p.ProductID);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Product p5 = map[5]; // Пошук за O(1)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Chef Anton's Gumbo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545336"/>
            <a:ext cx="49560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  <a:latin typeface="Calibri"/>
              </a:defRPr>
            </a:pPr>
            <a:r>
              <a:t>🛡️ Оператор OfType&lt;T&gt;()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Безпечна фільтрація: </a:t>
            </a:r>
            <a:r>
              <a:rPr sz="1350">
                <a:solidFill>
                  <a:srgbClr val="334155"/>
                </a:solidFill>
                <a:latin typeface="Calibri"/>
              </a:rPr>
              <a:t>Витягує лише елементи сумісного типу T з поліморфного списку.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Чому не Cast&lt;T&gt;: </a:t>
            </a:r>
            <a:r>
              <a:rPr sz="1350">
                <a:solidFill>
                  <a:srgbClr val="334155"/>
                </a:solidFill>
                <a:latin typeface="Calibri"/>
              </a:rPr>
              <a:t>Cast викидає InvalidCastException; OfType безпечно пропускає невідповідні типи.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Поліморфізм: </a:t>
            </a:r>
            <a:r>
              <a:rPr sz="1350">
                <a:solidFill>
                  <a:srgbClr val="334155"/>
                </a:solidFill>
                <a:latin typeface="Calibri"/>
              </a:rPr>
              <a:t>Ідеально для черг повідомлень та гетерогенних колекцій.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611880"/>
            <a:ext cx="4956048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758184"/>
            <a:ext cx="4590288" cy="126187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object[] mixed = { 1.5, "два", 3, "чотири", 5.0 };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Безпечне вилучення double чисел: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var doubles = mixed.OfType&lt;double&gt;();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-&gt; Output: 1.5 5.0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4D399"/>
                </a:solidFill>
                <a:latin typeface="Consolas"/>
              </a:rPr>
              <a:t>// Жодного InvalidCastException!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Робота з наслідуванням: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Оператор OfType&lt;T&gt;() — канонічний спосіб обробки ієрархій класів, черг повідомлень та гетерогенних колекцій у Clean Architecture.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· ADVANCED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Створення Власних LINQ-Операторів: Патерн Combine /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28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45336"/>
            <a:ext cx="49560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Як розширити мову LINQ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Extension Method: </a:t>
            </a:r>
            <a:r>
              <a:rPr sz="1300">
                <a:solidFill>
                  <a:srgbClr val="334155"/>
                </a:solidFill>
                <a:latin typeface="Calibri"/>
              </a:rPr>
              <a:t>Публічний статичний метод у статичному класі з ключовим словом this IEnumerable&lt;T&gt;.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Лінива генерація: </a:t>
            </a:r>
            <a:r>
              <a:rPr sz="1300">
                <a:solidFill>
                  <a:srgbClr val="334155"/>
                </a:solidFill>
                <a:latin typeface="Calibri"/>
              </a:rPr>
              <a:t>Обов'язкове використання yield return всередині для підтримки потоковості.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Управління ресурсами: </a:t>
            </a:r>
            <a:r>
              <a:rPr sz="1300">
                <a:solidFill>
                  <a:srgbClr val="334155"/>
                </a:solidFill>
                <a:latin typeface="Calibri"/>
              </a:rPr>
              <a:t>Ручне відкриття перелічувачів зобов'язане супроводжуватися using для виклику Dispose().</a:t>
            </a:r>
          </a:p>
          <a:p>
            <a:pPr>
              <a:spcBef>
                <a:spcPts val="600"/>
              </a:spcBef>
            </a:pPr>
            <a:r>
              <a:rPr sz="1350" b="1">
                <a:solidFill>
                  <a:srgbClr val="0F172A"/>
                </a:solidFill>
                <a:latin typeface="Calibri"/>
              </a:rPr>
              <a:t>• Синхронна паралельна ітерація: </a:t>
            </a:r>
            <a:r>
              <a:rPr sz="1300">
                <a:solidFill>
                  <a:srgbClr val="334155"/>
                </a:solidFill>
                <a:latin typeface="Calibri"/>
              </a:rPr>
              <a:t>Метод Combine (аналог Zip) зчитує по одному елементу з двох джерел одночасно.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4956048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⚡ Патерн розширення мови LINQ через yield return:</a:t>
            </a:r>
          </a:p>
          <a:p>
            <a:pPr>
              <a:defRPr sz="1150">
                <a:solidFill>
                  <a:srgbClr val="0F172A"/>
                </a:solidFill>
                <a:latin typeface="Calibri"/>
              </a:defRPr>
            </a:pPr>
            <a:r>
              <a:t>Створення власних операторів на базі yield return дозволяє легко інтегрувати специфічні бізнес-алгоритми в стандартні ланцюжки викликів.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63624"/>
            <a:ext cx="4864607" cy="3593592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public static class CustomSequenceExtensions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public static IEnumerable&lt;TResult&gt; Combine&lt;T1, T2, TResult&gt;(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this IEnumerable&lt;T1&gt; first,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IEnumerable&lt;T2&gt; second,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Func&lt;T1, T2, TResult&gt; func)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using var e1 = first.GetEnumerator();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8BDF8"/>
                </a:solidFill>
                <a:latin typeface="Consolas"/>
              </a:rPr>
              <a:t>        using var e2 = second.GetEnumerator();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while (e1.MoveNext() &amp;&amp; e2.MoveNext())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 yield return func(e1.Current, e2.Current);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38BDF8"/>
                </a:solidFill>
                <a:latin typeface="Calibri"/>
              </a:rPr>
              <a:t>📍 Репозиторій: CustomSequenceOperators.cs (DataSetLinq98.cs)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💡 Безмежні можливості розширення: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Створення власних операторів на базі yield return дозволяє легко інтегрувати специфічні бізнес-алгоритми в стандартні ланцюжки викликів LINQ.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92608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 · ADVANCED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76656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ТОП-7 Антипатернів LINQ та Золоті Правила Оптимізації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101 LINQ SAMPLES · .NET 10 LTS · АРХІТЕКТУРА ТА ПАТЕРНИ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303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29 /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49560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❌ Чого слід категорично уникати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1. list.Count() &gt; 0 — сканує всю колекцію замість Any().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2. list.OrderBy(a).OrderBy(b) — скидає перше сортування.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3. Ранній .ToList() всередині циклів — зайве навантаження на Heap.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4. Multiple Enumeration на важких IQueryable або файлах.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5. Пошук у List.Contains() за O(N) замість HashSet O(1).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6. Виклик Single() у високонавантажених сервісах.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7. Модифікація колекції під час foreach ітерації.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7064" y="1417320"/>
            <a:ext cx="523036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536192"/>
            <a:ext cx="49560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Calibri"/>
              </a:defRPr>
            </a:pPr>
            <a:r>
              <a:t>✅ Золотий стандарт Enterprise-розробки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1. Завжди Any() для перевірки наявності даних за O(1).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2. OrderBy() + ThenBy() для багатовимірних ключів.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3. Матеріалізація (ToList) строго в самому кінці конвеєра.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4. Збереження результату у змінну при 2+ зверненнях.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5. Попередня побудова HashSet або Dictionary для пошуку.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6. FirstOrDefault() за умовчанням або індекс для Single().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Calibri"/>
              </a:defRPr>
            </a:pPr>
            <a:r>
              <a:t>7. Фільтрація Where та пагінація Take ДО сортування OrderBy.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40680"/>
            <a:ext cx="10728655" cy="96012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1045433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F46E5"/>
                </a:solidFill>
                <a:latin typeface="Calibri"/>
              </a:defRPr>
            </a:pPr>
            <a:r>
              <a:t>🏆 Архітектурне резюме: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LINQ дарує бездоганну читабельність та елегантність коду, але розуміння складності O(N), моделей виконання та виділення пам'яті — ознака справжнього Senior інженера.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Дякую за увагу!</a:t>
            </a:r>
            <a:br/>
            <a:r>
              <a:t>Практикуйтеся на реальних прикладах</a:t>
            </a:r>
          </a:p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Повний навчальний репозиторій з усіма 101 прикладами доступний у вашому рішенні: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3410712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🚀 КОНСОЛЬНИЙ РАННЕР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dotnet run --project "101 LINQ Samples"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Інтерактивне меню запуску будь-якого зі 101 прикладів з виводом у термінал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657600"/>
            <a:ext cx="3410712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📘 ПІДРУЧНИК У DOCS/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6 детальних посібників у Markdown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Повні конспекти лекцій, діаграми Mermaid та прямі посилання на файли коду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3657600"/>
            <a:ext cx="3410712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  <a:latin typeface="Calibri"/>
              </a:defRPr>
            </a:pPr>
            <a:r>
              <a:t>⚡ .NET 10 LTS READY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0 Errors · 0 Warnings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Повна підтримка C# 14, швидкісний SDK-style та чиста модульна архітектура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