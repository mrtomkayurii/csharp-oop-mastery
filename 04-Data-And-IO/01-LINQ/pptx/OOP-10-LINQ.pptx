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6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  <p:sldId id="294" r:id="rId59"/>
    <p:sldId id="295" r:id="rId60"/>
    <p:sldId id="296" r:id="rId61"/>
    <p:sldId id="297" r:id="rId62"/>
    <p:sldId id="298" r:id="rId63"/>
    <p:sldId id="299" r:id="rId64"/>
    <p:sldId id="300" r:id="rId65"/>
    <p:sldId id="301" r:id="rId66"/>
    <p:sldId id="302" r:id="rId67"/>
    <p:sldId id="303" r:id="rId68"/>
    <p:sldId id="304" r:id="rId69"/>
    <p:sldId id="305" r:id="rId70"/>
    <p:sldId id="306" r:id="rId71"/>
    <p:sldId id="307" r:id="rId72"/>
    <p:sldId id="308" r:id="rId73"/>
    <p:sldId id="309" r:id="rId74"/>
    <p:sldId id="310" r:id="rId75"/>
    <p:sldId id="311" r:id="rId76"/>
    <p:sldId id="312" r:id="rId77"/>
    <p:sldId id="313" r:id="rId78"/>
    <p:sldId id="314" r:id="rId79"/>
    <p:sldId id="315" r:id="rId80"/>
    <p:sldId id="316" r:id="rId81"/>
    <p:sldId id="317" r:id="rId82"/>
    <p:sldId id="318" r:id="rId83"/>
    <p:sldId id="319" r:id="rId84"/>
    <p:sldId id="320" r:id="rId85"/>
    <p:sldId id="321" r:id="rId86"/>
    <p:sldId id="322" r:id="rId87"/>
    <p:sldId id="323" r:id="rId88"/>
    <p:sldId id="324" r:id="rId89"/>
    <p:sldId id="325" r:id="rId90"/>
    <p:sldId id="326" r:id="rId91"/>
    <p:sldId id="327" r:id="rId92"/>
    <p:sldId id="328" r:id="rId93"/>
    <p:sldId id="329" r:id="rId94"/>
    <p:sldId id="330" r:id="rId95"/>
    <p:sldId id="331" r:id="rId96"/>
    <p:sldId id="332" r:id="rId97"/>
    <p:sldId id="333" r:id="rId98"/>
    <p:sldId id="334" r:id="rId99"/>
    <p:sldId id="335" r:id="rId100"/>
    <p:sldId id="336" r:id="rId101"/>
    <p:sldId id="337" r:id="rId102"/>
    <p:sldId id="338" r:id="rId103"/>
    <p:sldId id="339" r:id="rId104"/>
    <p:sldId id="340" r:id="rId105"/>
    <p:sldId id="341" r:id="rId106"/>
    <p:sldId id="342" r:id="rId107"/>
    <p:sldId id="343" r:id="rId108"/>
    <p:sldId id="344" r:id="rId109"/>
    <p:sldId id="345" r:id="rId110"/>
    <p:sldId id="346" r:id="rId111"/>
    <p:sldId id="347" r:id="rId112"/>
    <p:sldId id="348" r:id="rId113"/>
    <p:sldId id="349" r:id="rId114"/>
    <p:sldId id="350" r:id="rId115"/>
    <p:sldId id="351" r:id="rId116"/>
    <p:sldId id="352" r:id="rId117"/>
    <p:sldId id="353" r:id="rId118"/>
    <p:sldId id="354" r:id="rId119"/>
    <p:sldId id="355" r:id="rId120"/>
    <p:sldId id="356" r:id="rId121"/>
    <p:sldId id="357" r:id="rId122"/>
    <p:sldId id="358" r:id="rId123"/>
    <p:sldId id="359" r:id="rId124"/>
    <p:sldId id="360" r:id="rId125"/>
    <p:sldId id="361" r:id="rId126"/>
    <p:sldId id="362" r:id="rId127"/>
    <p:sldId id="363" r:id="rId1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1148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ОБ'ЄКТНО-ОРІЄНТОВАНЕ ПРОГРАМУВАННЯ · ЛЕКЦІЯ №10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Language Integrated Query (LINQ)</a:t>
            </a:r>
            <a:br/>
            <a:r>
              <a:t>у C# та платформі .NET 10</a:t>
            </a:r>
          </a:p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Повний академічний курс: Архітектура, синтаксис запитів, лямбда-вирази, стандартні оператори та моделі виконання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41071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ФУНДАМЕНТ LINQ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Єдиний декларативний синтаксис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Запити до об'єктів у пам'яті, реляційних СКБД, XML та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4114800"/>
            <a:ext cx="341071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15 КАТЕГОРІЙ ОПЕРАТОРІВ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Повний спектр стандартних методів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Фільтрація, сортування, групування, реляційні з'єднання та агрегація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4114800"/>
            <a:ext cx="3410712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284C7"/>
                </a:solidFill>
                <a:latin typeface="Calibri"/>
              </a:defRPr>
            </a:pPr>
            <a:r>
              <a:t>МОДЕЛІ ВИКОНАННЯ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Оптимізація та продуктивність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Відкладене (Deferred) та негайне (Immediate) виконання, конвеєризація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1133036"/>
            <a:ext cx="12092940" cy="8613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8" y="2567648"/>
            <a:ext cx="11817303" cy="213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8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4" y="471487"/>
            <a:ext cx="8591550" cy="436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4833937"/>
            <a:ext cx="101060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3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338137"/>
            <a:ext cx="6443663" cy="2918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" y="3581400"/>
            <a:ext cx="101822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-18845"/>
            <a:ext cx="10058400" cy="68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4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776287"/>
            <a:ext cx="101250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94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352425"/>
            <a:ext cx="1008697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2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2209800"/>
            <a:ext cx="9727406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180975"/>
            <a:ext cx="8810625" cy="2076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98" y="2590800"/>
            <a:ext cx="8177214" cy="368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8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76474"/>
            <a:ext cx="11029209" cy="241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5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428625"/>
            <a:ext cx="2581275" cy="514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987" y="942975"/>
            <a:ext cx="6048375" cy="1257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" y="2495550"/>
            <a:ext cx="101822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63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4" y="390524"/>
            <a:ext cx="7267575" cy="32431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5" y="4343400"/>
            <a:ext cx="75342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81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466725"/>
            <a:ext cx="9953625" cy="3067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4029075"/>
            <a:ext cx="6162675" cy="2828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4724398"/>
            <a:ext cx="5029200" cy="1438275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6010273" y="5176835"/>
            <a:ext cx="614364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1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419100"/>
            <a:ext cx="7134225" cy="876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" y="1685925"/>
            <a:ext cx="3886200" cy="933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" y="3009900"/>
            <a:ext cx="5353050" cy="87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7" y="4333875"/>
            <a:ext cx="64008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6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112" y="1004887"/>
            <a:ext cx="6572250" cy="2409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112" y="4119562"/>
            <a:ext cx="646747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04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962025"/>
            <a:ext cx="101727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52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33375"/>
            <a:ext cx="9029700" cy="1771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2357437"/>
            <a:ext cx="100488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2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7" y="323850"/>
            <a:ext cx="6943725" cy="1790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7" y="2847975"/>
            <a:ext cx="72675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01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1009649"/>
            <a:ext cx="8720138" cy="436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07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4" y="0"/>
            <a:ext cx="11786532" cy="68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32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Що таке LINQ: Передумови виникнення та архітектура платформи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Революція декларативного підходу в .NET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Походження: </a:t>
            </a:r>
            <a:r>
              <a:rPr sz="1150">
                <a:solidFill>
                  <a:srgbClr val="334155"/>
                </a:solidFill>
                <a:latin typeface="Calibri"/>
              </a:rPr>
              <a:t>LINQ (Language Integrated Query) з'явився у .NET 3.5 / C# 3.0 як засіб уніфікованої роботи з даними.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парадигм (Impedance Mismatch): </a:t>
            </a:r>
            <a:r>
              <a:rPr sz="1150">
                <a:solidFill>
                  <a:srgbClr val="334155"/>
                </a:solidFill>
                <a:latin typeface="Calibri"/>
              </a:rPr>
              <a:t>Раніше для об'єктів писали імперативні цикли, для SQL — вразливі текстові рядки, для XML — XPath.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Єдина мова запитів: </a:t>
            </a:r>
            <a:r>
              <a:rPr sz="1150">
                <a:solidFill>
                  <a:srgbClr val="334155"/>
                </a:solidFill>
                <a:latin typeface="Calibri"/>
              </a:rPr>
              <a:t>LINQ інтегрував синтаксис запитів як першокласний елемент C# із повною перевіркою типів під час збірки проєкту.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Уніфікований конвеєр: </a:t>
            </a:r>
            <a:r>
              <a:rPr sz="1150">
                <a:solidFill>
                  <a:srgbClr val="334155"/>
                </a:solidFill>
                <a:latin typeface="Calibri"/>
              </a:rPr>
              <a:t>Один і той самий стиль запиту застосовується до пам'яті (Objects), баз даних (Entities) та документів (XML/JSON).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Архітектурна перевага: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Помилки в назвах властивостей або типах даних виявляються компілятором під час збірки, а не під час аварії у продакшені.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Чотири ключові провайдери платформи LINQ: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LINQ to Objects (IEnumerable&lt;T&gt; у пам'яті CLR)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LINQ to Entities / EF Core (IQueryable&lt;T&gt; -&gt; SQL)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LINQ to XML (XDocument, XElement, XAttribute)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• Parallel LINQ (PLINQ - паралельне виконання)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Декларативний запит C# до будь-якого джерела: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1, 2, 3, 4, 5, 6, 7, 8, 9, 10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evens = from n in numbers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where n % 2 == 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orderby n descending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select n;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конвеєру результатів: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num in evens)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Console.Write($"{num}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10 8 6 4 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Ключовий висновок: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LINQ інтегрував роботу з реляційними та об'єктними даними безпосередньо у мову C#, ліквідувавши розрив між кодом та СКБД.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LINQ to Objects: Робота з колекціями у пам'яті процесу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Концепція обробки даних у пам'яті CLR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Цільові джерела даних: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Будь-яка колекція, що реалізує інтерфейс IEnumerable&lt;T&gt; (масиви, List&lt;T&gt;, Dictionary&lt;K,V&gt;, HashSet&lt;T&gt;).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Простір імен System.Linq: </a:t>
            </a:r>
            <a:r>
              <a:rPr sz="1150">
                <a:solidFill>
                  <a:srgbClr val="334155"/>
                </a:solidFill>
                <a:latin typeface="Calibri"/>
              </a:rPr>
              <a:t>Вся функціональність надається статичним класом Enumerable через ланцюжки методів розширення.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Виконання в пам'яті процесу: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Запити виконуються процесором за допомогою скомпільованого IL-коду та делегатів Func&lt;T&gt;.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Відсутність парсингу: </a:t>
            </a:r>
            <a:r>
              <a:rPr sz="1150">
                <a:solidFill>
                  <a:srgbClr val="334155"/>
                </a:solidFill>
                <a:latin typeface="Calibri"/>
              </a:rPr>
              <a:t>Код запиту не передається як текст (на відміну від SQL чи regex) — він одразу виконується як нативний код .NET.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Pull-модель ітератора: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LINQ to Objects не створює нових колекцій наперед. Обчислення виконуються ліниво на вимогу споживача (on-demand via yield return).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Джерело даних у пам'яті процесу: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string[] names = { "Bill", "Steve", "James", "Mohan", "Jane"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Декларативний запит (Query Syntax):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myLinqQuery = from name in names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where name.Contains('a')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select 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Еквівалентний методний запит (Method Syntax):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methodQuery = names.Where(n =&gt; n.Contains('a'));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Потокове виконання під час ітерації: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myLinqQuery)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James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Mohan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Jane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Архітектурна примітка: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роботи з LINQ to Objects достатньо підключити директиву using System.Linq; яка імпортує методи розширення Enumerable.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Перший запит LINQ to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Анатомія простого запиту фільтрації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Джерело (Data Source): </a:t>
            </a:r>
            <a:r>
              <a:rPr sz="1150">
                <a:solidFill>
                  <a:srgbClr val="334155"/>
                </a:solidFill>
                <a:latin typeface="Calibri"/>
              </a:rPr>
              <a:t>Масив names реалізує IEnumerable&lt;string&gt;, виступаючи вхідним потоком для конвеєра ітератора.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Декларація запиту: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Оголошення запиту створює об'єкт конвеєра, але ще НЕ виконує фактичний перебір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3. Виконання (Execution): </a:t>
            </a:r>
            <a:r>
              <a:rPr sz="1150">
                <a:solidFill>
                  <a:srgbClr val="334155"/>
                </a:solidFill>
                <a:latin typeface="Calibri"/>
              </a:rPr>
              <a:t>Фактична фільтрація викликається лише під час кроків циклу foreach (через GetEnumerator/MoveNext).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4. Стан пам'яті процесу: </a:t>
            </a:r>
            <a:r>
              <a:rPr sz="1150">
                <a:solidFill>
                  <a:srgbClr val="334155"/>
                </a:solidFill>
                <a:latin typeface="Calibri"/>
              </a:rPr>
              <a:t>До моменту ітерації жоден проміжний масив не створюється, мінімізуючи навантаження на збирач сміття (GC).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Відкладене виконання: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змінити масив names перед циклом foreach, запит автоматично поверне вже актуальні змінені дані!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Джерело даних у пам'яті процесу: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string[] names = { "Bill", "Steve", "James", "Mohan"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Створення об'єкта LINQ-запиту: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myLinqQuery = from name in names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where name.Contains('a')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select 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Модифікація джерела перед ітерацією: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names[0] = "Dan"; // Bill -&gt; Dan (Dan містить 'a'!)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Фактичне виконання під час ітерації: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Console.WriteLine("Результати відкладеного запиту:");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myLinqQuery)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Console.WriteLine($"-&gt; {name}");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Dan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James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Mohan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Важливий момент: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Запит myLinqQuery зберігає лише інструкцію отримання даних, а не самі дані. Дані зчитуються 'на льоту' під час ітерації.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Дві гілки абстракції: IEnumerable проти IQueryable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IEnumerable&lt;T&gt; (LINQ to Objects)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Простір імен: </a:t>
            </a:r>
            <a:r>
              <a:rPr sz="1150">
                <a:solidFill>
                  <a:srgbClr val="334155"/>
                </a:solidFill>
                <a:latin typeface="Calibri"/>
              </a:rPr>
              <a:t>System.Collections.Generic, розширення в System.Linq.Enumerable.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Цільове середовище: </a:t>
            </a:r>
            <a:r>
              <a:rPr sz="1150">
                <a:solidFill>
                  <a:srgbClr val="334155"/>
                </a:solidFill>
                <a:latin typeface="Calibri"/>
              </a:rPr>
              <a:t>Колекції в оперативній пам'яті (In-Memory).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Параметри предикатів: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Скомпільовані делегати Func&lt;T, bool&gt; (байт-код IL).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IEnumerable: виконання кодом процесора C#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IEnumerable&lt;Student&gt; list = studentList;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 = list.Where(s =&gt; s.Age &gt; 18);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Дані вже завантажені в оперативну пам'ять!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IQueryable&lt;T&gt; (LINQ to SQL / Entities)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Простір імен: </a:t>
            </a:r>
            <a:r>
              <a:rPr sz="1150">
                <a:solidFill>
                  <a:srgbClr val="334155"/>
                </a:solidFill>
                <a:latin typeface="Calibri"/>
              </a:rPr>
              <a:t>System.Linq, розширення в System.Linq.Queryable.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Цільове середовище: </a:t>
            </a:r>
            <a:r>
              <a:rPr sz="1150">
                <a:solidFill>
                  <a:srgbClr val="334155"/>
                </a:solidFill>
                <a:latin typeface="Calibri"/>
              </a:rPr>
              <a:t>Віддалені бази даних (SQL Server, PostgreSQL, EF Core).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Параметри предикатів: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Дерева виразів Expression&lt;Func&lt;T, bool&gt;&gt; (AST).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IQueryable: трансляція в чистий SQL провайдером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IQueryable&lt;Student&gt; query = dbContext.Students;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 = query.Where(s =&gt; s.Age &gt; 18);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Генерує SQL: SELECT * FROM Students WHERE Age &gt;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Головна відмінність: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IEnumerable&lt;T&gt; виконує код у пам'яті C#, а IQueryable&lt;T&gt; передає дерево синтаксису базі даних для генерації SQL.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Приклад у стилі Query Syntax (SQL-подібний)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Особливості синтаксису запитів у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Декларативність: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Описує, ЩО саме потрібно отримати з колекції, а не ЯК покроково перебирати масиви індексами.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 для розробників: </a:t>
            </a:r>
            <a:r>
              <a:rPr sz="1150">
                <a:solidFill>
                  <a:srgbClr val="334155"/>
                </a:solidFill>
                <a:latin typeface="Calibri"/>
              </a:rPr>
              <a:t>Знайомий синтаксис для тих, хто має досвід роботи з реляційними базами даних SQL.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Статична типізація: </a:t>
            </a:r>
            <a:r>
              <a:rPr sz="1150">
                <a:solidFill>
                  <a:srgbClr val="334155"/>
                </a:solidFill>
                <a:latin typeface="Calibri"/>
              </a:rPr>
              <a:t>Тип змінної s визначається компілятором автоматично з типу елементів колекції studentList.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Лямбда-децукрування: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Roslyn автоматично перетворює цей вираз на Enumerable.Where(studentList, s =&gt; s.Age &gt; 12 &amp;&amp; s.Age &lt; 20).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Порядок пропозицій: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from стоїть ПЕРШИМ (на відміну від SQL SELECT), щоб IDE одразу знала тип елементів для автодоповнення полів (IntelliSense).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Колекція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Декларативний запит Query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teenAgerStudent)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{std.StudentName}, Вік: {std.Age}");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 (13), Bill (18), Ron (15)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 практики: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Query Syntax особливо зручний для запитів із кількома джерелами (join), групуванням (group by) та проміжними змінними (let).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01 · ВСТУП ТА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Приклад у стилі Method Syntax (Fluent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Функціональний підхід через ланцюжки методів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Методи розширення (Extension Methods):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Методи Where, Select, OrderBy викликаються безпосередньо на екземплярі колекції через крапку.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Лямбда-вирази: </a:t>
            </a:r>
            <a:r>
              <a:rPr sz="1150">
                <a:solidFill>
                  <a:srgbClr val="334155"/>
                </a:solidFill>
                <a:latin typeface="Calibri"/>
              </a:rPr>
              <a:t>Умови фільтрації та проекції передаються у формі анонімних функцій s =&gt; s.Age &gt; 12.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Композиція викликів (Fluent API):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Методи легко з'єднуються у ланцюжки: .Where(...).OrderBy(...).Select(...).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Повна потужність LINQ: </a:t>
            </a:r>
            <a:r>
              <a:rPr sz="1150">
                <a:solidFill>
                  <a:srgbClr val="334155"/>
                </a:solidFill>
                <a:latin typeface="Calibri"/>
              </a:rPr>
              <a:t>Усі 100% операторів LINQ доступні саме через Method Syntax (на відміну від Query Syntax).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Еквівалентність байт-коду: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Query Syntax компілюється у виклики Method Syntax. Швидкодія та результат виконання обох підходів АБСОЛЮТНО ІДЕНТИЧНІ.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Колекція студентів: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Method Syntax (Fluent API ланцюжок):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teenStudents = studentList.Where(s =&gt; s.Age &gt; 12 &amp;&amp; s.Age &lt; 20);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std in teenStudents)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Console.WriteLine($"Студент: {std.StudentName}, Вік: {std.Age}");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-&gt; Output: John (13), Bill (18), Ron (15)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Промисловий стандарт: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сучасному коді C# розробники частіше використовують саме Method Syntax завдяки його компактності та лаконічності.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Два стилі запитів: Query Syntax проти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Два синтаксичних підходи в мові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Query Syntax (Синтаксис запитів): </a:t>
            </a:r>
            <a:r>
              <a:rPr sz="1150">
                <a:solidFill>
                  <a:srgbClr val="334155"/>
                </a:solidFill>
                <a:latin typeface="Calibri"/>
              </a:rPr>
              <a:t>Декларативний підхід, синтаксично схожий на SQL (from ... in ... where ... select).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Method Syntax (Методний синтаксис): </a:t>
            </a:r>
            <a:r>
              <a:rPr sz="1150">
                <a:solidFill>
                  <a:srgbClr val="334155"/>
                </a:solidFill>
                <a:latin typeface="Calibri"/>
              </a:rPr>
              <a:t>Функціональний ланцюжок методів розширення з лямбда-виразами (.Where(...).Select(...)).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Компіляторна еквівалентність: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C# Roslyn завжди транслює Query Syntax у виклики Method Syntax.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Універсальність бібліотеки BCL: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запит можна записати у Method Syntax, але лише частину операторів підтримує Query Syntax.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Що обрати: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Query Syntax зручніший для Join, GroupJoin та let. Method Syntax є потужнішим і підтримує всі 100% операторів LINQ.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Декларативний Query Syntax (SQL-подібний стиль):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q1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orderby s.StudentName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select s.StudentName;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Функціональний Method Syntax (Fluent API ланцюжок):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q2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12 &amp;&amp; s.Age &lt; 20)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s.StudentName)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.Select(s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та перевірка результату: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q1)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Console.WriteLine($"Підліток: {name}");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Підліток: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Підліток: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Підліток: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Компіляторна магія: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Roslyn виконує Desugaring (децукрування), перетворюючи ключові слова from, where, select на виклики Where і Select.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Анатомія Query Syntax: Ключові слова та змінні діапазону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009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Складові частини виразу запиту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from s in studentList: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Оголошує змінну діапазону (range variable s) та вказує вхідне джерело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where s.Age &gt; 12 &amp;&amp; s.Age &lt; 20: </a:t>
            </a:r>
            <a:r>
              <a:rPr sz="1150">
                <a:solidFill>
                  <a:srgbClr val="334155"/>
                </a:solidFill>
                <a:latin typeface="Calibri"/>
              </a:rPr>
              <a:t>Логічний предикат фільтрації; пропускає лише елементи, для яких умова повертає true.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select s: </a:t>
            </a:r>
            <a:r>
              <a:rPr sz="1150">
                <a:solidFill>
                  <a:srgbClr val="334155"/>
                </a:solidFill>
                <a:latin typeface="Calibri"/>
              </a:rPr>
              <a:t>Фінальна проекція; визначає форму та тип результату, що повертається з конвеєра.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Типізація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повертає типізовану послідовність IEnumerable&lt;Student&gt; без необхідності ручного приведення.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Range Variable (Змінна діапазону):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Змінна s існує лише всередині запиту і позначає поточний ітерований елемент послідовності.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Модель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Пошук підлітків (teenagers):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teenAgerStudent)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Console.WriteLine($"{s.StudentName} ({s.Age} р.)");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 (13 р.), Bill (18 р.), Ron (15 р.)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Синтаксичний нюанс: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На відміну від SQL, де SELECT стоїть першим, у LINQ запит завжди починається з from, щоб IDE надавала автодоповнення (IntelliSense).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Ключові правила написання Query Syntax (Points to Remember)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Чотири золоті правила синтаксису запитів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Початок із from: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запит у Query Syntax ОБОВ'ЯЗКОВО розпочинається з пропозиції from.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Завершення select або group: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ОБОВ'ЯЗКОВО повинен закінчуватися або пропозицією select, або пропозицією group by.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3. Композиція операторів: </a:t>
            </a:r>
            <a:r>
              <a:rPr sz="1150">
                <a:solidFill>
                  <a:srgbClr val="334155"/>
                </a:solidFill>
                <a:latin typeface="Calibri"/>
              </a:rPr>
              <a:t>Між from та select можна довільно комбінувати where, orderby, join, let та додаткові from.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4. Неявна типізація var: </a:t>
            </a:r>
            <a:r>
              <a:rPr sz="1150">
                <a:solidFill>
                  <a:srgbClr val="334155"/>
                </a:solidFill>
                <a:latin typeface="Calibri"/>
              </a:rPr>
              <a:t>Для збереження результату запиту рекомендовано використовувати ключове слово var.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Завершальні конструкції: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select трансформує дані в IEnumerable&lt;TResult&gt;. group by розбиває дані на підколекції IEnumerable&lt;IGrouping&lt;TKey, TElement&gt;&gt;.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Структурна схема Query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var result = from &lt;range_var&gt; in &lt;data_source&gt;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[where &lt;condition&gt;]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[orderby &lt;key&gt; [ascending|descending]]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[join ... on ... equals ...]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[let &lt;var&gt; = &lt;expr&gt;]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  select &lt;projection&gt; | group &lt;item&gt; by &lt;key&gt;;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Практичний приклад повної форми запиту: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query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where s.Age &gt;= 18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orderby s.StudentName ascending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select new { Name = s.StudentName, Age = s.Age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query)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{item.Name}, Вік: {item.Age}");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Bill (18), Moin (21), Ram (20)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Чому var?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При проекції в анонімні типи ім'я типу генерується компілятором і невідоме заздалегідь, тому var є обов'язковим.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LINQ Method Syntax: Ланцюжки методів та лямбда-вирази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методного синтаксису (Fluent API)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Виклики через крапку: </a:t>
            </a:r>
            <a:r>
              <a:rPr sz="1150">
                <a:solidFill>
                  <a:srgbClr val="334155"/>
                </a:solidFill>
                <a:latin typeface="Calibri"/>
              </a:rPr>
              <a:t>Method Syntax базується на викликах методів розширення, з'єднаних у ланцюжок (Fluent Interface).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Лямбда-делегати: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метод приймає функціональний делегат, який найчастіше описується лямбда-виразом s =&gt; ...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Сигнатура Where: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Where приймає предикат Func&lt;TSource, bool&gt;, що повертає true/false для кожного елемента.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Автоматичне виведення типів: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самостійно визначає generic-тип TSource, тому не потрібно писати .Where&lt;Student&gt;(...).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Func&lt;Student, bool&gt; у Where: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Лямбда s =&gt; s.Age &gt; 12 автоматично приводиться компілятором до екземпляра делегата Func&lt;Student, bool&gt;.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Анатомія виклику Method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studentList.Where(s =&gt; s.Age &gt; 12);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       ^ джерело  ^ метод  ^ лямбда-предикат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Сигнатура методу розширення з простору Enumerable: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public static IEnumerable&lt;TSource&gt; Where&lt;TSource&gt;(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this IEnumerable&lt;TSource&gt; source,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   Func&lt;TSource, bool&gt; predicate);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Комбінування кількох операторів у ланцюжок: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adultNames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&gt;= 18)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.Select(s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adultNames) Console.Write($"{name}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Moin Bill Ram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Fluent Syntax: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Method Syntax дозволяє комбінувати десятки методів: .Where(...).OrderBy(...).Select(...).Take(5).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02 · СИНТАКСИС ЗАПИТІВ ТА МЕТОДІВ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Практика Method Syntax: Пошук студентів-підлітків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Фільтрація списку студентів через Where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студентів: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Список об'єктів Student із полями StudentID, StudentName та Age у пам'яті.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Виклик Where: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фільтрує список за складеною умовою s.Age &gt; 12 &amp;&amp; s.Age &lt; 20.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лінивий перелічувач IEnumerable&lt;Student&gt;, що містить відповідні елементи.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Композиція умов: </a:t>
            </a:r>
            <a:r>
              <a:rPr sz="1150">
                <a:solidFill>
                  <a:srgbClr val="334155"/>
                </a:solidFill>
                <a:latin typeface="Calibri"/>
              </a:rPr>
              <a:t>Логічні оператори &amp;&amp; (AND) та || (OR) підтримують повну логіку булевих виразів C#.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Points to Remember (Method Syntax):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Базується на методах розширення. 2. Має назву Fluent API. 3. Підтримує 100% операторів (включно з тими, яких немає в Query Syntax).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Джерело даних: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Фільтрація підлітків (13-19 років) через Where: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teenStudents = studentList.Where(s =&gt; s.Age &gt; 12 &amp;&amp; s.Age &lt; 20);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teenStudents)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{std.StudentName}, {std.Age} р.");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John, 13 р.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Bill, 18 р.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Знайдено: Ron, 15 р.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Перевага перед циклами: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Замість 8 рядків коду з foreach, if та add() у новий список, запит записується в один зрозумілий декларативний рядок.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Лямбда-вирази: Синтаксис, параметри та стрілочний оператор =&gt;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лямбда-виразу в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Вхідні параметри: </a:t>
            </a:r>
            <a:r>
              <a:rPr sz="1150">
                <a:solidFill>
                  <a:srgbClr val="334155"/>
                </a:solidFill>
                <a:latin typeface="Calibri"/>
              </a:rPr>
              <a:t>Зліва від оператора =&gt; записуються аргументи: s або (s, index). Типи виводяться автоматично.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Лямбда-оператор =&gt;: </a:t>
            </a:r>
            <a:r>
              <a:rPr sz="1150">
                <a:solidFill>
                  <a:srgbClr val="334155"/>
                </a:solidFill>
                <a:latin typeface="Calibri"/>
              </a:rPr>
              <a:t>Читається як 'goes to' ('переходить у'). Відокремлює список аргументів від тіла виразу.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Тіло лямбди: </a:t>
            </a:r>
            <a:r>
              <a:rPr sz="1150">
                <a:solidFill>
                  <a:srgbClr val="334155"/>
                </a:solidFill>
                <a:latin typeface="Calibri"/>
              </a:rPr>
              <a:t>Справа від =&gt; розташовується вираз або блок коду: s.Age &gt; 12 &amp;&amp; s.Age &lt; 20.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Контекст замикання (Closure): </a:t>
            </a:r>
            <a:r>
              <a:rPr sz="1150">
                <a:solidFill>
                  <a:srgbClr val="334155"/>
                </a:solidFill>
                <a:latin typeface="Calibri"/>
              </a:rPr>
              <a:t>Лямбда-вираз може захоплювати локальні змінні із зовнішнього лексичного контексту методу.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Еволюція синтаксису C#: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C# 1.0: Іменовані методи -&gt; C# 2.0: Анонімні методи delegate(s) { return ...; } -&gt; C# 3.0+: Лямбда-вирази s =&gt;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Анатомія лямбда-виразу у фільтрації: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(s)      =&gt;       (s.Age &gt; 12 &amp;&amp; s.Age &lt; 20)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^       ^         ^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парам.  'goes to'  тіло / повернене значення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Приклад застосування з локальною змінною (Замикання):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minAge = 18;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adults = studentList.Where(s =&gt; s.Age &gt;= minAge);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Перебір відфільтрованих записів: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adults)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Console.WriteLine($"Повнолітній: {s.StudentName} ({s.Age})");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Повнолітній: Moin (21)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Повнолітній: Bill (18)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Повнолітній: Ram (20)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Компіляторна магія: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Компілятор самостійно виводить тип аргументу s як Student, оскільки він знає сигнатуру вхідної колекції.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Варіації синтаксису лямбда-виразів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Параметри лямбда-виразів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Кілька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Обов'язково беруться у круглі дужки: (s, youngAge) =&gt; ...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Явна типізація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компілятор не може вивести тип: (Student s, int age) =&gt; ...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Порожні круглі дужки: () =&gt; Console.WriteLine(...)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Кілька параметрів: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(s, youngAge) =&gt; s.Age &gt;= youngAge;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З явними типами: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(Student s, int youngAge) =&gt; s.Age &gt;= youngAge;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Без параметрів: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() =&gt; Console.WriteLine("Hello from Lambda!");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Тіло лямбда-виразу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Expression Lambda: </a:t>
            </a:r>
            <a:r>
              <a:rPr sz="1150">
                <a:solidFill>
                  <a:srgbClr val="334155"/>
                </a:solidFill>
                <a:latin typeface="Calibri"/>
              </a:rPr>
              <a:t>Один вираз, значення якого автоматично повертається (без return).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Statement Lambda: </a:t>
            </a:r>
            <a:r>
              <a:rPr sz="1150">
                <a:solidFill>
                  <a:srgbClr val="334155"/>
                </a:solidFill>
                <a:latin typeface="Calibri"/>
              </a:rPr>
              <a:t>Кілька інструкцій у фігурних дужках { ... }, вимагає явного return.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Побічні ефекти: </a:t>
            </a:r>
            <a:r>
              <a:rPr sz="1150">
                <a:solidFill>
                  <a:srgbClr val="334155"/>
                </a:solidFill>
                <a:latin typeface="Calibri"/>
              </a:rPr>
              <a:t>У Statement Lambda можна оголошувати локальні змінні та виклики логування.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Statement Lambda з кількома рядками: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(s, youngAge) =&gt;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Console.WriteLine($"Перевірка {s.StudentName}");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return s.Age &gt;= youngAge;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Expression Lambda (один рядок):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s =&gt; s.Age &gt;= 18;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Рекомендація з чистоти коду: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LINQ-запитах надавайте перевагу однорядковим Expression Lambdas — вони легко читаються і не мають побічних ефектів.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Призначення лямбда-виразів у делегат Func&lt;T, bool&gt;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Делегат Func як змінна першого класу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Узагальнений делегат Func: </a:t>
            </a:r>
            <a:r>
              <a:rPr sz="1150">
                <a:solidFill>
                  <a:srgbClr val="334155"/>
                </a:solidFill>
                <a:latin typeface="Calibri"/>
              </a:rPr>
              <a:t>Останній тип у кутових дужках Func&lt;T1, T2, ..., TResult&gt; завжди вказує тип повернення.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Func&lt;Student, bool&gt;: </a:t>
            </a:r>
            <a:r>
              <a:rPr sz="1150">
                <a:solidFill>
                  <a:srgbClr val="334155"/>
                </a:solidFill>
                <a:latin typeface="Calibri"/>
              </a:rPr>
              <a:t>Приймає об'єкт Student і повертає логічне значення bool (предикат перевірки).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Повторне використання: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Змінну-делегат можна зберегти, передавати як аргумент і викликати як звичайну функцію.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Інкапсуляція бізнес-правил: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централізовано визначати складні бізнес-правила в одному місці системи.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Сигнатура делегата: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Func&lt;Student, bool&gt; isStudentTeenAger = s =&gt; s.Age &gt; 12 &amp;&amp; s.Age &lt; 20;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Оголошення делегата через лямбда-вираз: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isStudentTeenAger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Створення тестових об'єктів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Student std1 = new Student() { StudentID = 1, StudentName = "Moin", Age = 21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Student std2 = new Student() { StudentID = 2, StudentName = "Bill", Age = 18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Прямий виклик збереженого делегата: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isMoinTeen = isStudentTeenAger(std1); // False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isBillTeen = isStudentTeenAger(std2); //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Console.WriteLine($"Moin is teen: {isMoinTeen}");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Console.WriteLine($"Bill is teen: {isBillTeen}");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is teen: False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is teen: True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Головна перевага: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Збереження складних бізнес-предикатів у делегати дозволяє повторно використовувати їх у різних LINQ-запитах без дублювання коду.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Еквівалентність Func делегата та іменованої функції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Трансляція лямбди компілятором під капотом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Вхідний тип: </a:t>
            </a:r>
            <a:r>
              <a:rPr sz="1150">
                <a:solidFill>
                  <a:srgbClr val="334155"/>
                </a:solidFill>
                <a:latin typeface="Calibri"/>
              </a:rPr>
              <a:t>Перший тип у списку узагальнень Func&lt;Student, ...&gt; задає тип вхідного параметра методу.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Вихідний тип: </a:t>
            </a:r>
            <a:r>
              <a:rPr sz="1150">
                <a:solidFill>
                  <a:srgbClr val="334155"/>
                </a:solidFill>
                <a:latin typeface="Calibri"/>
              </a:rPr>
              <a:t>Останній тип Func&lt;..., bool&gt; задає тип, що повертається інструкцією return.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Генерований метод: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перетворює лямбду на звичайний приватний метод класу з атрибутом [CompilerGenerated].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Швидкодія: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через делегат не створює накладних витрат рефлексії і оптимізується JIT-компілятором.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Повна еквівалентність: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Делегат Func&lt;Student, bool&gt; під капотом є строго типізованим вказівником на функцію bool isStudentTeenAger(Student 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Форма 1. Лямбда-вираз через делегат Func: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isTeenLambda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Форма 2. Класичний іменований метод: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public bool IsTeenMethod(Student 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return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Форма 3. Передача іменованого методу в Where: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teenList = studentList.Where(IsTeenMethod);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teenList)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Архітектурна перевага: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Лямбда-вирази дозволяють описувати локальну функціональну логіку прямо за місцем її використання без зайвого шаблонного коду.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Делегат Action&lt;T&gt; проти Func&lt;T&gt; та передача у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D97706"/>
                </a:solidFill>
                <a:latin typeface="Calibri"/>
              </a:defRPr>
            </a:pPr>
            <a:r>
              <a:t>Делегат Action&lt;T&gt; (Повертає void)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Семантика: </a:t>
            </a:r>
            <a:r>
              <a:rPr sz="1150">
                <a:solidFill>
                  <a:srgbClr val="334155"/>
                </a:solidFill>
                <a:latin typeface="Calibri"/>
              </a:rPr>
              <a:t>Виконує дію, але НІЧОГО не повертає (аналог процедури).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Виведення на консоль, запис у лог, виклик події.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 LINQ: </a:t>
            </a:r>
            <a:r>
              <a:rPr sz="1150">
                <a:solidFill>
                  <a:srgbClr val="334155"/>
                </a:solidFill>
                <a:latin typeface="Calibri"/>
              </a:rPr>
              <a:t>Не використовується у Where/Select, бо не повертає результат.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Action&lt;Student&gt;: дія без результату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Action&lt;Student&gt; PrintStudentDetail = s =&gt;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Console.WriteLine($"Name: {s.StudentName}, Age: {s.Age}");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std = new Student() { StudentName = "Bill", Age = 21 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PrintStudentDetail(std);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Name: Bill, Age: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Делегат Func&lt;T, bool&gt; (Повертає результат)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Семантика: </a:t>
            </a:r>
            <a:r>
              <a:rPr sz="1150">
                <a:solidFill>
                  <a:srgbClr val="334155"/>
                </a:solidFill>
                <a:latin typeface="Calibri"/>
              </a:rPr>
              <a:t>Обчислює значення і ОБОВ'ЯЗКОВО повертає його (чиста функція).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Предикати фільтрації, проекції, компаратори.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 LINQ: </a:t>
            </a:r>
            <a:r>
              <a:rPr sz="1150">
                <a:solidFill>
                  <a:srgbClr val="334155"/>
                </a:solidFill>
                <a:latin typeface="Calibri"/>
              </a:rPr>
              <a:t>Є основою методів Where, Select, OrderBy, Count тощо.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Func&lt;Student, bool&gt;: предикат фільтра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isTeen = s =&gt; s.Age &lt; 20;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Передача у метод розширення Where: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studentList.Where(isTeen);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Where приймає САМЕ Func&lt;Student, bool&gt;!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Золоте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фільтри та проекції LINQ працюють з Func&lt;...&gt;. Делегати Action&lt;...&gt; застосовуються для побічних дій (наприклад, .ForEach()).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03 · ЛЯМБДА-ВИРАЗИ ТА ДЕЛЕГАТИ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Практика передачі делегата Func&lt;Student, bool&gt; у Where()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Чистий код без громіздких лямбда-рядків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Відокремлення логіки: </a:t>
            </a:r>
            <a:r>
              <a:rPr sz="1150">
                <a:solidFill>
                  <a:srgbClr val="334155"/>
                </a:solidFill>
                <a:latin typeface="Calibri"/>
              </a:rPr>
              <a:t>Складні бізнес-правила виносяться в окремі змінні делегатів або статичні методи.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 запиту: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studentList.Where(isStudentTeenAger) читається як звичайна людська фраза.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Легке тестування: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Делегат можна протестувати окремо модульними тестами Unit Tests без виконання запиту.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Динамічна підміна: </a:t>
            </a:r>
            <a:r>
              <a:rPr sz="1150">
                <a:solidFill>
                  <a:srgbClr val="334155"/>
                </a:solidFill>
                <a:latin typeface="Calibri"/>
              </a:rPr>
              <a:t>Делегат можна передавати як параметр методу, динамічно змінюючи критерій пошуку.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Еволюція коду: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Where(s =&gt; ...) -&gt; 2. Func&lt;Student, bool&gt; isTeen = ... -&gt; 3. Доменний предикат Student.IsTeenager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Оголошення предикатів фільтрації: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isStudentTeenAger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Func&lt;Student, bool&gt; isHonorStudent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s.StudentID &lt;= 3;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Використання збереженого делегата у Where: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filteredStudents = studentList.Where(isStudentTeenAger);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відфільтрованій вибірці: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filteredStudents)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{std.StudentName}, Вік: {std.Age}");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John, Вік: 13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Bill, Вік: 18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Ron, Вік: 15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Рекомендація з архітектури: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корпоративних системах тримайте бізнес-предикати як статичні властивості моделей (наприклад, Student.IsTeenagerPredicate).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04 · СТАНДАРТНІ ОПЕРАТОРИ LINQ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Стандартні оператори запитів: Query проти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019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Standard Query Operators у Query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Ключові слова C#: </a:t>
            </a:r>
            <a:r>
              <a:rPr sz="1150">
                <a:solidFill>
                  <a:srgbClr val="334155"/>
                </a:solidFill>
                <a:latin typeface="Calibri"/>
              </a:rPr>
              <a:t>from, where, select, group, into, orderby, join, let.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Трансляція: </a:t>
            </a:r>
            <a:r>
              <a:rPr sz="1150">
                <a:solidFill>
                  <a:srgbClr val="334155"/>
                </a:solidFill>
                <a:latin typeface="Calibri"/>
              </a:rPr>
              <a:t>Roslyn перетворює на виклики Where, Select, OrderByBy, GroupBy.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Нагадує класичні SQL-запити до реляційних баз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Query Syntax: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students = from s in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where s.Age &gt; 20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select s;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Транслюється компілятором у Method Syntax!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Standard Query Operators у Method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Методи розширення: </a:t>
            </a:r>
            <a:r>
              <a:rPr sz="1150">
                <a:solidFill>
                  <a:srgbClr val="334155"/>
                </a:solidFill>
                <a:latin typeface="Calibri"/>
              </a:rPr>
              <a:t>Where, Select, OrderBy, GroupBy, Join, GroupJoin, Aggregate тощо.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Універсальність: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Підтримує всі оператори без винятку (понад 50 методів).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Функціональність: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Легко поєднується з іншими бібліотеками та розширеннями.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Method Syntax: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students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20);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Прямий виклик методу розширення Enumerable.Where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Еквівалентність: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Обидва синтаксиси є повністю взаємозамінними за швидкодією та результатом виконання.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04 · СТАНДАРТНІ ОПЕРАТОРИ LINQ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Велика класифікація операторів LINQ (15 категорій)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87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Категорія операторів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Методи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та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Filtering (Фільтрація)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Where, OfType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Відбір елементів за умовою або типом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Sorting (Сортування)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OrderBy, OrderByDescending, ThenBy, ThenByDescending, Reverse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Впорядкування за зростанням або спаданням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Grouping (Групування)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GroupBy, ToLookup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Розбиття на групи за спільним ключем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Joining (З'єднання)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Join, GroupJoin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Реляційне зіставлення двох послідовностей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Projection (Проекція)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Select, SelectMany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Трансформація форми даних та сплющення 1:N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Aggregation (Агрегація)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Aggregate, Average, Count, LongCount, Max, Min, Sum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Обчислення скалярних підсумків та згортка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Quantifiers (Квантори)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All, Any, 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Логічна перевірка існування чи загальності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Elements (Елементні)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ElementAt, First, FirstOrDefault, Last, LastOrDefault, Single, SingleOrDefault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Вилучення конкретного одиничного елемента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Set (Множини)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Distinct, Except, Intersect, Union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Математичні операції над множинами без дублікатів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Partitioning (Секціонування)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Skip, SkipWhile, Take, TakeWhile, Chunk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Посторінкова пагінація та зрізи потоку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8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Concatenation &amp; Misc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Concat, SequenceEqual,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Послідовне об'єднання, перевірка рівності, зшивання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8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Conversion &amp; Execution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AsEnumerable, AsQueryable, Cast, ToArray, ToList, ToDictionary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Матеріалізація в пам'ять та керування виконанням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Карта курсу: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Кожна з цих категорій детально розглядається на наступних слайдах із практичними прикладами C#.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фільтрації: Where та OfType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Фільтрує колекцію за заданою умовою (предикатом).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елементи, для яких предикат повертає true.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numbers.Where(x =&gt; x &gt;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OfType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Фільтрує елементи колекції за їхньою сумісністю з типом 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Відбирає лише ті елементи, які можна безпечно привести до типу 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IEnumerable&lt;TResult&gt;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list.OfType&lt;string&gt;()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657600"/>
            <a:ext cx="10728655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730752"/>
            <a:ext cx="10509199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Where: перевірка логічної умови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adults = studentList.Where(s =&gt; s.Age &gt;= 18);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OfType: безпечна фільтрація за типом даних (ігнорує інші типи без помилок)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object[] mixed = { 1, "Hello", 3.14, "World", 42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stringsOnly = mixed.OfType&lt;string&gt;(); // ["Hello", "World"]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Фізика роботи: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Where та OfType є потоковими операторами (Streaming, O(1) пам'яті). Вони не виділяють проміжних списків.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Where: Робота та сигнатура в 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Ключовий оператор фільтрації Enumerable.Where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Семантика Where: </a:t>
            </a:r>
            <a:r>
              <a:rPr sz="1150">
                <a:solidFill>
                  <a:srgbClr val="334155"/>
                </a:solidFill>
                <a:latin typeface="Calibri"/>
              </a:rPr>
              <a:t>Пропускає через конвеєр лише ті елементи, для яких вказаний предикат повертає значення true.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Предикат Func&lt;TSource, bool&gt;: </a:t>
            </a:r>
            <a:r>
              <a:rPr sz="1150">
                <a:solidFill>
                  <a:srgbClr val="334155"/>
                </a:solidFill>
                <a:latin typeface="Calibri"/>
              </a:rPr>
              <a:t>Чиста функція, що приймає поточний елемент колекції і повертає булевий результат.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обробка (Streaming): </a:t>
            </a:r>
            <a:r>
              <a:rPr sz="1150">
                <a:solidFill>
                  <a:srgbClr val="334155"/>
                </a:solidFill>
                <a:latin typeface="Calibri"/>
              </a:rPr>
              <a:t>Працює за принципом конвеєра: елементи не зберігаються в масиві, а віддаються один за одним.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Імутабельність джерела: </a:t>
            </a:r>
            <a:r>
              <a:rPr sz="1150">
                <a:solidFill>
                  <a:srgbClr val="334155"/>
                </a:solidFill>
                <a:latin typeface="Calibri"/>
              </a:rPr>
              <a:t>Початкова колекція ніколи не змінюється; генерується новий перелічувач результатів.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Відкладене виконання (Deferred Execution):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Фільтрація виконується тільки під час проходження циклу foreach або під час матеріалізації (ToList, ToArray).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Джерело даних: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 Age = 15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Фільтрація з кількома логічними умовами: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filtered = studentList.Where(s =&gt; s.Age &gt; 12 &amp;&amp; s.Age &lt; 20);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конвеєру: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filtered)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Console.WriteLine($"Знайдено: {std.StudentName}");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John,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Оптимізація продуктивності: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Where не копіює дані. Якщо з мільйона записів підійдуть 5, у пам'яті будуть створені посилання тільки на ці 5 об'єктів.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Перевантаження Where: Фільтрація з використанням індексу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Сигнатура з порядковим номером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Друге перевантаження Where: </a:t>
            </a:r>
            <a:r>
              <a:rPr sz="1150">
                <a:solidFill>
                  <a:srgbClr val="334155"/>
                </a:solidFill>
                <a:latin typeface="Calibri"/>
              </a:rPr>
              <a:t>Приймає делегат Func&lt;TSource, int, bool&gt;, де другий параметр — 0-базовий індекс елемента.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Автоматичний інкремент: </a:t>
            </a:r>
            <a:r>
              <a:rPr sz="1150">
                <a:solidFill>
                  <a:srgbClr val="334155"/>
                </a:solidFill>
                <a:latin typeface="Calibri"/>
              </a:rPr>
              <a:t>Індекс збільшується автоматично для кожного обробленого вхідного елемента під час перебору.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Тільки у Method Syntax: </a:t>
            </a:r>
            <a:r>
              <a:rPr sz="1150">
                <a:solidFill>
                  <a:srgbClr val="334155"/>
                </a:solidFill>
                <a:latin typeface="Calibri"/>
              </a:rPr>
              <a:t>Це перевантаження не має прямого синтаксичного аналога в Query Syntax (from ... where).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Практичні сценарії: </a:t>
            </a:r>
            <a:r>
              <a:rPr sz="1150">
                <a:solidFill>
                  <a:srgbClr val="334155"/>
                </a:solidFill>
                <a:latin typeface="Calibri"/>
              </a:rPr>
              <a:t>Відбір парних/непарних рядків, зеброве фарбування таблиць, обмеження перших N записів за позицією.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Сигнатура методу розширення: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public static IEnumerable&lt;TSource&gt; Where&lt;TSource&gt;(this IEnumerable&lt;TSource&gt; source, Func&lt;TSource, int, bool&gt; predicate);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Вибірка елементів на парних індексах (0, 2, 4, ...):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evenIndexStudents =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.Where((s, index) =&gt; index % 2 == 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std in evenIndexStudents)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Console.WriteLine($"Індексний студент: {std.StudentName}");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John (idx 0), Bill (idx 2), Ron (idx 4)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Комбінування індексу та бізнес-властивості: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complexFilter = studentList.Where((s, index) =&gt;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s.Age &gt; 15 &amp;&amp; index &lt; 3);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std in complexFilter)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Console.WriteLine($"Фінал: {std.StudentName}");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Bill (Age 18, idx 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Важлива деталь: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Індекс передає позицію у вхідній послідовності, а не значення первинного ключа (StudentID) в базі даних!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Множинні пропозиції where у запитах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Множинні where у Query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Послідовний запис: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вказувати кілька пропозицій where одну за одною.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Еквівалентність AND: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 пройде далі лише тоді, коли задовольнить УСІ блоки where.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Читабельність: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Допомагає розбивати довгі громіздкі умови на окремі логічні рядки.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Множинні where в одному запиті: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filteredResult = from s in studentList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                     where s.Age &gt; 12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                     where s.Age &lt; 20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                     select s.StudentName;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Еквівалентно: where s.Age &gt; 12 &amp;&amp; s.Age &lt;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Ланцюжок .Where().Where() у Method Syntax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Композиція фільтрів: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наступний .Where() фільтрує результати попереднього.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BCL (Iterator Folding): </a:t>
            </a:r>
            <a:r>
              <a:rPr sz="1150">
                <a:solidFill>
                  <a:srgbClr val="334155"/>
                </a:solidFill>
                <a:latin typeface="Calibri"/>
              </a:rPr>
              <a:t>Сучасний .NET BCL об'єднує послідовні Where в один комбінований ітератор.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Динамічні фільтри: </a:t>
            </a:r>
            <a:r>
              <a:rPr sz="1150">
                <a:solidFill>
                  <a:srgbClr val="334155"/>
                </a:solidFill>
                <a:latin typeface="Calibri"/>
              </a:rPr>
              <a:t>Зручно додавати умови за прапорцями: if (filterAge) q = q.Where(...);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Ланцюжок методів: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12)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&lt; 20);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.NET оптимізує це в єдиний прохід!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Практична порада: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окремі where, коли умови належать до різних бізнес-правил (наприклад, перевірка статусу та діапазону дат).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OfType&lt;T&gt;: Безпечна фільтрація за типами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Робота з різнотипними колекціями та поліморфізмом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OfType&lt;T&gt;: </a:t>
            </a:r>
            <a:r>
              <a:rPr sz="1150">
                <a:solidFill>
                  <a:srgbClr val="334155"/>
                </a:solidFill>
                <a:latin typeface="Calibri"/>
              </a:rPr>
              <a:t>Фільтрує колекцію, залишаючи лише ті елементи, які можна безпечно привести до типу T.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без помилок: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Елементи, що не відповідають цільовому типу, тихо пропускаються (без InvalidCastException).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Інструкція IL isinst: </a:t>
            </a:r>
            <a:r>
              <a:rPr sz="1150">
                <a:solidFill>
                  <a:srgbClr val="334155"/>
                </a:solidFill>
                <a:latin typeface="Calibri"/>
              </a:rPr>
              <a:t>На рівні байт-коду використовує інструкцію isinst, яка працює як оператор is у C#.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Підтримка наслідування: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вказати базовий тип OfType&lt;Person&gt;(), поверне як екземпляри Person, так і Student/Teacher.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OfType проти Cast: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Cast&lt;T&gt; намагається жорстко привести кожен елемент і кине виняток при невідповідності. OfType&lt;T&gt; просто відкидає зайві типи.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Нетипізована колекція (наприклад, ArrayList або object[]):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 mixedList = new ArrayList()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0,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"Two",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3,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"Bill"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Отримати тільки рядки (ігноруючи числа та студентів):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stringResult = mixedList.OfType&lt;string&gt;();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str in stringResult) Console.Write($"{str}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One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Отримати тільки студентів: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studentResult = mixedList.OfType&lt;Student&gt;();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studentResult)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Сфера застосування: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OfType незамінний при міграції старого коду .NET 1.1/2.0 з ArrayList або при обробці ієрархій UI контролів (Controls.OfType&lt;Button&gt;()).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05 · ФІЛЬТРАЦІЯ (FILTERING)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застосування OfType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Вибірка цілих чисел OfType&lt;int&gt;()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Джерело: </a:t>
            </a:r>
            <a:r>
              <a:rPr sz="1150">
                <a:solidFill>
                  <a:srgbClr val="334155"/>
                </a:solidFill>
                <a:latin typeface="Calibri"/>
              </a:rPr>
              <a:t>Змішаний список mixedList з числами, рядками та об'єктами.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Вибірка: </a:t>
            </a:r>
            <a:r>
              <a:rPr sz="1150">
                <a:solidFill>
                  <a:srgbClr val="334155"/>
                </a:solidFill>
                <a:latin typeface="Calibri"/>
              </a:rPr>
              <a:t>mixedList.OfType&lt;int&gt;() відбирає лише цілочисельні елементи.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значення 0 та 3. Усі рядки та студенти проігноровані.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Вибірка чисел: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intResult = mixedList.OfType&lt;int&gt;();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(int num in intResult)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Console.Write(num + " 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0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Вибірка рядків OfType&lt;string&gt;()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Джерело: </a:t>
            </a:r>
            <a:r>
              <a:rPr sz="1150">
                <a:solidFill>
                  <a:srgbClr val="334155"/>
                </a:solidFill>
                <a:latin typeface="Calibri"/>
              </a:rPr>
              <a:t>Той самий змішаний список mixedList.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Вибірка: </a:t>
            </a:r>
            <a:r>
              <a:rPr sz="1150">
                <a:solidFill>
                  <a:srgbClr val="334155"/>
                </a:solidFill>
                <a:latin typeface="Calibri"/>
              </a:rPr>
              <a:t>mixedList.OfType&lt;string&gt;() відбирає текстові елементи.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'One' та 'Two'. Числа 0, 3 та об'єкти проігноровані.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Вибірка рядків: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strResult = mixedList.OfType&lt;string&gt;();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(string s in strResult)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Console.Write(s + " 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One Two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Поліморфний бонус: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клас GraduateStudent успадковує Student, то list.OfType&lt;Student&gt;() поверне як звичайних студентів, так і випускників!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сортування: Впорядкування даних у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Концепція сортування послідовностей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Впорядковує елементи колекції у порядку зростання або спадання за одним або кількома ключами.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Стабільність сортування: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Усі оператори сортування у LINQ є стабільними (зберігають порядок однакових елементів).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Ключовий інтерфейс: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Методи сортування повертають спеціальний інтерфейс IOrderedEnumerable&lt;T&gt;.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Модель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Сортування є жадібним оператором з відкладеним стартом (буферизує всі елементи під час першого MoveNext).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Особливість виконання: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Для сортування неможливо віддати перший елемент без перегляду всієї колекції! Тому алгоритм QuickSort/TimSort зчитує всі дані в буфер.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Первинне сортування за віком (зростання):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s1 = studentList.OrderBy(s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Первинне сортування за віком (спадання):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s2 = studentList.OrderByDescending(s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Вторинне сортування (ThenBy / ThenByDescending):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s3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.ThenBy(s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Виведення результату комплексного сортування: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s3)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Console.WriteLine($"{s.Age} р. -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13 р. -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15 р. - Ron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18 р. -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Продуктивність: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Уникайте сортування великих нескінченних послідовностей — операція вимагає читання всієї колекції у пам'ять!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Зведена таблиця операторів сортування в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Оператор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Query Syntax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Method Syntax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дії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Тип повернення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OrderBy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orderby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OrderBy()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Сортування за зростанням (Ascending)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OrderByDescending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orderby ... desc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OrderByDescending()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Сортування за спаданням (Descending)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ThenBy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кома ',' у списку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ThenBy()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Вторинне сортування за зростанням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ThenByDescending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кома + desc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ThenByDescending()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Вторинне сортування за спаданням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IOrderedEnumerable&lt;T&gt;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Не підтримується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Reverse()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Розгортає порядок елементів навпаки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703320"/>
            <a:ext cx="10728655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776472"/>
            <a:ext cx="10509199" cy="1453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Приклад комбінованого сортування за віком, а для однакового віку - за ім'ям: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sorted = studentList.OrderBy(s =&gt; s.Age).ThenBy(s =&gt; s.StudentName);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Інверсія порядку відсортованих даних: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reversed = sorted.Reverse();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(var s in sorted)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Console.WriteLine($"{s.Age} р. - {s.StudentName}");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13 р. - John, 15 р. - Ron, 18 р. -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SortingOperators.cs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ThenBy та ThenByDescending можуть викликатися ТІЛЬКИ після OrderBy/OrderByDescending, бо вони розширюють IOrderedEnumerable.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OrderBy та OrderByDescending у Query та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Первинне сортування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 замовчуванням (Ascending): </a:t>
            </a:r>
            <a:r>
              <a:rPr sz="1150">
                <a:solidFill>
                  <a:srgbClr val="334155"/>
                </a:solidFill>
                <a:latin typeface="Calibri"/>
              </a:rPr>
              <a:t>Сортування за зростанням: числа від меншого до більшого, текст від А до 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 спаданням (Descending): </a:t>
            </a:r>
            <a:r>
              <a:rPr sz="1150">
                <a:solidFill>
                  <a:srgbClr val="334155"/>
                </a:solidFill>
                <a:latin typeface="Calibri"/>
              </a:rPr>
              <a:t>OrderByDescending / descending: від більшого до меншого, текст від Я до 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Кастомні компаратори: </a:t>
            </a:r>
            <a:r>
              <a:rPr sz="1150">
                <a:solidFill>
                  <a:srgbClr val="334155"/>
                </a:solidFill>
                <a:latin typeface="Calibri"/>
              </a:rPr>
              <a:t>Обидва методи приймають перевантаження з IComparer&lt;TKey&gt; для власної логіки порівняння.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Імутабельність джерела: </a:t>
            </a:r>
            <a:r>
              <a:rPr sz="1150">
                <a:solidFill>
                  <a:srgbClr val="334155"/>
                </a:solidFill>
                <a:latin typeface="Calibri"/>
              </a:rPr>
              <a:t>Початкова колекція залишається незмінною; генерується впорядкований ітератор.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Синтаксис у Query: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orderby s.StudentName (за замовчуванням ascending) або orderby s.StudentName descending (явне спадання)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Query Syntax (за спаданням):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qAsc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orderby s.StudentName descending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Method Syntax (за зростанням):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mAsc = studentList.OrderBy(s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Ітерація по відсортованих даних: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std in mAsc)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Console.WriteLine($"Студент: {std.StudentName}");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Студент: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Регістрозалежність: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 замовчуванням рядки сортуються з урахуванням поточної культури (CultureInfo.CurrentCulture).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Вторинне сортування: Оператори ThenBy та ThenByDescending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Багаторівневе сортування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повторного OrderBy: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викликати OrderBy двічі поспіль, друге сортування ПОВНІСТЮ ЗЛАМАЄ перше!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ThenBy: </a:t>
            </a:r>
            <a:r>
              <a:rPr sz="1150">
                <a:solidFill>
                  <a:srgbClr val="334155"/>
                </a:solidFill>
                <a:latin typeface="Calibri"/>
              </a:rPr>
              <a:t>Виконує сортування ТІЛЬКИ між елементами, у яких ключі попереднього сортування однакові.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Ланцюжки ThenBy: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викликати необмежену кількість разів: .OrderBy().ThenBy().ThenByDescending().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Синтаксис запитів: </a:t>
            </a:r>
            <a:r>
              <a:rPr sz="1150">
                <a:solidFill>
                  <a:srgbClr val="334155"/>
                </a:solidFill>
                <a:latin typeface="Calibri"/>
              </a:rPr>
              <a:t>У Query Syntax вторинні ключі перераховуються через кому: orderby s.Age, s.StudentName.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Чому ламається OrderBy: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studentList.OrderBy(s =&gt; s.Age).OrderBy(s =&gt; s.StudentName) зламає сортування, пересортувавши все за ім'ям!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Правильне вторинне сортування через ThenBy: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.ThenBy(s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Аналог у Query Syntax через кому: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query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orderby s.Age, s.StudentName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Виведення результату багаторівневого сортування: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Console.WriteLine($"{s.Age} р. -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13 р. -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15 р. - Ron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18 р. -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20 р. -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21 р. - Moin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Типізація C#: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ThenBy доступний лише для інтерфейсу IOrderedEnumerable&lt;T&gt;, тому компілятор не дозволить викликати його першим.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Reverse: Розгортання послідовності у зворотному напрямку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Інверсія порядку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оператора: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елементи вхідної колекції у прямо протилежному порядку без аналізу їх значення.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Тільки у Method Syntax: </a:t>
            </a:r>
            <a:r>
              <a:rPr sz="1150">
                <a:solidFill>
                  <a:srgbClr val="334155"/>
                </a:solidFill>
                <a:latin typeface="Calibri"/>
              </a:rPr>
              <a:t>У Query Syntax ключового слова reverse немає; використовується orderby descending.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LINQ проти List&lt;T&gt;.Reverse(): </a:t>
            </a:r>
            <a:r>
              <a:rPr sz="1150">
                <a:solidFill>
                  <a:srgbClr val="334155"/>
                </a:solidFill>
                <a:latin typeface="Calibri"/>
              </a:rPr>
              <a:t>List&lt;T&gt;.Reverse() змінює список на місці (in-place void). LINQ Reverse() повертає новий IEnumerable&lt;T&gt;.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Буферизація: </a:t>
            </a:r>
            <a:r>
              <a:rPr sz="1150">
                <a:solidFill>
                  <a:srgbClr val="334155"/>
                </a:solidFill>
                <a:latin typeface="Calibri"/>
              </a:rPr>
              <a:t>Як і сортування, потребує зчитування елементів у внутрішній буфер для розгортання порядку.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Дві різні операції Reverse у C#: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list.Reverse() мутує список List&lt;T&gt;, тоді як LINQ list.AsEnumerable().Reverse() повертає новий незмінний ітератор.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Джерело чисел: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1, 2, 3, 4, 5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Розгортання послідовності через LINQ: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reversedNums = numbers.Reverse();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 in reversedNums)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Console.Write($"{n}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5 4 3 2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Розгортання після сортування: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sortedDesc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.Reverse();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 in sortedDesc)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Console.WriteLine($"{s.Age}: {s.StudentName}");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Чистота коду: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LINQ Reverse() для збереження незмінності (immutability) колекцій у функціональному стилі.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06 · СОРТУВАННЯ (SORTING)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Вторинне сортування: ThenBy проти помилки повторного OrderBy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❌ Груба помилка: подвійний OrderBy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проблеми: </a:t>
            </a:r>
            <a:r>
              <a:rPr sz="1150">
                <a:solidFill>
                  <a:srgbClr val="334155"/>
                </a:solidFill>
                <a:latin typeface="Calibri"/>
              </a:rPr>
              <a:t>Повторний виклик .OrderBy() створює НОВИЙ ітератор і ПОВНІСТЮ ЗНИЩУЄ попереднє сортування!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Наслідок: </a:t>
            </a:r>
            <a:r>
              <a:rPr sz="1150">
                <a:solidFill>
                  <a:srgbClr val="334155"/>
                </a:solidFill>
                <a:latin typeface="Calibri"/>
              </a:rPr>
              <a:t>Колекція буде відсортована ЛИШЕ за останнім полем. Попередній порядок буде втрачено.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Порушення контракту: </a:t>
            </a:r>
            <a:r>
              <a:rPr sz="1150">
                <a:solidFill>
                  <a:srgbClr val="334155"/>
                </a:solidFill>
                <a:latin typeface="Calibri"/>
              </a:rPr>
              <a:t>Зайві обчислення сортування QuickSort двічі.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❌ НЕПРАВИЛЬНО: OrderBy двічі ламає порядок!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broken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s.StudentName);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Попереднє сортування за Age СТЕРТО!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✅ Правильно: OrderBy + ThenBy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рішення: </a:t>
            </a:r>
            <a:r>
              <a:rPr sz="1150">
                <a:solidFill>
                  <a:srgbClr val="334155"/>
                </a:solidFill>
                <a:latin typeface="Calibri"/>
              </a:rPr>
              <a:t>ThenBy створює складений компаратор у межах існуючого IOrderedEnumerable.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структури: </a:t>
            </a:r>
            <a:r>
              <a:rPr sz="1150">
                <a:solidFill>
                  <a:srgbClr val="334155"/>
                </a:solidFill>
                <a:latin typeface="Calibri"/>
              </a:rPr>
              <a:t>Вторинний ключ застосовується лише тоді, коли первинні ключі рівні.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Гнучкість напрямків: </a:t>
            </a:r>
            <a:r>
              <a:rPr sz="1150">
                <a:solidFill>
                  <a:srgbClr val="334155"/>
                </a:solidFill>
                <a:latin typeface="Calibri"/>
              </a:rPr>
              <a:t>ThenByDescending сортує вторинний ключ за спаданням.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 ПРАВИЛЬНО: композитне сортування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correct = studentList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.OrderBy(s =&gt; s.Age)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.ThenBy(s =&gt; s.StudentName);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Ідеальне багаторівневе сортування!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Золоте правило архітектора: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ланцюжку викликів OrderBy може бути лише ОДИН (на початку). Усі наступні рівні сортування — тільки ThenBy/ThenByDescending.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Порівняння: Оператор GroupBy проти ToLookup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9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Характеристика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GroupBy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ToLookup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Перевага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Сценарій використання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Тип виконання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Відкладене (Deferred Execution)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Негайне (Immediate Execution)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GroupBy не вантажить пам'ять заздалегідь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GroupBy для конвеєрів; ToLookup для кешу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Тип повернення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IEnumerable&lt;IGrouping&lt;TKey, TElement&gt;&gt;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ILookup&lt;TKey, TElement&gt;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ToLookup має індексатор lookup[key]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Швидкий багаторазовий пошук за ключем 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1. GroupBy: Відкладене виконання (Deferred) - обчислюється при кожному foreach: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IEnumerable&lt;IGrouping&lt;int, Student&gt;&gt; grouped = studentList.GroupBy(s =&gt; s.Age);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foreach (var group in grouped)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Console.WriteLine($"Ключ віку: {group.Key}, Кількість студентів: {group.Count()}");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2. ToLookup: Негайне виконання (Immediate) - створює постійний незмінний хеш-індекс 1:N у пам'яті: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ILookup&lt;int, Student&gt; lookup = studentList.ToLookup(s =&gt; s.Age);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age18Students = lookup[18]; // Швидкий доступ O(1), lookup[99] безпечно поверне Empty без винятків!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GroupByVsToLookup.cs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Архітектурна різниця: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GroupBy повертає відкладений ітератор, а ToLookup негайно матеріалізує незмінний швидкий індекс у пам'яті.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GroupBy у Query Syntax (group ... by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Синтаксис групування group s by s.Age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Завершальна пропозиція: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у Query Syntax може завершуватися або select, або group by.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Структура IGrouping&lt;TKey, TElement&gt;: </a:t>
            </a:r>
            <a:r>
              <a:rPr sz="1150">
                <a:solidFill>
                  <a:srgbClr val="334155"/>
                </a:solidFill>
                <a:latin typeface="Calibri"/>
              </a:rPr>
              <a:t>Кожна група має властивість .Key та сама є колекцією IEnumerable&lt;TElement&gt;.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Проміжна змінна into: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продовжити запит після групування: group s by s.Age into g where g.Count() &gt; 1...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Відкладене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Групування виконується ліниво під час перебору зовнішнього циклу foreach.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Дворівневий перебір: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Зовнішній цикл перебирає групи (foreach group in groupedResult). Внутрішній цикл перебирає елементи групи (foreach item in group).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Query Syntax групування за віком: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groupedResult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group s by s.Age;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Дворівневий перебір сформованих груп: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ageGroup in groupedResult)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Console.WriteLine($"Вікова група: {ageGroup.Key}");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(Student s in ageGroup)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*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Вікова група: 13 -&gt;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Вікова група: 21 -&gt;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Вікова група: 18 -&gt;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 групи (Key):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Ключем може бути як просте поле (Age), так і складний складений ключ: group s by new { s.Age, s.Department }.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Групування GroupBy у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Метод studentList.GroupBy(s =&gt; s.Age)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KeySelector лямбда: </a:t>
            </a:r>
            <a:r>
              <a:rPr sz="1150">
                <a:solidFill>
                  <a:srgbClr val="334155"/>
                </a:solidFill>
                <a:latin typeface="Calibri"/>
              </a:rPr>
              <a:t>s =&gt; s.Age вказує властивість, за якою розбиваються групи.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порядку: </a:t>
            </a:r>
            <a:r>
              <a:rPr sz="1150">
                <a:solidFill>
                  <a:srgbClr val="334155"/>
                </a:solidFill>
                <a:latin typeface="Calibri"/>
              </a:rPr>
              <a:t>GroupBy у LINQ гарантує збереження початкового відносного порядку появи груп та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Відкладена оцінка: </a:t>
            </a:r>
            <a:r>
              <a:rPr sz="1150">
                <a:solidFill>
                  <a:srgbClr val="334155"/>
                </a:solidFill>
                <a:latin typeface="Calibri"/>
              </a:rPr>
              <a:t>Групи формуються лише під час перебору в циклі foreach.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Проекція елементів групи: </a:t>
            </a:r>
            <a:r>
              <a:rPr sz="1150">
                <a:solidFill>
                  <a:srgbClr val="334155"/>
                </a:solidFill>
                <a:latin typeface="Calibri"/>
              </a:rPr>
              <a:t>GroupBy(s =&gt; s.Age, s =&gt; s.StudentName) дозволяє формувати групи лише з імен, уникаючи збереження всього об'єкта.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Можливості проекції груп: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GroupBy має перевантаження з вибором значення: GroupBy(s =&gt; s.Age, s =&gt; s.StudentName) для створення груп лише з імен.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Method Syntax групування за віком: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groupedResult = studentList.GroupBy(s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ageGroup in groupedResult)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Console.WriteLine($"AgeGroup: {ageGroup.Key} (К-сть: {ageGroup.Count()})");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(Student s in ageGroup)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-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Проекція елементів групи лише в рядки імен: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namesByAge = studentList.GroupBy(s =&gt; s.Age, s =&gt; s.StudentName);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AgeGroup: 13 (К-сть: 1) -&gt;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AgeGroup: 21 (К-сть: 1) -&gt;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AgeGroup: 18 (К-сть: 1) -&gt;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Хешування ключів: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Під капотом GroupBy будує хеш-таблицю відер (buckets) за значенням ключа, тому операція виконується за лінійний час O(N).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07 · ГРУПУВАННЯ (GROUPING)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ToLookup: Негайний індекс 1:N у пам'яті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Незмінний словник-довідник ILookup&lt;TKey, TElement&gt;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Негайне виконання (Immediate):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GroupBy, ToLookup матеріалізує структуру даних негайно при виклику.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Індексатор за ключем O(1): </a:t>
            </a:r>
            <a:r>
              <a:rPr sz="1150">
                <a:solidFill>
                  <a:srgbClr val="334155"/>
                </a:solidFill>
                <a:latin typeface="Calibri"/>
              </a:rPr>
              <a:t>lookup[18] миттєво повертає всіх студентів віком 18 років за константний час O(1).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відсутності ключа: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ключ не знайдено, повертає порожню послідовність Enumerable.Empty&lt;T&gt; (без винятків!).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Виключно в Method Syntax: </a:t>
            </a:r>
            <a:r>
              <a:rPr sz="1150">
                <a:solidFill>
                  <a:srgbClr val="334155"/>
                </a:solidFill>
                <a:latin typeface="Calibri"/>
              </a:rPr>
              <a:t>ToLookup підтримується лише у Method Syntax, у Query Syntax його аналога немає.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Сценарій використання: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Ідеально підходить для створення довгоживучого незмінного кешу для швидкого багаторазового пошуку списків за ключем.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Негайне створення індексу Lookup: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lookupResult = studentList.ToLookup(s =&gt; s.Age);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Швидкий прямий доступ до студентів віком 18 років: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 in lookupResult[18])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Console.WriteLine(s.StudentName); // John, Bill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Безпечний доступ до відсутнього ключа 99 (не кидає помилки!):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emptyGroup = lookupResult[99];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Console.WriteLine(emptyGroup.Count()); // Output: 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Повний перебір груп, як у GroupBy: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group in lookupResult)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Console.WriteLine($"Group: {group.Key}, Count: {group.Count()}");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-&gt; Output: Group 13: 1, Group 21: 1, Group 18: 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Головна перевага: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ToLookup є безпечною версією Dictionary&lt;TKey, List&lt;TElement&gt;&gt;, оптимізованою для зв'язків один-до-багатьох.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реляційного з'єднання: Join та GroupJoin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Аналог у SQL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Об'єднує дві колекції за спільним ключем і повертає послідовність пар елементів.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Виконує внутрішнє об'єднання (inner join): бере лише ті елементи, для яких є збіг в обох колекціях.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INNER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students.Join(standards, s =&gt; s.StandardID, st =&gt; st.StandardID, (s, st) =&gt; new { s.Name, st.Name 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Список студентів разом із назвами їхніх класів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GroupJoin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Об'єднує дві колекції за ключем, але повертає групи пов'язаних елементів (1:N).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Створює колекцію груп, де кожен батьківський елемент містить підколекцію дочірніх.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LEFT OUTER JOIN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standards.GroupJoin(students, st =&gt; st.StandardID, s =&gt; s.StandardID, (st, stds) =&gt; new { st.Name, Students = stds })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Кожен клас зі списком усіх своїх студентів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1. Внутрішнє з'єднання Join (Inner Join): плаский список пар студент-клас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inner = studentList.Join(standardList, s =&gt; s.StandardID, st =&gt; st.StandardID,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(s, st) =&gt; new { s.StudentName, st.StandardName });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foreach (var item in inner) Console.WriteLine($"{item.StudentName} -&gt; {item.StandardName}");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endParaRPr sz="8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2. Групове з'єднання GroupJoin (Ієрархічне 1:N): кожен клас містить список студентів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groups = standardList.GroupJoin(studentList, st =&gt; st.StandardID, s =&gt; s.StandardID,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(st, stds) =&gt; new { st.StandardName, Students = stds });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foreach (var g in groups) Console.WriteLine($"{g.StandardName}: {g.Students.Count()} учнів");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JoinVsGroupJoin.cs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Різниця структур: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Join створює плаский денормалізований список рядків, тоді як GroupJoin створює нормалізоване ієрархічне дерево 1:N.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Внутрішнє з'єднання двох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Зіставлення рядкових колекцій за спільними значеннями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1 (Outer): </a:t>
            </a:r>
            <a:r>
              <a:rPr sz="1150">
                <a:solidFill>
                  <a:srgbClr val="334155"/>
                </a:solidFill>
                <a:latin typeface="Calibri"/>
              </a:rPr>
              <a:t>strList1 містить елементи: 'One', 'Two', 'Three', 'Four'.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2 (Inner): </a:t>
            </a:r>
            <a:r>
              <a:rPr sz="1150">
                <a:solidFill>
                  <a:srgbClr val="334155"/>
                </a:solidFill>
                <a:latin typeface="Calibri"/>
              </a:rPr>
              <a:t>strList2 містить елементи: 'One', 'Two', 'Five', 'Six'.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З'єднання Join: </a:t>
            </a:r>
            <a:r>
              <a:rPr sz="1150">
                <a:solidFill>
                  <a:srgbClr val="334155"/>
                </a:solidFill>
                <a:latin typeface="Calibri"/>
              </a:rPr>
              <a:t>Зіставляє елементи обох списків за рівністю рядків str1 == str2.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Хешування ключів: </a:t>
            </a:r>
            <a:r>
              <a:rPr sz="1150">
                <a:solidFill>
                  <a:srgbClr val="334155"/>
                </a:solidFill>
                <a:latin typeface="Calibri"/>
              </a:rPr>
              <a:t>Для strList2 будується швидка хеш-таблиця у пам'яті для миттєвого пошуку O(1).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Inner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Повертає лише спільні елементи: 'One' та 'Two'. Усі незбіжні елементи ('Three', 'Four', 'Five', 'Six') відкидаються.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Дві вхідні колекції: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"Five", "Six"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Внутрішнє об'єднання за рівністю рядків: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innerJoin = strList1.Join(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strList2,               // внутрішня колекція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str1 =&gt; str1,           // ключ зовнішньої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str2 =&gt; str2,           // ключ внутрішньої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(str1, str2) =&gt; str1);  // формування результату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str in innerJoin)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Console.WriteLine($"Спільний елемент: {str}");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Спільний елемент: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Спільний елемент: Two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Складність Hash Join: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LINQ будує внутрішню хеш-таблицю для strList2, тому пошук спільних елементів виконується за лінійний час O(N + M).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Реляційні класи Student і Standard та з'єднання сутностей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Модель реляційних даних у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Клас Student: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поля StudentID, StudentName та зовнішній ключ StandardID (посилання на клас).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Клас Standard: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первинний ключ StandardID та текстову назву класу StandardName.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Реляційний зв'язок: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студент прив'язаний до певного стандарту через зовнішній ключ StandardID.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Проекція зв'язку: </a:t>
            </a:r>
            <a:r>
              <a:rPr sz="1150">
                <a:solidFill>
                  <a:srgbClr val="334155"/>
                </a:solidFill>
                <a:latin typeface="Calibri"/>
              </a:rPr>
              <a:t>Join дозволяє з'єднати сутності та створити анонімний об'єкт із полями з обох таблиць.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З'єднання сутностей: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З'єднуємо таблицю студентів із таблицею стандартів за рівністю student.StandardID == standard.StandardID.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З'єднання сутностей студентів та стандартів: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innerJoin = studentList.Join(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standardList,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 =&gt; student.StandardID,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 =&gt; standard.StandardID,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(student, standard) =&gt;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StudentName = student.StudentName,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StandardName = standard.StandardName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Виведення результатів з'єднання: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obj in innerJoin)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Console.WriteLine($"{obj.StudentName} навчається у {obj.StandardName}");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навчається у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навчається у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навчається у Standard 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Результат проекції: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Отримуємо кортежі: John -&gt; Standard 1, Moin -&gt; Standard 1, Bill -&gt; Standard 2, Ram -&gt; Standard 2.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Анатомія параметрів оператора Join у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П'ять ключових компонентів методу Join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Outer Sequence (Зовнішня): </a:t>
            </a:r>
            <a:r>
              <a:rPr sz="1150">
                <a:solidFill>
                  <a:srgbClr val="334155"/>
                </a:solidFill>
                <a:latin typeface="Calibri"/>
              </a:rPr>
              <a:t>Колекція, на якій викликається метод (studentList).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Inner Sequence (Внутрішня): </a:t>
            </a:r>
            <a:r>
              <a:rPr sz="1150">
                <a:solidFill>
                  <a:srgbClr val="334155"/>
                </a:solidFill>
                <a:latin typeface="Calibri"/>
              </a:rPr>
              <a:t>Друга колекція, що передається першим аргументом (standardList).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3. Key Selectors: </a:t>
            </a:r>
            <a:r>
              <a:rPr sz="1150">
                <a:solidFill>
                  <a:srgbClr val="334155"/>
                </a:solidFill>
                <a:latin typeface="Calibri"/>
              </a:rPr>
              <a:t>Дві лямбди вибору ключів: student =&gt; student.StandardID та standard =&gt; standard.StandardID.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4. Result Selector: </a:t>
            </a:r>
            <a:r>
              <a:rPr sz="1150">
                <a:solidFill>
                  <a:srgbClr val="334155"/>
                </a:solidFill>
                <a:latin typeface="Calibri"/>
              </a:rPr>
              <a:t>Функція формування об'єкта результату (student, standard) =&gt; new { ... }.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Правило оптимізації Hash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LINQ будує хеш-таблицю для Inner Sequence. Рекомендується передавати меншу за обсягом таблицю як Inner Sequence!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Анатомія параметрів методу 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joinResult = studentList.Join(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standardList,                   // 1. Inner Sequence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 =&gt; student.StandardID,  // 2. Outer Key Selector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standard =&gt; standard.StandardID,// 3. Inner Key Selector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(student, standard) =&gt; new {    // 4. Result Selector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StudentFullName = student.StudentName,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StandardFullName = standard.StandardName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joinResult)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Console.WriteLine($"{item.StudentFullName} -&gt; {item.StandardFullName}");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-&gt;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-&gt; Standard 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-&gt; Standard 2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Ram -&gt; Standard 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Безпека типів: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Типи ключів OuterKey та InnerKey повинні точно збігатися (наприклад, обидва мають бути int).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Join у Query Syntax (join ... on ... equals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Синтаксис реляційного з'єднання запитів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join &lt;var&gt; in &lt;col&gt;: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Оголошує внутрішню колекцію та змінну для її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on &lt;key1&gt; equals &lt;key2&gt;: </a:t>
            </a:r>
            <a:r>
              <a:rPr sz="1150">
                <a:solidFill>
                  <a:srgbClr val="334155"/>
                </a:solidFill>
                <a:latin typeface="Calibri"/>
              </a:rPr>
              <a:t>Вказує умову рівності ключів. Увага: використовується слово equals, а не ==!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select new { ... }: </a:t>
            </a:r>
            <a:r>
              <a:rPr sz="1150">
                <a:solidFill>
                  <a:srgbClr val="334155"/>
                </a:solidFill>
                <a:latin typeface="Calibri"/>
              </a:rPr>
              <a:t>Формує фінальний результат проекції об'єднаних полів.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 Roslyn: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перетворює цю конструкцію на виклик Enumerable.Join у Method Syntax.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Чому equals, а не ==: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Ключове слово equals підкреслює семантику еквівалентності та використання EqualityComparer&lt;T&gt;.Default.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Query Syntax реляційного з'єднання: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innerJoin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join st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on s.StandardID equals st.StandardID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StudentName = s.StudentName,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StandardName = st.StandardName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element in innerJoin)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Console.WriteLine($"{element.StudentName} [{element.StandardName}]");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[Standard 1]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[Standard 1]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[Standard 2]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Ram [Standard 2]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Складені ключі: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з'єднання за кількома колонками використовуйте анонімні типи: on new { s.A, s.B } equals new { st.A, st.B }.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GroupJoin: Ієрархічне з'єднання 1:N у Method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Групування зв'язаних даних без денормалізації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GroupJoin: </a:t>
            </a:r>
            <a:r>
              <a:rPr sz="1150">
                <a:solidFill>
                  <a:srgbClr val="334155"/>
                </a:solidFill>
                <a:latin typeface="Calibri"/>
              </a:rPr>
              <a:t>З'єднує дві колекції, групуючи всі дочірні елементи під кожним батьківським об'єктом.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у результаті: </a:t>
            </a:r>
            <a:r>
              <a:rPr sz="1150">
                <a:solidFill>
                  <a:srgbClr val="334155"/>
                </a:solidFill>
                <a:latin typeface="Calibri"/>
              </a:rPr>
              <a:t>Селектор результату приймає батька та IEnumerable&lt;Child&gt; (список студентів для цього класу).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Порожні групи: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для стандарту немає жодного студента, повертається порожня група (без відкидання батька!).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Аналог Left Join: </a:t>
            </a:r>
            <a:r>
              <a:rPr sz="1150">
                <a:solidFill>
                  <a:srgbClr val="334155"/>
                </a:solidFill>
                <a:latin typeface="Calibri"/>
              </a:rPr>
              <a:t>GroupJoin є природною основою для реалізації SQL Left Outer Join у мові C#.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Головна перевага GroupJoin: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Батьківські елементи ніколи не дублюються! Замість 10 рядків з однаковим класом ви отримуєте 1 об'єкт класу зі списком учнів.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Ієрархічне з'єднання 1:N через GroupJoin: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groupJoin = standardList.GroupJoin(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studentList,                    // дочірня колекція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std =&gt; std.StandardID,          // ключ батька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s.StandardID,              // ключ дитини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(std, students) =&gt; new {        // результат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 = std.StandardName,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Students = students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groupJoin)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Console.WriteLine($"Клас: {item.Standard}");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(var stud in item.Students)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 * {stud.StudentName}");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1 -&gt; John,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2 -&gt; Bill, Ram,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Об'єктна модель: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GroupJoin ідеально лягає на реляційні зв'язки в базах даних: Один факультет -&gt; Багато кафедр -&gt; Багато студентів.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Повна ітерація GroupJoin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Аналіз ієрархічного виведення 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Батьківський перебір: </a:t>
            </a:r>
            <a:r>
              <a:rPr sz="1150">
                <a:solidFill>
                  <a:srgbClr val="334155"/>
                </a:solidFill>
                <a:latin typeface="Calibri"/>
              </a:rPr>
              <a:t>Зовнішній цикл перебирає об'єкти стандартів (Standard 1, Standard 2, Standard 3).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Дочірній перебір: </a:t>
            </a:r>
            <a:r>
              <a:rPr sz="1150">
                <a:solidFill>
                  <a:srgbClr val="334155"/>
                </a:solidFill>
                <a:latin typeface="Calibri"/>
              </a:rPr>
              <a:t>Внутрішній цикл перебирає колекцію студентів item.Students для кожного стандарту.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3 без студентів: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Standard 3 залишається у результаті, але його колекція студентів має Count == 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 винятків NullReference: </a:t>
            </a:r>
            <a:r>
              <a:rPr sz="1150">
                <a:solidFill>
                  <a:srgbClr val="334155"/>
                </a:solidFill>
                <a:latin typeface="Calibri"/>
              </a:rPr>
              <a:t>item.Students завжди є валідним пустим перелічувачем Enumerable.Empty, а не null.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Порівняння з Inner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В Inner Join Standard 3 зник би повністю! У GroupJoin Standard 3 зберігається з порожнім списком.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Виконання та перебір результатів GroupJoin: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groupJoin = standardList.GroupJoin(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std =&gt; std.StandardID,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s.StandardID,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(std, students) =&gt;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Standard = std.StandardName,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Students = students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groupJoin)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Console.WriteLine($"Клас: {item.Standard}");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(var stud in item.Students)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- {stud.StudentName}");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1 -&gt; John,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2 -&gt; Bill, Ram, Ron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Клас: Standard 3 (порожньо)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Пам'ять процесу: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GroupJoin не створює проміжних списків List&lt;T&gt; — ітерація по студентах відбувається ліниво на вимогу.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GroupJoin у Query Syntax: Конструкція join ... into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Ключове слово into для створення груп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Синтаксис join into: </a:t>
            </a:r>
            <a:r>
              <a:rPr sz="1150">
                <a:solidFill>
                  <a:srgbClr val="334155"/>
                </a:solidFill>
                <a:latin typeface="Calibri"/>
              </a:rPr>
              <a:t>Додавання into &lt;groupName&gt; після умови equals перетворює звичайний join на GroupJoin.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Змінна studentGroup: </a:t>
            </a:r>
            <a:r>
              <a:rPr sz="1150">
                <a:solidFill>
                  <a:srgbClr val="334155"/>
                </a:solidFill>
                <a:latin typeface="Calibri"/>
              </a:rPr>
              <a:t>Стає локальною колекцією типу IEnumerable&lt;Student&gt;, що містить усіх учнів поточного класу.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Фінальна проекція: </a:t>
            </a:r>
            <a:r>
              <a:rPr sz="1150">
                <a:solidFill>
                  <a:srgbClr val="334155"/>
                </a:solidFill>
                <a:latin typeface="Calibri"/>
              </a:rPr>
              <a:t>У блоці select можна призначити всю групу у властивість анонімного типу або DTO.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Чіткість та лаконічність: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Query Syntax для GroupJoin часто читається легше, ніж довгий 5-параметричний методний ланцюжок.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Ключова відмінність: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Без into: кожен збіг створює окремий плаский рядок. З into: усі збіги упаковуються в єдину локальну групу.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GroupJoin у декларативному Query Syntax: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groupJoin = from std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join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on std.StandardID equals s.StandardID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into studentGroup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Students = studentGroup,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StandardName = std.StandardName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g in groupJoin)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Console.WriteLine($"{g.StandardName}: {g.Students.Count()} учнів");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1: 2 учнів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2: 3 учнів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3: 0 учнів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Ключове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Звичайний join створює плаский декартовий результат; додавання слова into перетворює його на GroupJoin.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Детальний розбір запиту GroupJoin у Query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конструкції join into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from std in standardList: </a:t>
            </a:r>
            <a:r>
              <a:rPr sz="1150">
                <a:solidFill>
                  <a:srgbClr val="334155"/>
                </a:solidFill>
                <a:latin typeface="Calibri"/>
              </a:rPr>
              <a:t>Визначає базове джерело (зовнішня послідовність стандартів).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join s in studentList: </a:t>
            </a:r>
            <a:r>
              <a:rPr sz="1150">
                <a:solidFill>
                  <a:srgbClr val="334155"/>
                </a:solidFill>
                <a:latin typeface="Calibri"/>
              </a:rPr>
              <a:t>Підключає пов'язану колекцію студентів для пошуку збігів.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on std.StandardID equals s.StandardID: </a:t>
            </a:r>
            <a:r>
              <a:rPr sz="1150">
                <a:solidFill>
                  <a:srgbClr val="334155"/>
                </a:solidFill>
                <a:latin typeface="Calibri"/>
              </a:rPr>
              <a:t>Критерій зв'язку за ідентифікатором класу.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into studentGroup: </a:t>
            </a:r>
            <a:r>
              <a:rPr sz="1150">
                <a:solidFill>
                  <a:srgbClr val="334155"/>
                </a:solidFill>
                <a:latin typeface="Calibri"/>
              </a:rPr>
              <a:t>Матеріалізує вибірку пов'язаних студентів у типізовану підколекцію.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Роль into: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studentGroup є локальною змінною діапазону типу IEnumerable&lt;Student&gt;, доступною в наступних пропозиціях запиту.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Повний вираз запиту GroupJoin: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studentsGroup = from std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join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on std.StandardID equals s.StandardID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into studentGroup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Students = studentGroup,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StandardName = std.StandardName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Дворівневий перебір сформованої ієрархії: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group in studentsGroup)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Console.WriteLine(group.StandardName);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foreach (var s in group.Students)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Console.WriteLine($"   -&gt; {s.StudentName}");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Standard 1 (John, Moin), Standard 2 (Bill, Ram, Ron)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Ключове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Звичайний join створює плаский декартовий результат; додавання слова into перетворює його на GroupJoin.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08 · З'ЄДНАННЯ (JOINING)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Повна ітерація GroupJoin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Аналіз консольного виведення ієрархії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1: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двох студентів: John та Moin.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2: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трьох студентів: Bill, Ram та Ron.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Standard 3: </a:t>
            </a:r>
            <a:r>
              <a:rPr sz="1150">
                <a:solidFill>
                  <a:srgbClr val="334155"/>
                </a:solidFill>
                <a:latin typeface="Calibri"/>
              </a:rPr>
              <a:t>Порожня група, оскільки жоден студент не має StandardID = 3.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Трансформація в Left Join: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DefaultIfEmpty() на групі перетворює її на повноцінний SQL LEFT OUTER JOIN.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Як отримати Left Outer Join: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після join into викликати from s in studentGroup.DefaultIfEmpty(), ми отримаємо класичний плаский SQL LEFT JOIN!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Реалізація плаского Left Outer Join через DefaultIfEmpty():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leftOuterJoin = from std in standardList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join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on std.StandardID equals s.StandardID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into studentGroup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from s in studentGroup.DefaultIfEmpty()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Standard = std.StandardName,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 Student = s != null ? s.StudentName : "[НЕМАЄ]"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row in leftOuterJoin)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Console.WriteLine($"{row.Standard}: {row.Student}");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1: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1: Moin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2: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Standard 3: [НЕМАЄ]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 з оптимізації: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GroupJoin набагато ефективніший за ручне знаходження дітей через standardList.Select(std =&gt; studentList.Where(...)).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09 · ПРОЕКЦІЯ (PROJECTION)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проекції: Select та SelectMany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Оператор Select (Проекція 1:1)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Трансформує кожен елемент послідовності в нову форму.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Розмірність: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Кількість елементів зберігається строго однаковою (N -&gt; N).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Цільові типи: </a:t>
            </a:r>
            <a:r>
              <a:rPr sz="1150">
                <a:solidFill>
                  <a:srgbClr val="334155"/>
                </a:solidFill>
                <a:latin typeface="Calibri"/>
              </a:rPr>
              <a:t>Окремі властивості, анонімні типи, класи DTO,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Одновимірна проекція в анонімний тип: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studentNames = studentList.Select(s =&gt; new {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Name = s.StudentName,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Age = s.Age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N вхідних елементів -&gt; N вихідних об'єктів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Оператор SelectMany (Сплющення 1:N)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Розгортає вкладені колекції в єдиний плаский потік (flatMap).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Розмірність: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Кількість вихідних елементів може бути більшою або меншою (N -&gt; M).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Сценарії: </a:t>
            </a:r>
            <a:r>
              <a:rPr sz="1150">
                <a:solidFill>
                  <a:srgbClr val="334155"/>
                </a:solidFill>
                <a:latin typeface="Calibri"/>
              </a:rPr>
              <a:t>Студент -&gt; Курси, Клієнт -&gt; Замовлення, Декартів добуток.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Сплющення списку списків у плоский потік: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allCourses = students.SelectMany(s =&gt; s.Courses);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Було: List&lt;List&lt;Course&gt;&gt;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Стало: плоский IEnumerable&lt;Course&gt;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Функціональна суть: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Select — це математичний Functor Map, а SelectMany — це монадний Bind/FlatMap у теорії категорій.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09 · ПРОЕКЦІЯ (PROJECTION)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Select у Query Syntax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Проекція в анонімні типи та властивості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Вибірка підмножини полів: </a:t>
            </a:r>
            <a:r>
              <a:rPr sz="1150">
                <a:solidFill>
                  <a:srgbClr val="334155"/>
                </a:solidFill>
                <a:latin typeface="Calibri"/>
              </a:rPr>
              <a:t>Не обов'язково передавати важкі сутності цілком — можна вибрати лише Name та Age.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Анонімні типи new { ... }: </a:t>
            </a:r>
            <a:r>
              <a:rPr sz="1150">
                <a:solidFill>
                  <a:srgbClr val="334155"/>
                </a:solidFill>
                <a:latin typeface="Calibri"/>
              </a:rPr>
              <a:t>Створюють компактні легковажні об'єкти без ручного опису окремого класу DTO.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Перейменування полів: </a:t>
            </a:r>
            <a:r>
              <a:rPr sz="1150">
                <a:solidFill>
                  <a:srgbClr val="334155"/>
                </a:solidFill>
                <a:latin typeface="Calibri"/>
              </a:rPr>
              <a:t>У select можна перейменовувати властивості: select new { FullName = s.StudentName }.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Проекція обчислень: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обчислювати нові значення прямо у виразі: select new { s.StudentName, IsAdult = s.Age &gt;= 18 }.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Економія пам'яті: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Проекція лише потрібних колонок у базах даних генерує точний SQL SELECT Name, Age FROM... замість SELECT *.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Проекція в анонімний тип: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selectResult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select new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Name = s.StudentName,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Age = s.Age,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    IsAdult = s.Age &gt;= 18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Ітерація по проектованих об'єктах: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item in selectResult)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Console.WriteLine($"{item.Name} ({item.Age} р.) - Повнолітній: {item.IsAdult}");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 (13 р.) - Повнолітній: False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Moin (21 р.) - Повнолітній: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Bill (18 р.) - Повнолітній: True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Як працює анонімний тип: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Roslyn генерує незмінний узагальнений клас із перевизначеними Equals() та GetHashCode() за значенням властивостей.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 · КВАНТОРИ (QUANTIFIERS)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кванторів: All, Any та Contains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Перевіряє, чи всі елементи колекції задовольняють умову.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true, якщо кожен елемент задовольняє предикат.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[2, 4, 6].All(x =&gt; x % 2 ==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Any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Перевіряє, чи хоча б один елемент відповідає умові.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true, як тільки знайдено перший відповідний елемент.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3].Any(x =&gt; x % 2 == 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Перевіряє, чи містить колекція конкретне значення.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true, якщо заданий елемент знайдено у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3].Contains(2)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474720"/>
            <a:ext cx="10728655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547872"/>
            <a:ext cx="10509199" cy="16824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2, 4, 6, 8, 10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allEven = numbers.All(n =&gt; n % 2 == 0);       // True (всі парні)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hasTen  = numbers.Any(n =&gt; n == 10);         // True (зупинка на першому 10)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hasFive = numbers.Contains(5);               // False (числа 5 немає)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Console.WriteLine($"AllEven: {allEven}, HasTen: {hasTen}, ContainsFive: {hasFive}");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AllEven: True, HasTen: True, ContainsFive: False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QuantifiersDemo.cs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Short-circuiting механіка: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Any зупиняється на першому true, All зупиняється на першому false — вони ніколи не перевіряють зайві елементи даремно.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 · КВАНТОРИ (QUANTIFIERS)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All: Квантор загальності (∀)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Перевірка виконання умови для всіх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All(predicate): </a:t>
            </a:r>
            <a:r>
              <a:rPr sz="1150">
                <a:solidFill>
                  <a:srgbClr val="334155"/>
                </a:solidFill>
                <a:latin typeface="Calibri"/>
              </a:rPr>
              <a:t>Оцінює кожен елемент колекції. Повертає true лише тоді, коли предикат виконується для ВСІХ без винятку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Рання зупинка (Short-circuiting): </a:t>
            </a:r>
            <a:r>
              <a:rPr sz="1150">
                <a:solidFill>
                  <a:srgbClr val="334155"/>
                </a:solidFill>
                <a:latin typeface="Calibri"/>
              </a:rPr>
              <a:t>Як тільки трапляється хоча б ОДИН елемент з false, All негайно завершує роботу і повертає false.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Пастка порожньої множини (Vacuous Truth): </a:t>
            </a:r>
            <a:r>
              <a:rPr sz="1150">
                <a:solidFill>
                  <a:srgbClr val="334155"/>
                </a:solidFill>
                <a:latin typeface="Calibri"/>
              </a:rPr>
              <a:t>Над порожньою колекцією All ЗАВЖДИ повертає true, оскільки контрприкладів не існує!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Математичний еквівалент: </a:t>
            </a:r>
            <a:r>
              <a:rPr sz="1150">
                <a:solidFill>
                  <a:srgbClr val="334155"/>
                </a:solidFill>
                <a:latin typeface="Calibri"/>
              </a:rPr>
              <a:t>Позначає квантор загальності ∀x P(x). Дорівнює запереченню !Any(x =&gt; !P(x)).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Практичний приклад: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studentList.All(s =&gt; s.Age &gt; 12 &amp;&amp; s.Age &lt; 20) поверне false, оскільки Moin (21) та Ram (20) старші за 19 років.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Перевірка: чи всі студенти є підлітками?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areAllTeenAgers = studentList.All(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 =&gt; s.Age &gt; 12 &amp;&amp; s.Age &lt; 20);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Console.WriteLine($"Усі підлітки: {areAllTeenAgers}");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Усі підлітки: False (Moin має вік 21)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Перевірка: чи всі мають вік понад 10 років?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allAbove10 = studentList.All(s =&gt; s.Age &gt; 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Console.WriteLine($"Усі старші 10: {allAbove10}");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Усі старші 10: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Поведінка над порожньою колекцією (Vacuous Truth):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empty = Enumerable.Empty&lt;Student&gt;();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emptyCheck = empty.All(s =&gt; s.Age &gt; 100);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Console.WriteLine($"Empty All: {emptyCheck}"); // True!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Roslyn генерує оптимізований цикл з раннім return false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Логічний аналог: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All(p) еквівалентний твердженню: !Any(x =&gt; !p(x)) (за законом подвійності де Моргана).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 · КВАНТОРИ (QUANTIFIERS)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Any: Квантор існування (∃)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Перевірка наявності хоча б одного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1. Any() без параметрів: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Перевіряє, чи містить колекція хоча б один елемент за константний час O(1).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2. Any(predicate) з умовою: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Перевіряє, чи існує хоча б один елемент, що задовольняє предикат.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Миттєве переривання: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Як тільки знайдено перший true, ітерація негайно зупиняється (не читаючи решту).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Порожні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All, метод Any() над порожньою колекцією завжди повертає false.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Золоте правило продуктивності: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НІКОЛИ не пишіть if (list.Count() &gt; 0) — це змушує рахувати всі елементи! Завжди пишіть if (list.Any()) за O(1) часу!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Чи є в списку хоча б один підліток?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bool hasTeen = studentList.Any(s =&gt; s.Age &gt; 12 &amp;&amp; s.Age &lt; 20);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Console.WriteLine($"Є підліток: {hasTeen}");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Є підліток: True (знайдено John на 1-му кроці!)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Швидка перевірка на непорожність колекції O(1):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if (studentList.Any())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Console.WriteLine("Список студентів не порожній!");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Пошук неіснуючого елемента: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bool hasSenior = studentList.Any(s =&gt; s.Age &gt;= 60);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Console.WriteLine($"Є пенсіонери: {hasSenior}"); // False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-&gt; Any() негайно повертає true при першому збігу (Short-circuit)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Економія ресурсів: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базах даних Any(predicate) транслюється у надшвидкий SQL: IF EXISTS (SELECT 1 FROM Students WHERE ...).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агрегації: Скалярні підсумки та математичні операції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Згортка послідовностей у скалярні значення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агрегації: </a:t>
            </a:r>
            <a:r>
              <a:rPr sz="1150">
                <a:solidFill>
                  <a:srgbClr val="334155"/>
                </a:solidFill>
                <a:latin typeface="Calibri"/>
              </a:rPr>
              <a:t>Приймає послідовність елементів і згортає її в одне скалярне число або об'єкт.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Негайне виконання (Immediate): </a:t>
            </a:r>
            <a:r>
              <a:rPr sz="1150">
                <a:solidFill>
                  <a:srgbClr val="334155"/>
                </a:solidFill>
                <a:latin typeface="Calibri"/>
              </a:rPr>
              <a:t>Усі агрегатні оператори виконуються негайно, оскільки вимагають повного перегляду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Базовий набір BCL: </a:t>
            </a:r>
            <a:r>
              <a:rPr sz="1150">
                <a:solidFill>
                  <a:srgbClr val="334155"/>
                </a:solidFill>
                <a:latin typeface="Calibri"/>
              </a:rPr>
              <a:t>Aggregate (універсальний редюсер), Average, Count, LongCount, Max, Min, Sum.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Константна пам'ять: </a:t>
            </a:r>
            <a:r>
              <a:rPr sz="1150">
                <a:solidFill>
                  <a:srgbClr val="334155"/>
                </a:solidFill>
                <a:latin typeface="Calibri"/>
              </a:rPr>
              <a:t>Агрегати не накопичують елементи в пам'яті, обчислюючи результат в одному акумуляторі O(1).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Пастка порожніх списків: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Average, Min та Max викидають InvalidOperationException над порожніми числовими послідовностями!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int[] numbers = { 10, 20, 30, 40, 50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totalCount = numbers.Count();     // 5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totalSum   = numbers.Sum();       // 150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double avg     = numbers.Average();   // 30.0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minVal     = numbers.Min();       // 10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maxVal     = numbers.Max();       // 50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Кастомна агрегація (добуток усіх чисел):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product = numbers.Aggregate((a, b) =&gt; a * b);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Console.WriteLine($"Count: {totalCount}, Sum: {totalSum}, Avg: {avg}");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Console.WriteLine($"Min: {minVal}, Max: {maxVal}, Product: {product}");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Count: 5, Sum: 150, Avg: 30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Min: 10, Max: 50, Product: 12000000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Складність за часом: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скалярні агрегати працюють за лінійний час O(N) з константною пам'яттю O(1).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Повна зведена таблиця операторів агрегації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Aggregate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Кастомна агрегація (множення, конкатенація).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Послідовно накопичує результат через акумулятор.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 / TResult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4].Aggregate((a, b) =&gt; a *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Середнє арифметичне числових значень.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Знаходить математичне середнє.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double / decimal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4].Average()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Кількість елементів у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Рахує всі або ті, що відповідають умові.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4].Count(x =&gt; x &gt;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LongCount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Кількість елементів для великих масивів.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Використовується для колекцій розміром &gt; 2 млрд.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3].LongCount()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Найбільше значення у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Знаходить максимальний елемент або ключ.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Тип елемента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5, 3].Max()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Найменше значення у колекції.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Знаходить мінімальний елемент або ключ.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Тип елемента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5, 3].Min()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Сума всіх числових елементів.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Додає всі елементи між собою.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int / double / 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4].Sum()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Безпека типів: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безпечного обчислення Average на nullable списках використовуйте list.Cast&lt;double?&gt;().Average() ?? 0.0.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Aggregate: Функціональний редюсер (Fold / Reduce)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Анатомія накопичувальної операції (Accumulator)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Універсальність Aggregate: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інший агрегат (Sum, Count, Max) можна виразити через метод Aggregate.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Акумуляторний крок: </a:t>
            </a:r>
            <a:r>
              <a:rPr sz="1150">
                <a:solidFill>
                  <a:srgbClr val="334155"/>
                </a:solidFill>
                <a:latin typeface="Calibri"/>
              </a:rPr>
              <a:t>Функція func(accumulated, nextItem) приймає накопичений проміжний результат та черговий елемент.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Три перевантаження: </a:t>
            </a:r>
            <a:r>
              <a:rPr sz="1150">
                <a:solidFill>
                  <a:srgbClr val="334155"/>
                </a:solidFill>
                <a:latin typeface="Calibri"/>
              </a:rPr>
              <a:t>1) Без seed (перший елемент є seed); 2) Із явним seed; 3) Із seed та фінальним проектором результату.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Імутабельність накопичувача: </a:t>
            </a:r>
            <a:r>
              <a:rPr sz="1150">
                <a:solidFill>
                  <a:srgbClr val="334155"/>
                </a:solidFill>
                <a:latin typeface="Calibri"/>
              </a:rPr>
              <a:t>Рекомендовано використовувати чисті функції без зміни зовнішнього стану системи.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Схема обчислення (a, b) =&gt; a + ", " + b 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Крок 1: 'One' + ', ' + 'Two' -&gt; 'One, Two' | Крок 2: 'One, Two' + ', ' + 'Three'...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Базовий приклад: об'єднання рядків через кому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commaSeparated =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strList.Aggregate((s1, s2) =&gt; s1 + ", " + s2);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Console.WriteLine(commaSeparated);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One, Two, Three, Four,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Математичний підрахунок факторіала 5!: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factorial = Enumerable.Range(1, 5)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.Aggregate((acc, n) =&gt; acc * n);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Console.WriteLine($"5! = {factorial}"); // 120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Знаходження суми квадратів чисел: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sumSquares = new[] { 1, 2, 3, 4 }.Aggregate(0, (acc, n) =&gt; acc + n * n);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Console.WriteLine($"Сума квадратів: {sumSquares}"); // 30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Важлива деталь: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послідовність містить лише один елемент, метод Aggregate(func) поверне його без виклику функції.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Практика Aggregate: Конкатенація рядків без зайвих виділень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Покрокове накопичення результату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Вхідний список: </a:t>
            </a:r>
            <a:r>
              <a:rPr sz="1150">
                <a:solidFill>
                  <a:srgbClr val="334155"/>
                </a:solidFill>
                <a:latin typeface="Calibri"/>
              </a:rPr>
              <a:t>strList містить елементи 'One', 'Two', 'Three', 'Four', 'Five'.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1: </a:t>
            </a:r>
            <a:r>
              <a:rPr sz="1150">
                <a:solidFill>
                  <a:srgbClr val="334155"/>
                </a:solidFill>
                <a:latin typeface="Calibri"/>
              </a:rPr>
              <a:t>s1 = 'One', s2 = 'Two' -&gt; повертає 'One, Two'.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2: </a:t>
            </a:r>
            <a:r>
              <a:rPr sz="1150">
                <a:solidFill>
                  <a:srgbClr val="334155"/>
                </a:solidFill>
                <a:latin typeface="Calibri"/>
              </a:rPr>
              <a:t>s1 = 'One, Two', s2 = 'Three' -&gt; повертає 'One, Two, Three'.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Фінал: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рядок 'One, Two, Three, Four, Five'.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Порада щодо оптимізації: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Для мільйонів рядків використовуйте StringBuilder у версії Aggregate зі seed, щоб не створювати проміжних рядків у Heap!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commaSeparatedString = strList.Aggregate(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(s1, s2) =&gt; s1 + ", " + s2);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Console.WriteLine(commaSeparatedString);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Output: One, Two, Three, Four,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Високопродуктивний варіант зі StringBuilder: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sbResult = strList.Aggregate(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new StringBuilder(),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(sb, s) =&gt; sb.Append(s).Append(", "),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sb =&gt; sb.ToString().TrimEnd(',', ' '));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Зручність C#: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Aggregate дозволяє будувати складні кумулятивні звіти без ручних циклів for та тимчасових змінних.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Перевантаження Aggregate із початковим значенням (Seed)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Агрегація з явним початковим акумулятором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Seed: </a:t>
            </a:r>
            <a:r>
              <a:rPr sz="1150">
                <a:solidFill>
                  <a:srgbClr val="334155"/>
                </a:solidFill>
                <a:latin typeface="Calibri"/>
              </a:rPr>
              <a:t>Задає стартове значення для акумулятора до початку перегляду елементів колекції.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Зміна типу акумулятора: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акумулятору мати тип, відмінний від типу елементів колекції (наприклад, із Student у string).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порожнього списку: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колекція порожня, Aggregate(seed, func) безпечно поверне seed без винятку!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Фінальний селектор: </a:t>
            </a:r>
            <a:r>
              <a:rPr sz="1150">
                <a:solidFill>
                  <a:srgbClr val="334155"/>
                </a:solidFill>
                <a:latin typeface="Calibri"/>
              </a:rPr>
              <a:t>Третє перевантаження приймає resultSelector для постобробки результату акумулятора.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Сигнатура методу: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Aggregate&lt;TSource, TAccumulate&gt;(seed, (acc, item) =&gt; ..., resultSelector)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Студенти для згортки в текстовий рядок: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13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"Moin",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Агрегація зі Seed значенням "Student Names: ":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studentNames = studentList.Aggregate&lt;Student, string&gt;(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"Student Names: ",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(str, s) =&gt; str += s.StudentName + ", 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Console.WriteLine(studentNames);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Output: Student Names: John, Moin, Bill, 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Агрегація у число з початковим балансом 100: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totalAgeWithBase = studentList.Aggregate(100, (acc, s) =&gt; acc +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Console.WriteLine($"Баланс з віком: {totalAgeWithBase}"); // 152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Фінальний селектор: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Перевантаження з resultSelector дозволяє на фініші видалити зайву кому: str =&gt; str.TrimEnd(',', ' ').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Average: Середнє арифметичне чисел та об'єктів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Average() для числових списків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Простий список: </a:t>
            </a:r>
            <a:r>
              <a:rPr sz="1150">
                <a:solidFill>
                  <a:srgbClr val="334155"/>
                </a:solidFill>
                <a:latin typeface="Calibri"/>
              </a:rPr>
              <a:t>Обчислює середнє безпосередньо для списку чисел intList.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Завжди повертає число з плаваючою крапкою double або decimal.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Формула: </a:t>
            </a:r>
            <a:r>
              <a:rPr sz="1150">
                <a:solidFill>
                  <a:srgbClr val="334155"/>
                </a:solidFill>
                <a:latin typeface="Calibri"/>
              </a:rPr>
              <a:t>Сума всіх чисел, поділена на їхню кількість (150 / 5 = 30.0).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10, 20, 30, 40, 50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avg = intList.Average();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Console.WriteLine(avg);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Average(selector) для об'єктів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Лямбда-селектор: </a:t>
            </a:r>
            <a:r>
              <a:rPr sz="1150">
                <a:solidFill>
                  <a:srgbClr val="334155"/>
                </a:solidFill>
                <a:latin typeface="Calibri"/>
              </a:rPr>
              <a:t>s =&gt; s.Age вказує числову властивість, за якою рахується середнє.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Комбінація з Where: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обчислити середній вік лише для певної підгрупи (наприклад, підлітків).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Точність: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Запобігає помилкам цілочисельного ділення C#.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Середній вік усіх студентів: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avgAge = studentList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.Average(s =&gt; s.Age);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endParaRPr sz="8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Середній вік підлітків: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avgTeenAge = studentList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.Where(s =&gt; s.Age &lt; 20)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    .Average(s =&gt; s.Age);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Console.WriteLine(avgAge); // 17.4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Увага: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Виклик .Average() на порожньому списку кине InvalidOperationException! Завжди перевіряйте наявність елементів.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Count(): Підрахунок загальної кількості та за умовою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Count() без предикату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Підрахунок елементів: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загальну кількість елементів у колекції.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ICollection: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колекція реалізує ICollection, повертає властивість Count без повного перебору!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 повернення: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32-бітне ціле число 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10, 21, 30, 45, 50, 87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totalElements = intList.Count();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Console.WriteLine(totalElements);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Count(predicate) з умовою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Підрахунок з фільтром: </a:t>
            </a:r>
            <a:r>
              <a:rPr sz="1150">
                <a:solidFill>
                  <a:srgbClr val="334155"/>
                </a:solidFill>
                <a:latin typeface="Calibri"/>
              </a:rPr>
              <a:t>Рахує лише ті елементи, для яких умова повертає true.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Еквівалентність: </a:t>
            </a:r>
            <a:r>
              <a:rPr sz="1150">
                <a:solidFill>
                  <a:srgbClr val="334155"/>
                </a:solidFill>
                <a:latin typeface="Calibri"/>
              </a:rPr>
              <a:t>intList.Count(p) працює швидше і чистіше, ніж intList.Where(p).Count().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Підрахунок парних: </a:t>
            </a:r>
            <a:r>
              <a:rPr sz="1150">
                <a:solidFill>
                  <a:srgbClr val="334155"/>
                </a:solidFill>
                <a:latin typeface="Calibri"/>
              </a:rPr>
              <a:t>i =&gt; i % 2 == 0 рахує числа 10, 30, 50.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Підрахунок парних чисел: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evenElements = intList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.Count(i =&gt; i % 2 == 0);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Console.WriteLine(evenElements);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3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Студенти старше 18: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adults = studentList.Count(s =&gt; s.Age &gt;= 18);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LongCount: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даних більше 2 мільярдів записів (переповнення int.MaxValue), використовуйте метод LongCount(), що повертає long.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Max: Знаходження найбільшого значення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Пошук максимального елемента або властивості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Max() над числами: </a:t>
            </a:r>
            <a:r>
              <a:rPr sz="1150">
                <a:solidFill>
                  <a:srgbClr val="334155"/>
                </a:solidFill>
                <a:latin typeface="Calibri"/>
              </a:rPr>
              <a:t>Знаходить найбільше число у послідовності intList (серед 10, 21, 30, 45, 50, 87 це 87).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Max(selector) над об'єктами: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максимальне значення вибраної числової властивості (найбільший вік серед студентів).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Комбінація з фільтрацією: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шукати максимум серед відфільтрованої підгрупи (найстарший серед підлітків).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Новинка MaxBy (.NET 6+): </a:t>
            </a:r>
            <a:r>
              <a:rPr sz="1150">
                <a:solidFill>
                  <a:srgbClr val="334155"/>
                </a:solidFill>
                <a:latin typeface="Calibri"/>
              </a:rPr>
              <a:t>Замість максимального числа повертає весь об'єкт студента з найбільшим віком!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Відмінність Max від MaxBy (.NET 6+):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Max(s =&gt; s.Age) повертає лише ЧИСЛО (21). Новий метод MaxBy(s =&gt; s.Age) повертає ЦІЛИЙ ОБ'ЄКТ студента!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10, 21, 30, 45, 50, 87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largestNumber = intList.Max();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Console.WriteLine($"Max int: {largestNumber}"); // 87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largestEven = intList.Where(i =&gt; i % 2 == 0).Max();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Console.WriteLine($"Max even: {largestEven}"); // 50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Найстарший студент (повертає число віку):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oldestAge = studentList.Max(s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Console.WriteLine($"Oldest age: {oldestAge}"); // 21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Знаходження цілого об'єкта студента через MaxBy (.NET 6+):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oldestStudent = studentList.MaxBy(s =&gt; s.Age);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Console.WriteLine($"Oldest: {oldestStudent.StudentName}"); // Moin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Аналогічний Min: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Min() працює абсолютно ідентично, але знаходить найменше значення (наприклад, intList.Min() поверне 10).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 · АГРЕГАЦІЯ (AGGREGATION)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Метод Sum: Підсумовування числових значень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Обчислення суми елементів колекції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Числова сума: </a:t>
            </a:r>
            <a:r>
              <a:rPr sz="1150">
                <a:solidFill>
                  <a:srgbClr val="334155"/>
                </a:solidFill>
                <a:latin typeface="Calibri"/>
              </a:rPr>
              <a:t>Додає всі елементи між собою. Підтримує типи int, long, float, double, decimal.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Селектор властивості: </a:t>
            </a:r>
            <a:r>
              <a:rPr sz="1150">
                <a:solidFill>
                  <a:srgbClr val="334155"/>
                </a:solidFill>
                <a:latin typeface="Calibri"/>
              </a:rPr>
              <a:t>studentList.Sum(s =&gt; s.Age) обчислює сумарний вік усіх студентів у групі.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Безпека порожнього списку: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Average/Min/Max, метод Sum() над порожнім списком повертає 0 (без винятку!).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Переповнення (Overflow):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сума int може перевищити 2 млрд, рекомендується приводити числа до long.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Практичне застосування в Enterprise: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Підрахунок загальної вартості кошика замовлень: orders.Sum(o =&gt; o.UnitPrice * o.Quantity).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10, 21, 30, 45, 50, 87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totalSum = intList.Sum();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Console.WriteLine($"Загальна сума: {totalSum}"); // 243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sumOfEvens = intList.Where(i =&gt; i % 2 == 0).Sum();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Console.WriteLine($"Сума парних: {sumOfEvens}"); // 90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Сума віку підлітків: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teenAgeSum =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.Where(s =&gt; s.Age &lt; 20)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.Sum(s =&gt; s.Age);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Console.WriteLine($"Сума віку підлітків: {teenAgeSum}"); // 46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Переповнення чисел: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сума може перевищити int.MaxValue, попередньо приведіть числа: numbers.Select(x =&gt; (long)x).Sum().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Елементні оператори: ElementAt та ElementAtOrDefault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Доступ до конкретного елемента за індексом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Суть ElementAt: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елемент послідовності за вказаним числовим індексом (нумерація з 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IList: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джерело реалізує IList&lt;T&gt;, доступ виконується миттєво O(1). Для потоку — перебір до потрібного кроку.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Ризик винятку: </a:t>
            </a:r>
            <a:r>
              <a:rPr sz="1150">
                <a:solidFill>
                  <a:srgbClr val="334155"/>
                </a:solidFill>
                <a:latin typeface="Calibri"/>
              </a:rPr>
              <a:t>ElementAt викидає ArgumentOutOfRangeException, якщо індекс від'ємний або більший за розмір списку.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Безпечний ElementAtOrDefault: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значення за замовчуванням (0, null), якщо індекс виходить за межі.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Застосування: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intList.ElementAt(1) повертає другий елемент. intList.ElementAtOrDefault(99) безпечно поверне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10, 20, 30, 40, 50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Прямий доступ за індексом: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second = intList.ElementAt(1);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Console.WriteLine($"Element at index 1: {second}"); //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Безпечний доступ поза межами колекції: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outOfBounds = intList.ElementAtOrDefault(9);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Console.WriteLine($"Element at index 9: {outOfBounds}"); // 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З рядковими колекціями: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 "One", "Two",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safeStr = strList.ElementAtOrDefault(10);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Console.WriteLine($"String at index 10: {safeStr ?? "NULL"}"); // NULL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4. Доступ до першого та останнього елементів: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 = intList.ElementAt(0); // 10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last = intList.ElementAt(intList.Count - 1); // 50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Рекомендація: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Для звичайних масивів та List&lt;T&gt; краще використовувати рідний індексатор arr[i]. ElementAt потрібен для довільних IEnumerable&lt;T&gt;.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Повна зведена таблиця елементних операторів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ElementAt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елемент за індексом.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Доступ до конкретного елемента за порядковим номером.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[10, 20, 30].ElementAt(1)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ElementAtOrDefault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Безпечний доступ за індексом.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default, якщо індекс поза межами.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[10, 20, 30].ElementAtOrDefault(5)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перший елемент або перший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нічого не знайдено.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3].First(x =&gt; x &gt;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Безпечний пошук першого елемента.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default, якщо збігів немає.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останній елемент або останній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колекція порожня.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3].Last(x =&gt; x &lt;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Безпечний пошук останнього елемента.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default, якщо збігів немає.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3].LastOrDefault(x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ЄДИНИЙ елемент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елементів 0 або &gt; 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Єдиний елемент або default.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Кидає виняток, якщо знайдено &gt; 1 елемента.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[5].SingleOrDefault()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Золоте правило суфікса OrDefault: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методи з OrDefault ніколи не викидають виняток при відсутності елементів, а повертають null або 0.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приклад: ElementAt та ElementAtOrDefault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Числові масиви (int)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елемент (10).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ElementAt(2):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третій елемент (30).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ElementAtOrDefault(9): </a:t>
            </a:r>
            <a:r>
              <a:rPr sz="1150">
                <a:solidFill>
                  <a:srgbClr val="334155"/>
                </a:solidFill>
                <a:latin typeface="Calibri"/>
              </a:rPr>
              <a:t>Індекс 9 поза межами — повертає число 0.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10, 20, 30, 40, 50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Console.WriteLine(intList.ElementAt(0)); // 10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Console.WriteLine(intList.ElementAt(2)); // 30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Console.WriteLine(intList.ElementAtOrDefault(9)); //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Рядкові масиви (string)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рядок 'One'.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ElementAt(1):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рядок 'Two'.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ElementAtOrDefault(9): </a:t>
            </a:r>
            <a:r>
              <a:rPr sz="1150">
                <a:solidFill>
                  <a:srgbClr val="334155"/>
                </a:solidFill>
                <a:latin typeface="Calibri"/>
              </a:rPr>
              <a:t>Індекс 9 поза межами — безпечно повертає null (порожньо).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Console.WriteLine(strList.ElementAt(0)); // One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Console.WriteLine(strList.ElementAt(1)); // Two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Console.WriteLine(strList.ElementAtOrDefault(9)); // null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Пастка винятку: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Виклик intList.ElementAt(9) викине ArgumentOutOfRangeException! Для неперевірених індексів завжди використовуйте ElementAtOrDefault.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Порівняння First та FirstOrDefault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перший елемент колекції або перший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елементів немає або жоден не відповідає умові — кидає InvalidOperationException.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3].First(x =&gt; x &gt;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FirstOrDefault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перший елемент або перший за умовою.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Якщо елементів немає або жоден не відповідає умові — повертає значення за замовчуванням (default).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3].FirstOrDefault(x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0 (для int)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numbers = new List&lt;int&gt;() { 10, 25, 30, 45, 50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firstEven = numbers.First(n =&gt; n % 2 == 0);                    // 10 (знайдено одразу)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safeMatch = numbers.FirstOrDefault(n =&gt; n &gt; 100);              // 0 (безпечно default)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withDef   = numbers.FirstOrDefault(n =&gt; n &gt; 100, -1);          // -1 (кастомний default)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Console.WriteLine($"FirstEven: {firstEven}, SafeMatch: {safeMatch}, WithDef: {withDef}");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FirstEven: 10, SafeMatch: 0, WithDef: -1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FirstVsFirstOrDefault.cs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Кастомне дефолтне значення (.NET 6+):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сучасному C# можна передавати власне значення за замовчуванням: list.FirstOrDefault(x =&gt; x &gt; 5, defaultValue: -1).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методу First()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Поведінка First() при збігах та на порожніх 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елемент масиву (число 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парний елемент (число 10).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emptyList.First(): </a:t>
            </a:r>
            <a:r>
              <a:rPr sz="1150">
                <a:solidFill>
                  <a:srgbClr val="334155"/>
                </a:solidFill>
                <a:latin typeface="Calibri"/>
              </a:rPr>
              <a:t>Викидає виняток InvalidOperationException: Sequence contains no elements!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Зупинка конвеєра: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First() завершує сканування негайно при знаходженні першого результату.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Чому First кидає помилку: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First вимагає обов'язкової наявності хоча б одного елемента. Якщо бізнес-логіка допускає відсутність даних, використовуйте FirstOrDefault.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 null, "Two",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emptyList = new List&lt;string&gt;();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firstNum = intList.First(); // 7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firstEven = intList.First(i =&gt; i % 2 == 0); // 10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string firstStr = strList.First(); // null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Console.WriteLine($"First: {firstNum}, FirstEven: {firstEven}");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Спроба виклику на порожньому списку кине помилку: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try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emptyList.First();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 catch (InvalidOperationException ex)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Console.WriteLine($"Очікуваний виняток: {ex.Message}");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Sequence contains no elements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Short-circuiting: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First() завершує роботу на першому ж знайденому елементі і не перебирає залишок колекції.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FirstOrDefault()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Безпечний пошук без ризику падіння програми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елемент (7).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intList.FirstOrDefault(i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перший парний елемент (10).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emptyList.FirstOrDefault():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Безпечно повертає null (для посилань) або 0 (для чисел) без аварії програми.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Перевантаження defaultValue: </a:t>
            </a:r>
            <a:r>
              <a:rPr sz="1150">
                <a:solidFill>
                  <a:srgbClr val="334155"/>
                </a:solidFill>
                <a:latin typeface="Calibri"/>
              </a:rPr>
              <a:t>У .NET 6+ дозволяє передавати власне значення за замовчуванням, якщо нічого не знайдено.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Рекомендація для веб-сервісів: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У контролерах Web API завжди шукайте сутності через FirstOrDefault(x =&gt; x.Id == id) та повертайте NotFound(), якщо результат == null.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emptyList = new List&lt;string&gt;();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first = intList.FirstOrDefault(); // 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firstEven = intList.FirstOrDefault(i =&gt; i % 2 == 0); // 10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Безпечне виконання над порожньою колекцією: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string res = emptyList.FirstOrDefault();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Console.WriteLine($"Результат: {res ?? "[NULL]"}"); // [NULL]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Пошук з кастомним дефолтним значенням (.NET 6+):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notFound = intList.FirstOrDefault(i =&gt; i &gt; 1000, -1);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Console.WriteLine($"Не знайдено: {notFound}"); // -1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Безпечний пошук сутності: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Student std = studentList.FirstOrDefault(s =&gt; s.StudentID == 99);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 з безпеки: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default(T) для int є 0, а 0 є валідним бізнес-значенням, передавайте кастомний default: list.FirstOrDefault(p, -1).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Last та LastOrDefault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останній елемент колекції або останній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немає підходящих елементів — кидає виняток.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4].Last(x =&gt; x &lt;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LastOrDefault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останній елемент або останній за умовою.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немає підходящих елементів — повертає default.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4].LastOrDefault(x =&gt; x &gt;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0 (для int)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numbers = new List&lt;int&gt;() { 10, 21, 30, 45, 50, 87 };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lastNum  = numbers.Last();                                     // 87 (останнє число)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lastEven = numbers.Last(n =&gt; n % 2 == 0);                      // 50 (останнє парне)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notFound = numbers.LastOrDefault(n =&gt; n &gt; 100);                // 0 (безпечно default)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Console.WriteLine($"Last: {lastNum}, LastEven: {lastEven}, NotFound: {notFound}");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Output: Last: 87, LastEven: 50, NotFound: 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LastVsLastOrDefault.cs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Продуктивність Last():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колекція є потоком (не масивом), Last змушений прочитати ВСЮ колекцію до самого кінця, щоб знайти останній елемент.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методу Last()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Пошук останнього елемента у списку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елемент масиву (число 87).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парний елемент масиву (число 50).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strList.Last():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рядок списку ('Five').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emptyList.Last(): </a:t>
            </a:r>
            <a:r>
              <a:rPr sz="1150">
                <a:solidFill>
                  <a:srgbClr val="334155"/>
                </a:solidFill>
                <a:latin typeface="Calibri"/>
              </a:rPr>
              <a:t>Викидає виняток InvalidOperationException на порожній колекції.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Оптимізація IList: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Для List&lt;T&gt; або T[] метод Last() миттєво бере елемент за індексом list[list.Count - 1] за O(1) часу.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 null, "Two", "Three", "Four", "Five"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lastInt = intList.Last(); // 87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lastEven = intList.Last(i =&gt; i % 2 == 0); // 50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string lastStr = strList.Last(); //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Console.WriteLine($"Last: {lastInt}, LastEven: {lastEven}, LastStr: {lastStr}");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Спроба викликати Last на порожньому списку кине виняток: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empty = new List&lt;int&gt;();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try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empty.Last();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 catch (InvalidOperationException ex)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Console.WriteLine($"Помилка: {ex.Message}");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Важлива відмінність: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First() може завершитися на 1-му кроці, але Last(predicate) завжди змушений сканувати колекцію до кінця.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LastOrDefault()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Безпечний пошук останнього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елемент (87).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intList.LastOrDefault(i =&gt; i % 2 == 0):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останній парний елемент (50).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emptyList.LastOrDefault():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Безпечно повертає 0 або null без винятку.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Пошук транзакцій: </a:t>
            </a:r>
            <a:r>
              <a:rPr sz="1150">
                <a:solidFill>
                  <a:srgbClr val="334155"/>
                </a:solidFill>
                <a:latin typeface="Calibri"/>
              </a:rPr>
              <a:t>Ідеально для знаходження останньої виконаної дії або останнього запису в журналі аудиту.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Сфера застосування: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Пошук останньої виконаної транзакції користувача або останнього доданого запису в лог-файл.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emptyList = new List&lt;string&gt;();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 = intList.LastOrDefault(); // 87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lastEven = intList.LastOrDefault(i =&gt; i % 2 == 0); // 50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Безпечне виконання над порожнім списком: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lastEmpty = emptyList.LastOrDefault();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Console.WriteLine(lastEmpty == null ? "NULL" : lastEmpty); // NULL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Пошук з умовою без збігів: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noMatch = intList.LastOrDefault(i =&gt; i &gt; 500);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Console.WriteLine($"No match: {noMatch}"); // 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3. Кастомний default у .NET 6+: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defMatch = intList.LastOrDefault(i =&gt; i &gt; 500, -1); // -1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Порада: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потрібен останній елемент відсортованої бази даних, ефективніше зробити .OrderByDescending().FirstOrDefault().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Поведінка Last проти LastOrDefault при відсутності збігів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Коли умова фільтра не знаходить жодного елемента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intList.Last(i =&gt; i &gt; 250): </a:t>
            </a:r>
            <a:r>
              <a:rPr sz="1150">
                <a:solidFill>
                  <a:srgbClr val="334155"/>
                </a:solidFill>
                <a:latin typeface="Calibri"/>
              </a:rPr>
              <a:t>Жодне число в масиві не перевищує 250.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Реакція Last(): </a:t>
            </a:r>
            <a:r>
              <a:rPr sz="1150">
                <a:solidFill>
                  <a:srgbClr val="334155"/>
                </a:solidFill>
                <a:latin typeface="Calibri"/>
              </a:rPr>
              <a:t>Викидає InvalidOperationException: Sequence contains no matching element!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Реакція LastOrDefault(): </a:t>
            </a:r>
            <a:r>
              <a:rPr sz="1150">
                <a:solidFill>
                  <a:srgbClr val="334155"/>
                </a:solidFill>
                <a:latin typeface="Calibri"/>
              </a:rPr>
              <a:t>Безпечно повертає значення default (0 або null) без аварії.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Діагностика продакшену: </a:t>
            </a:r>
            <a:r>
              <a:rPr sz="1150">
                <a:solidFill>
                  <a:srgbClr val="334155"/>
                </a:solidFill>
                <a:latin typeface="Calibri"/>
              </a:rPr>
              <a:t>Помилка 'Sequence contains no matching element' є маркером використання Last замість LastOrDefault.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Золоте правило стабільності: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відповідність предикату не гарантована на 100%, завжди використовуйте LastOrDefault() з наступною перевіркою результату.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 null, "Two", "Three", "Four", "Five"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Last з умовою без збігів КИДАЄ ВИЙНЯТОК: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intList.Last(i =&gt; i &gt; 250);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Run-time exception: Sequence contains no matching element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LastOrDefault з умовою без збігів БЕЗПЕЧНИЙ: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notFound = intList.LastOrDefault(i =&gt; i &gt; 250);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Console.WriteLine($"Не знайдено: {notFound}"); // 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strFound = strList.LastOrDefault(s =&gt; s != null &amp;&amp; s.Contains('T'));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Console.WriteLine($"Знайдено рядок: {strFound}"); //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3. З кастомним default значенням (.NET 6+):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safeCustom = intList.LastOrDefault(i =&gt; i &gt; 500, defaultValue: -1);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Console.WriteLine($"Кастомний результат: {safeCustom}"); // -1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Діагностика помилок: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Помилка 'Sequence contains no matching element' є типовим маркером некоректного використання First()/Last() замість OrDefault.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Single та SingleOrDefault: Перевірка унікальності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ЄДИНИЙ елемент колекції або єдиний за умовою.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елементів немає або їх більше одного — кидає InvalidOperationException.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SingleOrDefault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єдиний елемент або значення default.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Якщо елементів немає — повертає default. Якщо знайдено БІЛЬШЕ одного — кидає InvalidOperationException!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[5].SingleOrDefault()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246120"/>
            <a:ext cx="10728655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10509199" cy="1911095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singleItem = new List&lt;int&gt;() { 42 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IList&lt;int&gt; multiples  = new List&lt;int&gt;() { 10, 20, 30 };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int exactlyOne = singleItem.Single();                             // 42 (успіх: рівно 1 елемент)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int safeEmpty  = new List&lt;int&gt;().SingleOrDefault();               // 0 (безпечно: 0 елементів)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multiples.Single(); // КРИТИЧНИЙ ВИЙНЯТОК: знайдено більше 1 елемента!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Console.WriteLine($"ExactlyOne: {exactlyOne}, SafeEmpty: {safeEmpty}");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Output: ExactlyOne: 42, SafeEmpty: 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SingleVsSingleOrDefault.cs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Критична пастка SingleOrDefault: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SingleOrDefault повертає default ТІЛЬКИ коли елементів 0. Якщо знайдено 2 або більше — він ВСЕ ОДНО кидає виняток!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8452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ЕЛЕМЕНТНІ ОПЕРАТОРИ (ELEMENT)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Практичний приклад Single та SingleOrDefault у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Жорсткий контроль унікальності бізнес-даних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з 1 елементом: </a:t>
            </a:r>
            <a:r>
              <a:rPr sz="1150">
                <a:solidFill>
                  <a:srgbClr val="334155"/>
                </a:solidFill>
                <a:latin typeface="Calibri"/>
              </a:rPr>
              <a:t>oneElementList.Single() успішно повертає число 7.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з багатьма елементами: </a:t>
            </a:r>
            <a:r>
              <a:rPr sz="1150">
                <a:solidFill>
                  <a:srgbClr val="334155"/>
                </a:solidFill>
                <a:latin typeface="Calibri"/>
              </a:rPr>
              <a:t>intList.Single() кидає виняток, оскільки містить більше одного числа!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Фільтр з 1 результатом: </a:t>
            </a:r>
            <a:r>
              <a:rPr sz="1150">
                <a:solidFill>
                  <a:srgbClr val="334155"/>
                </a:solidFill>
                <a:latin typeface="Calibri"/>
              </a:rPr>
              <a:t>intList.Single(i =&gt; i &lt; 10) успішно повертає 7 (єдине число менше 10).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Порожній список: </a:t>
            </a:r>
            <a:r>
              <a:rPr sz="1150">
                <a:solidFill>
                  <a:srgbClr val="334155"/>
                </a:solidFill>
                <a:latin typeface="Calibri"/>
              </a:rPr>
              <a:t>emptyList.SingleOrDefault() повертає 0 без помилок.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Коли використовувати Single: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Виключно тоді, коли поява другого дубліката є критичною аварією цілісності бази даних (наприклад, пошук за унікальним GUID/User ID).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oneElementList = new List&lt;int&gt;() { 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7, 10, 21, 30, 45, 50, 87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emptyList = new List&lt;int&gt;();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Успішні виклики унікальних значень: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singleVal = oneElementList.Single(); // 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emptyVal  = emptyList.SingleOrDefault(); // 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int singleFiltered = intList.Single(i =&gt; i &lt; 10); // 7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Console.WriteLine($"Single: {singleVal}, Default: {emptyVal}, Filtered: {singleFiltered}");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Винятки через дублікати (знайдено більше 1):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intList.Single(); // InvalidOperationException!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intList.SingleOrDefault(); // InvalidOperationException!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emptyList.Single(); // InvalidOperationException!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Продуктивність у БД: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SingleOrDefault змушує EF Core виконувати SELECT TOP(2), щоб перевірити відсутність дубліката, тоді як FirstOrDefault робить TOP(1).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ПОРІВНЯННЯ (EQUALITY)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рівності послідовностей: SequenceEqual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Перевірка ідентичності двох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Єдиний оператор рівності: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У LINQ існує тільки один оператор рівності — SequenceEqual.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Три критерії збігу: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перевіряє: 1) однакову кількість елементів, 2) попарну рівність значень, 3) абсолютно однаковий порядок слідування.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Порівняння примітивів: </a:t>
            </a:r>
            <a:r>
              <a:rPr sz="1150">
                <a:solidFill>
                  <a:srgbClr val="334155"/>
                </a:solidFill>
                <a:latin typeface="Calibri"/>
              </a:rPr>
              <a:t>Для простих типів (string, int) використовується стандартний компаратор EqualityComparer&lt;T&gt;.Default.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Порядок має 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Навіть якщо колекції містять абсолютно ті самі елементи, але в іншому порядку — повертається false.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Поведінка методу: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Обхід обох колекцій відбувається синхронно через два ітератори MoveNext() паралельно.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Приклад 1: Однаковий вміст і однаковий порядок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"Three"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"Three"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isEqual1 = strList1.SequenceEqual(strList2);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Console.WriteLine(isEqual1); //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Приклад 2: Однаковий вміст, але різний порядок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strList3 = new List&lt;string&gt;() { "One", "Two",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strList4 = new List&lt;string&gt;() { "Two", "One", "Three"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isEqual2 = strList3.SequenceEqual(strList4);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Console.WriteLine(isEqual2); // false!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False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Важливе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SequenceEqual повертає true виключно за умови повного попарного збігу елементів та їхніх індексів у послідовності.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 · ПОРІВНЯННЯ (EQUALITY)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Порівняння об'єктів Student за допомогою SequenceEqual та IEqualityComparer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Посилальні типи та кастомний компаратор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посилань: </a:t>
            </a:r>
            <a:r>
              <a:rPr sz="1150">
                <a:solidFill>
                  <a:srgbClr val="334155"/>
                </a:solidFill>
                <a:latin typeface="Calibri"/>
              </a:rPr>
              <a:t>За замовчуванням для класів C# порівнює посилання в купі (ReferenceEquals). Два екземпляри з однаковими полями вважаються різними!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Кастомний компаратор: </a:t>
            </a:r>
            <a:r>
              <a:rPr sz="1150">
                <a:solidFill>
                  <a:srgbClr val="334155"/>
                </a:solidFill>
                <a:latin typeface="Calibri"/>
              </a:rPr>
              <a:t>Щоб порівнювати екземпляри Student за бізнес-полями (StudentID, StudentName), передається IEqualityComparer&lt;Student&gt;.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Реалізація методів: </a:t>
            </a:r>
            <a:r>
              <a:rPr sz="1150">
                <a:solidFill>
                  <a:srgbClr val="334155"/>
                </a:solidFill>
                <a:latin typeface="Calibri"/>
              </a:rPr>
              <a:t>Компаратор повинен реалізувати Equals(Student x, Student y) та узгоджений GetHashCode(Student obj).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Вимога узгодженості: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Equals повертає true для двох об'єктів, їхні GetHashCode обов'язково повинні збігатися для коректного хешування.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порівняння: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За наявності StudentComparer метод повертає true, оскільки всі відповідні студенти мають однаковий ID та ім'я.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Без компаратора поверне false (різні екземпляри в пам'яті)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 кастомним компаратором порівнюються поля сутності: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bool isEqual = studentList1.SequenceEqual(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Console.WriteLine(isEqual); // True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True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Угода про хешування: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Метод GetHashCode компаратора зобов'язаний повертати однаковий код для об'єктів, які метод Equals вважає рівними.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13 · КОНКАТЕНАЦІЯ (CONCATENATION)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Concat: Послідовне злиття двох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Послідовне приєднання колекцій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Concat: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Concat приєднує другу послідовність у кінець першої, створюючи єдиний потік даних.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дублікатів: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На відміну від Union, оператор Concat НЕ усуває повторювані елементи і не змінює порядок.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Швидкодія O(N + M):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не будує хеш-таблиць у пам'яті, тому працює надзвичайно швидко з мінімальними накладними витратами.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передача: </a:t>
            </a:r>
            <a:r>
              <a:rPr sz="1150">
                <a:solidFill>
                  <a:srgbClr val="334155"/>
                </a:solidFill>
                <a:latin typeface="Calibri"/>
              </a:rPr>
              <a:t>Concat транслюється у два послідовних цикли foreach, не виділяючи проміжних буферних масивів у пам'яті.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виклику: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Створюється послідовність: One, Two, Three, Five, Six. Елементи обходяться ліниво один за одним.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collection1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collection2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"Five", "Six"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Послідовне злиття двох списків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collection3 = collection1.Concat(collection2);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collection3)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Відмінність Concat від Union: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Concat просто конкатенує послідовності без перевірки на унікальність. Якщо потрібна множина без повторів — використовуйте Union.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13 · КОНКАТЕНАЦІЯ (CONCATENATION)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Concat: Злиття числових послідовностей 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Конкатенація примітивних значень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Об'єднання чисел: </a:t>
            </a:r>
            <a:r>
              <a:rPr sz="1150">
                <a:solidFill>
                  <a:srgbClr val="334155"/>
                </a:solidFill>
                <a:latin typeface="Calibri"/>
              </a:rPr>
              <a:t>Демонстрація злиття двох числових послідовностей: [1, 2, 3] та [4, 5, 6].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Лінивий конвеєр: </a:t>
            </a:r>
            <a:r>
              <a:rPr sz="1150">
                <a:solidFill>
                  <a:srgbClr val="334155"/>
                </a:solidFill>
                <a:latin typeface="Calibri"/>
              </a:rPr>
              <a:t>Використовує механізм yield return: спочатку повністю читається перша колекція, а потім — друга.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Ланцюговий виклик: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об'єднувати декілька джерел: col1.Concat(col2).Concat(col3).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Типізація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IEnumerable&lt;int&gt;, зберігаючи всі повтори та вихідні позиції елементів кожного з джерел.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Економія пам'яті: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Поки не викликано .ToList() або .ToArray(), новий масив не виділяється в пам'яті.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collection1 = new List&lt;int&gt;() { 1, 2, 3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collection2 = new List&lt;int&gt;() { 4, 5, 6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Об'єднання двох числових послідовностей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collection3 = collection1.Concat(collection2);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(int i in collection3)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Ланцюгове об'єднання з третьою колекцією: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collection4 = collection3.Concat(new List&lt;int&gt;() { 7, 8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Console.WriteLine("Всього елементів: " + collection4.Count());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1, 2, 3, 4, 5, 6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Всього елементів: 8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Порядок слідування: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Гарантується строгий порядок: усі елементи першої колекції передують елементам другої колекції.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роботи з множинами: Distinct, Except, Intersect, 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Математичні операції над множинами в C#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Чотири оператори множин: </a:t>
            </a:r>
            <a:r>
              <a:rPr sz="1150">
                <a:solidFill>
                  <a:srgbClr val="334155"/>
                </a:solidFill>
                <a:latin typeface="Calibri"/>
              </a:rPr>
              <a:t>LINQ реалізує класичні теоретико-множинні операції: видалення дублікатів, різницю, перетин та об'єднання.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Усунення повторень: </a:t>
            </a:r>
            <a:r>
              <a:rPr sz="1150">
                <a:solidFill>
                  <a:srgbClr val="334155"/>
                </a:solidFill>
                <a:latin typeface="Calibri"/>
              </a:rPr>
              <a:t>Усі оператори над множинами повертають вибірки, де кожен унікальний елемент представлений лише один раз.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Внутрішня реалізація: </a:t>
            </a:r>
            <a:r>
              <a:rPr sz="1150">
                <a:solidFill>
                  <a:srgbClr val="334155"/>
                </a:solidFill>
                <a:latin typeface="Calibri"/>
              </a:rPr>
              <a:t>Для швидкого пошуку дублікатів за O(1) LINQ використовує внутрішній хеш-набір Set&lt;T&gt;.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Множинні перевантаження: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Кожен метод має перевантаження з IEqualityComparer&lt;T&gt; для порівняння складних сутностей за полями.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Підтримка компараторів: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Кожен оператор має перевантаження з параметром IEqualityComparer&lt;T&gt; для налаштування порівняння складних класів.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Призначення операторів множин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Distinct: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лише унікальні значення з однієї вихідної послідовності.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Except: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різницю двох множин: елементи першої колекції, яких немає в другій.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Intersect: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перетин двох множин: спільні елементи, які є в обох колекціях одночасно.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Union: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математичне об'єднання двох колекцій без дублювання спільних елементів.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📍 Deferred Execution: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Усі оператори множин обчислюються відкладено і не матеріалізують результат до початку циклу або .ToList().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Теорія множин: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Оператори множин LINQ повністю повторюють операції над множинами в реляційних базах даних (DISTINCT, EXCEPT, INTERSECT, UNION).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Зведена порівняльна таблиця операторів над множинами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94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 у C#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Distinct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унікальні значення з колекції.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Видаляє всі дублікати з поточної послідовності.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2, 3].Distinct()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2,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Except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різницю між двома колекціями.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Елементи першої колекції, яких немає в другій.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3].Except([2, 3, 4])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Intersect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спільні елементи двох колекцій.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Вибирає елементи, які є одночасно в обох списках.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3].Intersect([2, 3, 4])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[2,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Union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Об'єднує дві колекції без повторень.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Всі елементи обох колекцій з усуненням дублікатів.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2].Union([2, 3])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2, 3]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520440"/>
            <a:ext cx="10728655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593592"/>
            <a:ext cx="10509199" cy="163677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Демонстрація операцій над множинами в C# (Set Operators):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colA = new int[] { 1, 2, 2, 3 };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colB = new int[] { 2, 3, 4 };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distinct  = colA.Distinct();           // -&gt; [1, 2, 3] (дублікати числа 2 видалено)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except    = colA.Except(colB);         // -&gt; [1] (елементи colA, яких немає в colB)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intersect = colA.Intersect(colB);      // -&gt; [2, 3] (спільні елементи для обох колекцій)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union     = colA.Union(colB);          // -&gt; [1, 2, 3, 4] (об'єднання без дублювання)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Console.WriteLine($"Distinct:  {string.Join(", ", distinct)}");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Console.WriteLine($"Except:    {string.Join(", ", except)}");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Console.WriteLine($"Intersect: {string.Join(", ", intersect)}");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Console.WriteLine($"Union:     {string.Join(", ", union)}");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SetOperatorsDemo.cs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Резюме поведінки: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4 методи повертають IEnumerable&lt;T&gt; та гарантують абсолютну унікальність кожного значення у вихідній послідовності.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Візуалізація операцій на прикладі тестових множин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Distinct та Except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Вхідна колекція 1: </a:t>
            </a:r>
            <a:r>
              <a:rPr sz="1150">
                <a:solidFill>
                  <a:srgbClr val="334155"/>
                </a:solidFill>
                <a:latin typeface="Calibri"/>
              </a:rPr>
              <a:t>Col1 = { "One", "Two", "Three", "Two"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Distinct(Col1): </a:t>
            </a:r>
            <a:r>
              <a:rPr sz="1150">
                <a:solidFill>
                  <a:srgbClr val="334155"/>
                </a:solidFill>
                <a:latin typeface="Calibri"/>
              </a:rPr>
              <a:t>Видаляє другий "Two" -&gt; { "One", "Two", "Three"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Except(Col1, Col2): </a:t>
            </a:r>
            <a:r>
              <a:rPr sz="1150">
                <a:solidFill>
                  <a:srgbClr val="334155"/>
                </a:solidFill>
                <a:latin typeface="Calibri"/>
              </a:rPr>
              <a:t>Де Col2 = { "Two", "Four" } -&gt; повертає { "One", "Three" } (елементи з Col1, яких нема в Col2)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1. Distinct - усунення повторів: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dist = col1.Distinct();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One, Two, Three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2. Except - різниця множин: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exc = col1.Except(col2);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One, Three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5010912" cy="20116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Intersect та Union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Вхідна колекція 2: </a:t>
            </a:r>
            <a:r>
              <a:rPr sz="1150">
                <a:solidFill>
                  <a:srgbClr val="334155"/>
                </a:solidFill>
                <a:latin typeface="Calibri"/>
              </a:rPr>
              <a:t>Col2 = { "Two", "Four", "Five"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Intersect(Col1, Col2): </a:t>
            </a:r>
            <a:r>
              <a:rPr sz="1150">
                <a:solidFill>
                  <a:srgbClr val="334155"/>
                </a:solidFill>
                <a:latin typeface="Calibri"/>
              </a:rPr>
              <a:t>Спільні елементи для обох списків -&gt; { "Two" }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Union(Col1, Col2): </a:t>
            </a:r>
            <a:r>
              <a:rPr sz="1150">
                <a:solidFill>
                  <a:srgbClr val="334155"/>
                </a:solidFill>
                <a:latin typeface="Calibri"/>
              </a:rPr>
              <a:t>Повне об'єднання всіх унікальних -&gt; { "One", "Two", "Three", "Four", "Five"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3520439"/>
            <a:ext cx="5010912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93591"/>
            <a:ext cx="4791455" cy="149961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3. Intersect - перетин множин: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inter = col1.Intersect(col2);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Two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endParaRPr sz="95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4. Union - об'єднання без дублікатів: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8BDF8"/>
                </a:solidFill>
                <a:latin typeface="Consolas"/>
              </a:rPr>
              <a:t>var un = col1.Union(col2);</a:t>
            </a:r>
          </a:p>
          <a:p>
            <a:pPr>
              <a:lnSpc>
                <a:spcPct val="108000"/>
              </a:lnSpc>
              <a:spcAft>
                <a:spcPts val="100"/>
              </a:spcAft>
            </a:pPr>
            <a:r>
              <a:rPr sz="950">
                <a:solidFill>
                  <a:srgbClr val="34D399"/>
                </a:solidFill>
                <a:latin typeface="Consolas"/>
              </a:rPr>
              <a:t>// -&gt; One, Two, Three, Four, Five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Комутативність: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Intersect та Union є комутативними за складом (A та B дають однакові множини). Except НЕ є комутативним: A \ B != B \ A.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Distinct: Очищення рядків та чисел від дублікатів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Фільтрація унікальних значень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Distinct повертає кожне неповторюване значення з колекції рівно один раз.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порядку: </a:t>
            </a:r>
            <a:r>
              <a:rPr sz="1150">
                <a:solidFill>
                  <a:srgbClr val="334155"/>
                </a:solidFill>
                <a:latin typeface="Calibri"/>
              </a:rPr>
              <a:t>Порядок першої появи кожного елемента гарантовано зберігається у вихідному результаті.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Чутливість до регістру: </a:t>
            </a:r>
            <a:r>
              <a:rPr sz="1150">
                <a:solidFill>
                  <a:srgbClr val="334155"/>
                </a:solidFill>
                <a:latin typeface="Calibri"/>
              </a:rPr>
              <a:t>Для рядків за замовчуванням 'Three' і 'three' є різними значеннями. Для нечутливого порівняння передають StringComparer.OrdinalIgnoreCase.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фільтрація: </a:t>
            </a:r>
            <a:r>
              <a:rPr sz="1150">
                <a:solidFill>
                  <a:srgbClr val="334155"/>
                </a:solidFill>
                <a:latin typeface="Calibri"/>
              </a:rPr>
              <a:t>Distinct віддає унікальні елементи на льоту через yield return, як тільки зустрічає нове неповторюване значення.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для списків: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Рядки: One, Two, Three (повтори відкинуто). Числа: 1, 2, 3, 4, 5 (повтори чисел 2, 4, 3 відкинуто).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"Two", "Three"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IList&lt;int&gt; intList = new List&lt;int&gt;() { 1, 2, 3, 2, 4, 4, 3, 5 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distinctList1 = strList.Distinct();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str in distinctList1)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distinctList2 = intList.Distinct();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(var i in distinctList2)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 рядків: One, Two, Three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 чисел: 1, 2, 3, 4, 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Складність операції: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Distinct працює з часовою складністю O(N) завдяки використанню внутрішньої хеш-таблиці.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Distinct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Усунення дублікатів складних об'єктів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посилань: </a:t>
            </a:r>
            <a:r>
              <a:rPr sz="1150">
                <a:solidFill>
                  <a:srgbClr val="334155"/>
                </a:solidFill>
                <a:latin typeface="Calibri"/>
              </a:rPr>
              <a:t>У списку є 4 студенти з ім'ям 'Bill', ID = 3, Age = 25. Без компаратора Distinct поверне всі 4 об'єкти, бо це різні адреси в купі!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Передача StudentComparer: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Передаючи екземпляр IEqualityComparer&lt;Student&gt;, ми змушуємо Distinct порівнювати StudentID та StudentName.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Сучасна альтернатива: </a:t>
            </a:r>
            <a:r>
              <a:rPr sz="1150">
                <a:solidFill>
                  <a:srgbClr val="334155"/>
                </a:solidFill>
                <a:latin typeface="Calibri"/>
              </a:rPr>
              <a:t>У C# 9+ використання record struct або record class забезпечує автопорівняння за значеннями без окремих компараторів.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Хешування об'єктів: </a:t>
            </a:r>
            <a:r>
              <a:rPr sz="1150">
                <a:solidFill>
                  <a:srgbClr val="334155"/>
                </a:solidFill>
                <a:latin typeface="Calibri"/>
              </a:rPr>
              <a:t>Distinct спочатку викликає GetHashCode, а лише при колізії хешів — дорожчий метод Equals.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фільтрації: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лише 4 унікальні студенти: John, Steve, Bill (один раз) та 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distinctStudents = studentList.Distinct(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distinctStudents)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John, Steve,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Зверніть увагу: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 вихідний результат потрапляє перший зустрінутий екземпляр з групи еквівалентних об'єктів.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Except: Різниця між двома колекціями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Обчислення різниці послідовностей (A \ B)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Except: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 елементи першої колекції, які відсутні в другій колекції (параметрі).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Видалення збігів: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Елементи 'Four' та 'Five' є в обох списках, тому вони повністю вилучаються з результату.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Елементи другої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Елементи 'Six', 'Seven', 'Eight' із strList2 взагалі не потрапляють у результат, бо їх не було в strList1.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Одноразове сканування: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Друга колекція зчитується в хеш-сет Set&lt;T&gt;, після чого перший список фільтрується за лінійний час O(N + M).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тільки: One, Two, Three. Усі спільні та сторонні значення відсіяні.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"Four", "Five", "Six", "Seven", "Eight"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Елементи strList1, яких немає в strList2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strList1.Except(strList2);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Некомутативність: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strList2.Except(strList1) повернув би зовсім інший результат: Six, Seven, Eight.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Except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Вилучення підмножини бізнес-об'єктів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Вихідний список 1: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студентів: John (1), Steve (2),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Список вилучення 2: </a:t>
            </a:r>
            <a:r>
              <a:rPr sz="1150">
                <a:solidFill>
                  <a:srgbClr val="334155"/>
                </a:solidFill>
                <a:latin typeface="Calibri"/>
              </a:rPr>
              <a:t>Містить студентів: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Порівняння компаратором: </a:t>
            </a:r>
            <a:r>
              <a:rPr sz="1150">
                <a:solidFill>
                  <a:srgbClr val="334155"/>
                </a:solidFill>
                <a:latin typeface="Calibri"/>
              </a:rPr>
              <a:t>Завдяки StudentComparer метод Except знаходить відповідність за ID та іменем і коректно віднімає студентів.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Ідентифікація сутностей: </a:t>
            </a:r>
            <a:r>
              <a:rPr sz="1150">
                <a:solidFill>
                  <a:srgbClr val="334155"/>
                </a:solidFill>
                <a:latin typeface="Calibri"/>
              </a:rPr>
              <a:t>StudentComparer зіставляє ID та ім'я, забезпечуючи коректне вилучення студентів із бази.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Підсумок різниці: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У результуючій колекції залишаються тільки John та Steve.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resultedCol = studentList1.Except(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resultedCol)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John, Steve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Практичне застосування: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Швидкий пошук неактивних користувачів, боржників або студентів, які ще не записані на обрану дисципліну.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Intersect: Перетин двох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Пошук спільних елементів (A ∩ B)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Intersect: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повертає нову колекцію, що містить тільки ті елементи, які присутні в обох джерелах одночасно.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Унікальність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У вихідній послідовності гарантовано відсутні дублікати, навіть якщо в джерелах спільний елемент повторювався.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Порядок елементів: </a:t>
            </a:r>
            <a:r>
              <a:rPr sz="1150">
                <a:solidFill>
                  <a:srgbClr val="334155"/>
                </a:solidFill>
                <a:latin typeface="Calibri"/>
              </a:rPr>
              <a:t>Порядок елементів визначається порядком їх появи в першій колекції (strList1).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Хеш-перетин: </a:t>
            </a:r>
            <a:r>
              <a:rPr sz="1150">
                <a:solidFill>
                  <a:srgbClr val="334155"/>
                </a:solidFill>
                <a:latin typeface="Calibri"/>
              </a:rPr>
              <a:t>LINQ створює хеш-набір з другої колекції і повертає елементи першої, що знайдені в ньому, видаляючи їх для уникнення дублікатів.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перетину: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Спільними для двох списків є лише 'Four' та 'Five'.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"Four", "Five", "Six", "Seven", "Eight"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Пошук спільних елементів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strList1.Intersect(strList2);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Бізнес-застосування: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Перевірка перетину прав доступу користувача, знаходження спільних спільників або спільних тегів товарів.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Intersect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Знаходження спільних студентів у двох групах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1: </a:t>
            </a:r>
            <a:r>
              <a:rPr sz="1150">
                <a:solidFill>
                  <a:srgbClr val="334155"/>
                </a:solidFill>
                <a:latin typeface="Calibri"/>
              </a:rPr>
              <a:t>John (1), Steve (2),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2: </a:t>
            </a:r>
            <a:r>
              <a:rPr sz="1150">
                <a:solidFill>
                  <a:srgbClr val="334155"/>
                </a:solidFill>
                <a:latin typeface="Calibri"/>
              </a:rPr>
              <a:t>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Перетин списків: </a:t>
            </a:r>
            <a:r>
              <a:rPr sz="1150">
                <a:solidFill>
                  <a:srgbClr val="334155"/>
                </a:solidFill>
                <a:latin typeface="Calibri"/>
              </a:rPr>
              <a:t>Intersect порівнює сутності через StudentComparer і повертає спільних студентів.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Спільний реєстр: </a:t>
            </a:r>
            <a:r>
              <a:rPr sz="1150">
                <a:solidFill>
                  <a:srgbClr val="334155"/>
                </a:solidFill>
                <a:latin typeface="Calibri"/>
              </a:rPr>
              <a:t>Знаходить тих самих студентів у двох різних академічних групах або списках курсів.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об'єкти Bill та Ron, які присутні в обох колекціях одночасно.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resultedCol = studentList1.Intersect(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resultedCol)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Джерело екземплярів: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Об'єкти у вихідній послідовності повертаються з першої колекції (studentList1).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Union: Математичне об'єднання списків рядків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Об'єднання множин без дублювання (A ∪ B)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Union: </a:t>
            </a:r>
            <a:r>
              <a:rPr sz="1150">
                <a:solidFill>
                  <a:srgbClr val="334155"/>
                </a:solidFill>
                <a:latin typeface="Calibri"/>
              </a:rPr>
              <a:t>Об'єднує дві послідовності та повертає всі унікальні елементи обох списків.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Видалення дублікатів: </a:t>
            </a:r>
            <a:r>
              <a:rPr sz="1150">
                <a:solidFill>
                  <a:srgbClr val="334155"/>
                </a:solidFill>
                <a:latin typeface="Calibri"/>
              </a:rPr>
              <a:t>Значення 'Two' є в обох списках, але в результаті з'являється лише один раз.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Чутливість до регістру: </a:t>
            </a:r>
            <a:r>
              <a:rPr sz="1150">
                <a:solidFill>
                  <a:srgbClr val="334155"/>
                </a:solidFill>
                <a:latin typeface="Calibri"/>
              </a:rPr>
              <a:t>'three' та 'THREE' розглядаються як різні рядки і обидва потрапляють у вибірку.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Ліниве злиття: </a:t>
            </a:r>
            <a:r>
              <a:rPr sz="1150">
                <a:solidFill>
                  <a:srgbClr val="334155"/>
                </a:solidFill>
                <a:latin typeface="Calibri"/>
              </a:rPr>
              <a:t>Union послідовно читає обидва джерела, видаючи кожен новий неповторюваний елемент через yield return.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One, Two, three, THREE, Four, Five. Забезпечено повну унікальність значень.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strList1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strList2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"Two", "THREE", "Four", "Five"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Об'єднання двох множин з усуненням дублікатів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 = strList1.Union(strList2);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One, Two, three, THREE, Four, Five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Порівняння з Concat: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Якби замість Union було викликано Concat, 'Two' повторилося б двічі.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525926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14 · ОПЕРАТОРИ МНОЖИН (SET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Union для об'єктів Student з StudentComparer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Об'єднання реєстрів студентів без дублювання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1: </a:t>
            </a:r>
            <a:r>
              <a:rPr sz="1150">
                <a:solidFill>
                  <a:srgbClr val="334155"/>
                </a:solidFill>
                <a:latin typeface="Calibri"/>
              </a:rPr>
              <a:t>John (1), Steve (2), 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Колекція 2: </a:t>
            </a:r>
            <a:r>
              <a:rPr sz="1150">
                <a:solidFill>
                  <a:srgbClr val="334155"/>
                </a:solidFill>
                <a:latin typeface="Calibri"/>
              </a:rPr>
              <a:t>Bill (3), Ron (5).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Усунення повторів: </a:t>
            </a:r>
            <a:r>
              <a:rPr sz="1150">
                <a:solidFill>
                  <a:srgbClr val="334155"/>
                </a:solidFill>
                <a:latin typeface="Calibri"/>
              </a:rPr>
              <a:t>Оскільки Bill та Ron вже є в studentList1, метод Union завдяки StudentComparer не додає їх повторно.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Консолідація баз даних: </a:t>
            </a:r>
            <a:r>
              <a:rPr sz="1150">
                <a:solidFill>
                  <a:srgbClr val="334155"/>
                </a:solidFill>
                <a:latin typeface="Calibri"/>
              </a:rPr>
              <a:t>Ідеально підходить для дедуплікації даних при синхронізації кількох локальних реєстрів в один.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об'єднання: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John, Steve, Bill, Ron — єдиний консолідований список унікальних студентів.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studentList1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15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studentList2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25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19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resultedCol = studentList1.Union(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studentList2, new StudentComparer());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std in resultedCol)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 John, Steve, Bill,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StudentComparer.cs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Підсумок блоку Set Operators: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Усі 4 оператори множин (Distinct, Except, Intersect, Union) вимагають компаратора при роботі з користувацькими класами.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розбиття послідовностей: Skip, SkipWhile, Take, TakeWhile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194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робить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Приклад у C#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задану кількість елементів з початку послідовності.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перші N елементів і повертає всі наступні.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4].Skip(2)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[3,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SkipWhile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Пропускає елементи з початку, поки умова true.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 тільки умова стає false — припиняє пропуск і повертає решту послідовності.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4].SkipWhile(x =&gt; x &lt; 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[3, 4]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Бере задану кількість елементів з початку послідовності.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Повертає тільки перші N елементів і завершує вибірку.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4].Take(2)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TakeWhile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Бере елементи з початку, поки умова true.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Як тільки умова стає false — негайно зупиняє подальшу вибірку.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[1, 2, 3, 4].TakeWhile(x =&gt; x &lt; 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[1, 2]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520440"/>
            <a:ext cx="10728655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593592"/>
            <a:ext cx="10509199" cy="163677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Канонічний патерн сторінкової пагінації (Pagination Pattern):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int pageNumber = 2, pageSize = 3;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items = Enumerable.Range(1, 10); // послідовність чисел 1..10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page = items.Skip((pageNumber - 1) * pageSize).Take(pageSize);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Console.WriteLine($"Сторінка {pageNumber}: {string.Join(", ", page)}"); // 4, 5, 6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endParaRPr sz="8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4D399"/>
                </a:solidFill>
                <a:latin typeface="Consolas"/>
              </a:rPr>
              <a:t>// Умовне позиційне секціонування (TakeWhile / SkipWhile):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whileTake = items.TakeWhile(x =&gt; x &lt; 4); // [1, 2, 3] (до першого false)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var whileSkip = items.SkipWhile(x =&gt; x &lt; 7); // [7, 8, 9, 10] (пропуск до першого false)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Console.WriteLine($"TakeWhile: {string.Join(", ", whileTake)}");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E2E8F0"/>
                </a:solidFill>
                <a:latin typeface="Consolas"/>
              </a:rPr>
              <a:t>Console.WriteLine($"SkipWhile: {string.Join(", ", whileSkip)}");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PaginationPattern.cs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Патерн Pagination: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Спільне використання: source.Skip((pageNumber - 1) * pageSize).Take(pageSize) реалізує сторінкову розбивку в UI та API.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Skip: Пропуск фіксованої кількості початкових елементів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Пропуск перших N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роботи: </a:t>
            </a:r>
            <a:r>
              <a:rPr sz="1150">
                <a:solidFill>
                  <a:srgbClr val="334155"/>
                </a:solidFill>
                <a:latin typeface="Calibri"/>
              </a:rPr>
              <a:t>Skip(count) ігнорує перші count елементів у послідовності та повертає всі інші.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Якщо count &lt;= 0: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повертає всю вихідну послідовність без змін.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Якщо count &gt;= розміру: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порожня колекція (виняток IndexOutOfRange НЕ викидається).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 в SQL: </a:t>
            </a:r>
            <a:r>
              <a:rPr sz="1150">
                <a:solidFill>
                  <a:srgbClr val="334155"/>
                </a:solidFill>
                <a:latin typeface="Calibri"/>
              </a:rPr>
              <a:t>У базах даних транслюється у вираз OFFSET n ROWS.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для списку: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Після пропуску перших 2 рядків ('One', 'Two') повертаються: Three, Four, Five.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Пропускаємо перші 2 елементи колекції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newList = strList.Skip(2);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Console.WriteLine("--- Результат Skip(2) ---");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str in newList)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Пропуск більше ніж є елементів (порожній результат):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empty = strList.Skip(10);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Console.WriteLine("Кількість у empty: " + empty.Count());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Кількість у empty: 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Ефективність: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Skip виконується відкладено і не матеріалізує пропущені елементи в оперативну пам'ять.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SkipWhile: Пропуск за предикатною умовою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Пропуск елементів до першого false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Предикатна перевірка: </a:t>
            </a:r>
            <a:r>
              <a:rPr sz="1150">
                <a:solidFill>
                  <a:srgbClr val="334155"/>
                </a:solidFill>
                <a:latin typeface="Calibri"/>
              </a:rPr>
              <a:t>SkipWhile обчислює умову s.Length &lt; 4 для кожного елемента послідовно.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Елементи 1 і 2: </a:t>
            </a:r>
            <a:r>
              <a:rPr sz="1150">
                <a:solidFill>
                  <a:srgbClr val="334155"/>
                </a:solidFill>
                <a:latin typeface="Calibri"/>
              </a:rPr>
              <a:t>'One' (довжина 3 &lt; 4: true -&gt; пропуск), 'Two' (довжина 3 &lt; 4: true -&gt; пропуск).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Точка зупинки: </a:t>
            </a:r>
            <a:r>
              <a:rPr sz="1150">
                <a:solidFill>
                  <a:srgbClr val="334155"/>
                </a:solidFill>
                <a:latin typeface="Calibri"/>
              </a:rPr>
              <a:t>На елементі 'Three' довжина дорівнює 5 (5 &lt; 4: false). Пропуск негайно зупиняється!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Решта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Усі наступні елементи ('Four', 'Five', 'Six') повертаються без повторної перевірки умови.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Повертаються: Three, Four, Five, Six.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"Five", "Six"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Пропускаємо, поки довжина слова менша за 4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resultList = strList.SkipWhile(s =&gt; s.Length &lt; 4);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resultList)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Різниця з Where: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Where відфільтрував би й слово 'Six' (довжина 3), а SkipWhile повертає 'Six', бо після першого false перевірка припинилася!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SkipWhile: Поведінка, коли найперший елемент не задовольняє умову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Миттєве зупинення пропуску на позиції 0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Аналіз першого елемента: </a:t>
            </a:r>
            <a:r>
              <a:rPr sz="1150">
                <a:solidFill>
                  <a:srgbClr val="334155"/>
                </a:solidFill>
                <a:latin typeface="Calibri"/>
              </a:rPr>
              <a:t>Перший елемент списку — 'Three' (його довжина 5).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Умова s.Length &lt; 4: </a:t>
            </a:r>
            <a:r>
              <a:rPr sz="1150">
                <a:solidFill>
                  <a:srgbClr val="334155"/>
                </a:solidFill>
                <a:latin typeface="Calibri"/>
              </a:rPr>
              <a:t>5 &lt; 4 одразу дає значення false!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Результат пропуску: </a:t>
            </a:r>
            <a:r>
              <a:rPr sz="1150">
                <a:solidFill>
                  <a:srgbClr val="334155"/>
                </a:solidFill>
                <a:latin typeface="Calibri"/>
              </a:rPr>
              <a:t>Оскільки перший же елемент не задовольнив умову, пропускається рівно 0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Повернення даних: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абсолютно вся послідовність у повному обсязі, починаючи з найпершого елемента.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Three, One, Two, Four, Five, Six — жоден елемент не пропущено!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"Three", "One", "Two", "Four", "Five", "Six"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Перший елемент 'Three' має довжину 5 &gt;= 4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Умова s.Length &lt; 4 дає false одразу: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resultList = strList.SkipWhile(s =&gt; s.Length &lt; 4);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resultList)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Головний висновок: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SkipWhile не шукає перше співпадіння вглибині колекції — він перевіряє елементи виключно від самого початку.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SkipWhile з використанням індексу елемента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Лямбда з парою (елемент, індекс)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Перевантаження з індексом: </a:t>
            </a:r>
            <a:r>
              <a:rPr sz="1150">
                <a:solidFill>
                  <a:srgbClr val="334155"/>
                </a:solidFill>
                <a:latin typeface="Calibri"/>
              </a:rPr>
              <a:t>SkipWhile((s, i) =&gt; s.Length &gt; i) передає 0-based індекс кожного елемента.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Трасування кроків: </a:t>
            </a:r>
            <a:r>
              <a:rPr sz="1150">
                <a:solidFill>
                  <a:srgbClr val="334155"/>
                </a:solidFill>
                <a:latin typeface="Calibri"/>
              </a:rPr>
              <a:t>[0] 'One' (3 &gt; 0: true), [1] 'Two' (3 &gt; 1: true), [2] 'Three' (5 &gt; 2: true), [3] 'Four' (4 &gt; 3: true).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Критична точка [4]: </a:t>
            </a:r>
            <a:r>
              <a:rPr sz="1150">
                <a:solidFill>
                  <a:srgbClr val="334155"/>
                </a:solidFill>
                <a:latin typeface="Calibri"/>
              </a:rPr>
              <a:t>Елемент 'Five' (довжина 4): умова 4 &gt; 4 стає false!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Зупинка пропуску: </a:t>
            </a:r>
            <a:r>
              <a:rPr sz="1150">
                <a:solidFill>
                  <a:srgbClr val="334155"/>
                </a:solidFill>
                <a:latin typeface="Calibri"/>
              </a:rPr>
              <a:t>Починаючи з індексу 4 ('Five') і до кінця списку, всі елементи повертаються.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Повертаються лише останні елементи: Five та Six.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"Five", "Six"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Пропускаємо, поки довжина рядка більша за його індекс: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[0]'One'(3&gt;0:T), [1]'Two'(3&gt;1:T), [2]'Three'(5&gt;2:T), [3]'Four'(4&gt;3:T)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[4]'Five'(4&gt;4: false -&gt; зупинка пропуску!)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 = strList.SkipWhile((s, i) =&gt; s.Length &gt; 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Console.WriteLine("--- Елементи після зупинки пропуску ---");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Five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Six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Застосування індексів: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Індексовані предикати дозволяють реалізовувати алгоритми нелінійного ковзного вікна або складного позиційного розбору.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Take: Отримання перших N елементів послідовності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Вибірка фіксованої кількості елементів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роботи: </a:t>
            </a:r>
            <a:r>
              <a:rPr sz="1150">
                <a:solidFill>
                  <a:srgbClr val="334155"/>
                </a:solidFill>
                <a:latin typeface="Calibri"/>
              </a:rPr>
              <a:t>Take(count) повертає рівно count перших елементів від початку і негайно завершує перебір.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Раннє завершення: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не сканує всю колекцію до кінця, що критично важливо для швидкодії.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Якщо count &lt;= 0: </a:t>
            </a:r>
            <a:r>
              <a:rPr sz="1150">
                <a:solidFill>
                  <a:srgbClr val="334155"/>
                </a:solidFill>
                <a:latin typeface="Calibri"/>
              </a:rPr>
              <a:t>Повертається порожня послідовність.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Трансляція в SQL: </a:t>
            </a:r>
            <a:r>
              <a:rPr sz="1150">
                <a:solidFill>
                  <a:srgbClr val="334155"/>
                </a:solidFill>
                <a:latin typeface="Calibri"/>
              </a:rPr>
              <a:t>У базах даних транслятор LINQ генерує TOP (count) або FETCH NEXT count ROWS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для списку: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Take(2) повертає перші два елементи: One та Two.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"One", "Two", "Three", "Four", "Five"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Отримуємо рівно 2 перших елементи послідовності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result = strList.Take(2);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Console.WriteLine("--- Перші 2 елементи ---");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Запит більшої кількості ніж є в наявності: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all = strList.Take(10);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Console.WriteLine("Всього взято: " + all.Count());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Всього взято: 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Ранній вихід: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Take негайно зупиняє ітератор MoveNext() після отримання потрібної кількості елементів.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TakeWhile: Вибірка елементів до першого порушення умови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Отримання елементів, поки умова true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Принцип TakeWhile: </a:t>
            </a:r>
            <a:r>
              <a:rPr sz="1150">
                <a:solidFill>
                  <a:srgbClr val="334155"/>
                </a:solidFill>
                <a:latin typeface="Calibri"/>
              </a:rPr>
              <a:t>Бере елементи від початку списку, поки предикатна умова s.Length &gt; 4 повертає true.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1 'Three': </a:t>
            </a:r>
            <a:r>
              <a:rPr sz="1150">
                <a:solidFill>
                  <a:srgbClr val="334155"/>
                </a:solidFill>
                <a:latin typeface="Calibri"/>
              </a:rPr>
              <a:t>Довжина 5 &gt; 4: true -&gt; елемент береться.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2 'Four': </a:t>
            </a:r>
            <a:r>
              <a:rPr sz="1150">
                <a:solidFill>
                  <a:srgbClr val="334155"/>
                </a:solidFill>
                <a:latin typeface="Calibri"/>
              </a:rPr>
              <a:t>Довжина 4 &gt; 4: false -&gt; вибірка негайно припиняється!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Ігнорування решти: </a:t>
            </a:r>
            <a:r>
              <a:rPr sz="1150">
                <a:solidFill>
                  <a:srgbClr val="334155"/>
                </a:solidFill>
                <a:latin typeface="Calibri"/>
              </a:rPr>
              <a:t>Навіть якщо далі є елемент 'Hundred' з довжиною 7 (&gt; 4), він ніколи не буде оброблений.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Повертається лише один елемент: Three.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"Three", "Four", "Five", "Hundred"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Беремо елементи, поки їх довжина більша за 4: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[0]'Three'(len=5 &gt; 4: true) -&gt; взято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[1]'Four' (len=4 &gt; 4: false) -&gt; СТОП!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 = strList.TakeWhile(s =&gt; s.Length &gt; 4);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Console.WriteLine("--- Результат TakeWhile ---");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'Hundred' (len=7) ніколи не буде прочитано!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Чому 'Hundred' не потрапив у результат: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TakeWhile повністю зупиняє ітерування, як тільки умова порушилася на слові 'Four'. Для повної фільтрації використовуйте Where.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20405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15 · СЕКЦІОНУВАННЯ (PARTITIONING)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TakeWhile з використанням індексу елемента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Індексована зупинка вибірки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Умова s.Length &gt; i: </a:t>
            </a:r>
            <a:r>
              <a:rPr sz="1150">
                <a:solidFill>
                  <a:srgbClr val="334155"/>
                </a:solidFill>
                <a:latin typeface="Calibri"/>
              </a:rPr>
              <a:t>Порівнює довжину поточного рядка з його порядковим індексом.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[0] 'One' (3 &gt; 0):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[1] 'Two' (3 &gt; 1):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[2] 'Three' (5 &gt; 2):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[3] 'Four' (4 &gt; 3): </a:t>
            </a:r>
            <a:r>
              <a:rPr sz="1150">
                <a:solidFill>
                  <a:srgbClr val="334155"/>
                </a:solidFill>
                <a:latin typeface="Calibri"/>
              </a:rPr>
              <a:t>true -&gt; беремо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[4] 'Five' (4 &gt; 4): </a:t>
            </a:r>
            <a:r>
              <a:rPr sz="1150">
                <a:solidFill>
                  <a:srgbClr val="334155"/>
                </a:solidFill>
                <a:latin typeface="Calibri"/>
              </a:rPr>
              <a:t>false -&gt; фінальна зупинка!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вибірки: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Отримано перші 4 елементи: One, Two, Three, Four.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"Five", "Six"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Беремо, поки довжина рядка більша за його індекс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resultList = strList.TakeWhile((s, i) =&gt; s.Length &gt; i);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(string str in resultList)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Console.WriteLine(str);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One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Two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Three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Four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Резюме блоку Partitioning: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Skip, SkipWhile, Take та TakeWhile забезпечують повний контроль над порційним позиційним зчитуванням послідовностей.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приведення та матеріалізації типів (Conversion Operators)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28655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087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Метод LINQ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Категорія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Опис / Призначення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Що повертає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AsEnumerable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As-оператор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Приховує кастомну реалізацію провайдера, повертаючи IEnumerable&lt;T&gt;.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AsQueryable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As-оператор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Перетворює IEnumerable на IQueryable для емуляції провайдера запитів.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IQueryable&lt;T&gt;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Cast&lt;T&gt;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Cast-оператор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onsolas"/>
                        </a:rPr>
                        <a:t>Приводить елементи нетипізованої колекції (ArrayList) до узагальненого типу 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OfType&lt;T&gt;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Cast-оператор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Безпечно фільтрує колекцію, вибираючи лише елементи вказаного типу 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IEnumerable&lt;T&gt;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Негайно виконує запит і копіює всі елементи в одновимірний масив T[].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Негайно виконує запит і створює новий екземпляр List&lt;T&gt; у пам'яті.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List&lt;T&gt;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ToDictionary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Матеріалізує елементи в словник Dictionary&lt;TKey, TValue&gt; за ключем.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Dictionary&lt;K, V&gt;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F46E5"/>
                          </a:solidFill>
                          <a:latin typeface="Consolas"/>
                        </a:rPr>
                        <a:t>ToLookup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To-оператор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Групує елементи в незмінну 1:N структуру Lookup&lt;TKey, TElement&gt;.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ILookup&lt;K, E&gt;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Три групи перетворень: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As-оператори змінюють інтерфейс доступу; Cast-оператори валідують типи; To-оператори примусово матеріалізують дані (Immediate Execution).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AsEnumerable та AsQueryable: Статичні та динамічні типи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Зміна інтерфейсу представлення колекції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AsEnumerable(): </a:t>
            </a:r>
            <a:r>
              <a:rPr sz="1150">
                <a:solidFill>
                  <a:srgbClr val="334155"/>
                </a:solidFill>
                <a:latin typeface="Calibri"/>
              </a:rPr>
              <a:t>Переводить статичний тип колекції в IEnumerable&lt;T&gt;. Критично у LINQ to Entities: дозволяє примусово переключити подальшу частину запиту на виконання в пам'яті C# замість SQL сервера.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AsQueryable(): </a:t>
            </a:r>
            <a:r>
              <a:rPr sz="1150">
                <a:solidFill>
                  <a:srgbClr val="334155"/>
                </a:solidFill>
                <a:latin typeface="Calibri"/>
              </a:rPr>
              <a:t>Огортає звичайний IEnumerable у EnumerableQuery&lt;T&gt;, дозволяючи імітувати роботу IQueryable провайдера (наприклад, у Unit-тестах).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Типи компіляції та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Демонстрація різниці між typeof(T).Name та obj.GetType().Name під час виклику утиліти.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Клієнтська оцінка (Client Evaluation): </a:t>
            </a:r>
            <a:r>
              <a:rPr sz="1150">
                <a:solidFill>
                  <a:srgbClr val="334155"/>
                </a:solidFill>
                <a:latin typeface="Calibri"/>
              </a:rPr>
              <a:t>AsEnumerable перемикає виконання запиту в пам'ять процесу для виклику методів C#, які не підтримуються SQL.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Важливий нюанс: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AsEnumerable НЕ створює копії масиву — у рантаймі об'єкт залишається тим самим вихідним Student[].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class Program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static void ReportTypeProperties&lt;T&gt;(T obj)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Console.WriteLine("Compile-time: " + typeof(T).Name);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Console.WriteLine("Actual runtime: " + obj.GetType().Name);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static void Main(string[] args)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Student[] studentArray =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new Student() { StudentID = 2, StudentName = "Steve", Age = 21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ReportTypeProperties(studentArray);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ReportTypeProperties(studentArray.AsEnumerable());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ReportTypeProperties(studentArray.AsQueryable());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Compile-time: Student[]     | Actual: Student[]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Compile-time: IEnumerable`1 | Actual: Student[]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Compile-time: IQueryable`1  | Actual: EnumerableQuery`1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Застосування AsEnumerable в EF Core: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AsEnumerable(), коли метод не може бути трансльований у SQL і його потрібно виконати на боці клієнта.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приведення Cast&lt;T&gt;: Робота з нетипізованими колекціями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Приведення типів елементів у послідовності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Cast&lt;T&gt;: </a:t>
            </a:r>
            <a:r>
              <a:rPr sz="1150">
                <a:solidFill>
                  <a:srgbClr val="334155"/>
                </a:solidFill>
                <a:latin typeface="Calibri"/>
              </a:rPr>
              <a:t>Перетворює непараметризовану колекцію (IEnumerable з .NET 1.1, наприклад ArrayList) на типізовану IEnumerable&lt;T&gt;.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Приведення кожного елемента: </a:t>
            </a:r>
            <a:r>
              <a:rPr sz="1150">
                <a:solidFill>
                  <a:srgbClr val="334155"/>
                </a:solidFill>
                <a:latin typeface="Calibri"/>
              </a:rPr>
              <a:t>Виконує явне приведення (T)element для кожного запису послідовності.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Ризик винятку: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хоча б один елемент у колекції має несумісний тип, виникає виняток InvalidCastException.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Безпечна альтернатива: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колекція містить різнорідні об'єкти, використовуйте OfType&lt;T&gt;(), який просто ігнорує несумісні типи.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приведення: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Отримуємо строго типізований IEnumerable&lt;Student&gt;, з яким можна працювати за допомогою сучасного LINQ.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Нетипізована колекція legacy .NET 1.1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System.Collections.ArrayList list = new System.Collections.ArrayList();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list.Add(new Student() { StudentID = 1, StudentName = "John", Age = 18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list.Add(new Student() { StudentID = 2, StudentName = "Steve", Age = 21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list.Add(new Student() { StudentID = 3, StudentName = "Bill", Age = 25 });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Приведення до IEnumerable&lt;Student&gt;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studentEnumerable = list.Cast&lt;Student&gt;();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foreach (Student std in studentEnumerable)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Console.WriteLine(std.StudentName);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John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Steve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Відмінність від OfType: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Cast вимагає строгої відповідності 100% елементів типу T, тоді як OfType безпечно фільтрує невідповідні елементи без винятків.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Оператори матеріалізації: ToArray та ToList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099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Фіксація результатів запиту в оперативній пам'яті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Негайне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ToArray та ToList примусово виконують запит у момент їх виклику (Immediate Execution).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ToArray(): </a:t>
            </a:r>
            <a:r>
              <a:rPr sz="1150">
                <a:solidFill>
                  <a:srgbClr val="334155"/>
                </a:solidFill>
                <a:latin typeface="Calibri"/>
              </a:rPr>
              <a:t>Створює одновимірний масив фіксованої довжини T[]. Ідеально для передачі в API з мінімальним оверхедом.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ToList(): </a:t>
            </a:r>
            <a:r>
              <a:rPr sz="1150">
                <a:solidFill>
                  <a:srgbClr val="334155"/>
                </a:solidFill>
                <a:latin typeface="Calibri"/>
              </a:rPr>
              <a:t>Створює динамічний список List&lt;T&gt;, що дозволяє додавати та видаляти елементи.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Кешування результату: </a:t>
            </a:r>
            <a:r>
              <a:rPr sz="1150">
                <a:solidFill>
                  <a:srgbClr val="334155"/>
                </a:solidFill>
                <a:latin typeface="Calibri"/>
              </a:rPr>
              <a:t>Захищає від повторного виконання дорогих SQL-запитів при багаторазовому читанні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перетворення: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Отримуємо масив string[] або список List&lt;string&gt; з повним набором даних у пам'яті.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strList = new List&lt;string&gt;()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"One", "Two", "Three", "Four", "Three"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Перетворення списку в одновимірний масив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string[] strArray = strList.ToArray();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Перетворення масиву назад у типізований список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IList&lt;string&gt; list = strArray.ToList();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Console.WriteLine("Масив: " + strArray.Length + " ел.");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Console.WriteLine("Список: " + list.Count + " ел.");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Масив: 5 ел.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FBBF24"/>
                </a:solidFill>
                <a:latin typeface="Consolas"/>
              </a:rPr>
              <a:t>-&gt; Список: 5 ел.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Золоте правило: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Завжди матеріалізуйте дані через .ToList() перед закриттям з'єднання з базою даних або передачею моделі у представлення.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1089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· ПЕРЕТВОРЕННЯ (CONVERSION)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Оператор ToDictionary: Створення асоціативної таблиці за ключем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100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Матеріалізація в Dictionary&lt;TKey, TValue&gt;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Селектор ключа: </a:t>
            </a:r>
            <a:r>
              <a:rPr sz="1150">
                <a:solidFill>
                  <a:srgbClr val="334155"/>
                </a:solidFill>
                <a:latin typeface="Calibri"/>
              </a:rPr>
              <a:t>ToDictionary вимагає обов'язкової функції вибору ключа, наприклад s =&gt; s.StudentID.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Швидкий доступ O(1): </a:t>
            </a:r>
            <a:r>
              <a:rPr sz="1150">
                <a:solidFill>
                  <a:srgbClr val="334155"/>
                </a:solidFill>
                <a:latin typeface="Calibri"/>
              </a:rPr>
              <a:t>Словник забезпечує миттєвий пошук студента за його ID без необхідності перебору колекції.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Вимога унікальності: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Усі ключі повинні бути суворо унікальними! Якщо трапиться два однакових StudentID, метод викине ArgumentException.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Селектор значення: </a:t>
            </a:r>
            <a:r>
              <a:rPr sz="1150">
                <a:solidFill>
                  <a:srgbClr val="334155"/>
                </a:solidFill>
                <a:latin typeface="Calibri"/>
              </a:rPr>
              <a:t>Можна опційно передати другу лямбду для збереження лише окремого поля: s =&gt; s.StudentName.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матеріалізації: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Створено Dictionary&lt;int, Student&gt;, де ключем є StudentID, а значенням — об'єкт студента.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21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Конвертація в Dictionary з ключем StudentID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IDictionary&lt;int, Student&gt; studentDict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.ToDictionary&lt;Student, int&gt;(s =&gt; s.StudentID);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key in studentDict.Keys)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Console.WriteLine($"Key: {key}, Value: {studentDict[key].StudentName}");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Key: 1, Value: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Key: 2, Value: Steve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Key: 3, Value: Bill...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Що робити з дублікатами ключів: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ключі можуть повторюватися, замість ToDictionary використовуйте ToLookup() або GroupBy(), які підтримують групи 1:N.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Відкладене виконання (Deferred Execution) у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101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Концепція відкладеного обчислення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Що таке Deferred Execution: </a:t>
            </a:r>
            <a:r>
              <a:rPr sz="1150">
                <a:solidFill>
                  <a:srgbClr val="334155"/>
                </a:solidFill>
                <a:latin typeface="Calibri"/>
              </a:rPr>
              <a:t>Оголошення LINQ-запиту НЕ виконує сам запит і не перебирає елементи колекції в пам'яті.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Збереження плану запиту: </a:t>
            </a:r>
            <a:r>
              <a:rPr sz="1150">
                <a:solidFill>
                  <a:srgbClr val="334155"/>
                </a:solidFill>
                <a:latin typeface="Calibri"/>
              </a:rPr>
              <a:t>Змінна запиту teenAgerStudents зберігає лише команду та логіку обробки (структуру IEnumerable).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Точка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реально виконується тільки тоді, коли дані безпосередньо запитуються (наприклад, у циклі foreach).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Оптимізація ресурсів: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уникати непотрібних проміжних обчислень та об'єднувати фільтри перед відправкою до бази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Дві критичні точки в коді: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Оголошення запиту: нуль операцій з елементами. 2. Цикл foreach: послідовне виконання ітератора.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studentList = new List&lt;Student&gt;()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1, StudentName = "John",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2, StudentName = "Steve", Age = 21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3, StudentName = "Bill", Age = 18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4, StudentName = "Ram", Age = 20 },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new Student() { StudentID = 5, StudentName = "Ron", Age = 21 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ТОЧКА 1: Запит ТУТ НЕ ВИКОНУЄТЬСЯ!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teenAgerStudents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ТОЧКА 2: Запит РЕАЛЬНО ВИКОНУЄТЬСЯ ТУТ!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Console.WriteLine("Name: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Універсальність: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Deferred execution діє як для локальних колекцій у пам'яті (LINQ to Objects), так і для віддалених джерел (LINQ to Entities, SQL, XML).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Повторне обчислення запиту (Query Re-evaluation)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102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Динамічний доступ до актуальних даних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Відсутність кешу за замовчуванням: </a:t>
            </a:r>
            <a:r>
              <a:rPr sz="1150">
                <a:solidFill>
                  <a:srgbClr val="334155"/>
                </a:solidFill>
                <a:latin typeface="Calibri"/>
              </a:rPr>
              <a:t>Оскільки відкладений запит не зберігає результатів у пам'яті, кожен новий цикл foreach звертається до джерела наново.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Модифікація колекції: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після першого виконання додати нового студента (Martin, 16 років), він автоматично врахується при повторному обході!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Один запит — актуальні дані: </a:t>
            </a:r>
            <a:r>
              <a:rPr sz="1150">
                <a:solidFill>
                  <a:srgbClr val="334155"/>
                </a:solidFill>
                <a:latin typeface="Calibri"/>
              </a:rPr>
              <a:t>Запит можна оголосити один раз і повторно використовувати його для отримання найсвіжіших даних з джерела.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Уникнення подвійного обчислення: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джерелом є база даних або складний розрахунок, багаторазовий перехід запиту виконує повторні мережеві запити. Фіксуйте результат через .ToList().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Результати двох циклів: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Перший foreach: John, Bill. Другий foreach (після Add): John, Bill, Martin!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Перше виконання запиту: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Console.WriteLine("Name: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-&gt; John,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4D399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Додаємо нового студента у вихідний список: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studentList.Add(new Student() 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StudentID = 6, StudentName = "Martin", Age = 16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Друге виконання того ж самого запиту повертає свіжі дані: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Console.WriteLine("Name: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 другого циклу: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Name: Martin (доданий елемент враховано!)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Важливий побічний ефект: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Якщо колекція змінюється між ітераціями, результати будуть різними. Якщо потрібен незмінний знімок даних — використовуйте .ToList().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Реалізація відкладеного виконання: Механізм yield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103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Як побудовані ітератори BCL зсередини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Ключове слово yield return: </a:t>
            </a:r>
            <a:r>
              <a:rPr sz="1150">
                <a:solidFill>
                  <a:srgbClr val="334155"/>
                </a:solidFill>
                <a:latin typeface="Calibri"/>
              </a:rPr>
              <a:t>Перетворює звичайний C# метод на генератор ітератора, що реалізує інтерфейс IEnumerator&lt;T&gt;.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Скінченний автомат: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генерує прихований клас State Machine, який зберігає стан виконання між викликами MoveNext().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Потокова обробка: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не повертає всю колекцію відразу — він повертає рівно один елемент і призупиняється до наступного запиту.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Очищення ресурсів (Dispose): </a:t>
            </a:r>
            <a:r>
              <a:rPr sz="1150">
                <a:solidFill>
                  <a:srgbClr val="334155"/>
                </a:solidFill>
                <a:latin typeface="Calibri"/>
              </a:rPr>
              <a:t>Ітератор гарантує виклик блоків finally та Dispose, коли цикл foreach завершується або переривається за допомогою break.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Власний LINQ оператор: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Метод GetTeenAgerStudents фільтрує студентів потоково, логуючи кожне звернення до елемента.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public static class EnumerableExtensionMethods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    // Кастомний метод-розширення з відкладеним виконанням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public static IEnumerable&lt;Student&gt; GetTeenAgerStudents(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this IEnumerable&lt;Student&gt; source)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    foreach (Student std in source)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Console.WriteLine("Accessing student {0}", std.StudentName);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if (std.Age &gt; 12 &amp;&amp; std.Age &lt; 20)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{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    yield return std; // пауза виконання до наступного MoveNext()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   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 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EnumerableExtensionMethods.cs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Магія yield return: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Код методу взагалі не виконується в момент виклику GetTeenAgerStudents() — він стартує тільки при першому зверненні до ітератора!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Трасування роботи ітератора з yield return на практиці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104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Доведення відкладеності у виводі консолі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1 (Оголошення): </a:t>
            </a:r>
            <a:r>
              <a:rPr sz="1150">
                <a:solidFill>
                  <a:srgbClr val="334155"/>
                </a:solidFill>
                <a:latin typeface="Calibri"/>
              </a:rPr>
              <a:t>Виклик GetTeenAgerStudents() у секції from s in ... не генерує ЖОДНОГО повідомлення в консолі!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Крок 2 (Ітерація): </a:t>
            </a:r>
            <a:r>
              <a:rPr sz="1150">
                <a:solidFill>
                  <a:srgbClr val="334155"/>
                </a:solidFill>
                <a:latin typeface="Calibri"/>
              </a:rPr>
              <a:t>У циклі foreach починає викликатися MoveNext(). Метод виконується поетапно для кожного студента.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Аналіз виводу: </a:t>
            </a:r>
            <a:r>
              <a:rPr sz="1150">
                <a:solidFill>
                  <a:srgbClr val="334155"/>
                </a:solidFill>
                <a:latin typeface="Calibri"/>
              </a:rPr>
              <a:t>Рядки 'Accessing student...' чергуються з виведенням імені в циклі 'Name: ...'.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Ранній вихід: </a:t>
            </a:r>
            <a:r>
              <a:rPr sz="1150">
                <a:solidFill>
                  <a:srgbClr val="334155"/>
                </a:solidFill>
                <a:latin typeface="Calibri"/>
              </a:rPr>
              <a:t>Якби в циклі стояв break після першого студента, перевірка решти списку навіть не розпочалася б.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трасування: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Повний синхронний контроль над споживанням даних без виділення проміжних масивів.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1. Оголошення запиту - GetTeenAgerStudents НЕ викликається: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teenAgerStudents = from s in studentList.GetTeenAgerStudents()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        select 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Console.WriteLine("Запит оголошено. Починаємо foreach:");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2. Ітерація - ТІЛЬКИ ТУТ починається обробка елементів: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Console.WriteLine("-&gt; Знайдено: " + teenStudent.StudentName);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Console Trace: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John -&gt; Знайдено: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Steve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Bill -&gt; Знайдено: Bill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Accessing student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Підсумок механізму: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Це фундаментальна основа функціонального програмування в C#: потокова конвеєризація даних (Pipeline Processing).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Негайне виконання запитів (Immediate Execution)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105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Примусове обчислення в точці виклику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Що таке Immediate Execution: </a:t>
            </a:r>
            <a:r>
              <a:rPr sz="1150">
                <a:solidFill>
                  <a:srgbClr val="334155"/>
                </a:solidFill>
                <a:latin typeface="Calibri"/>
              </a:rPr>
              <a:t>Повна протилежність відкладеному виконанню. Змушує запит негайно обробити всі дані і зберегти знімок результату.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Оператори негайного виконання: </a:t>
            </a:r>
            <a:r>
              <a:rPr sz="1150">
                <a:solidFill>
                  <a:srgbClr val="334155"/>
                </a:solidFill>
                <a:latin typeface="Calibri"/>
              </a:rPr>
              <a:t>Всі 'To' оператори (ToList, ToArray, ToDictionary, ToLookup), а також агрегатні функції (Count, Average, First, Single, Max).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Ізоляція від змін: </a:t>
            </a:r>
            <a:r>
              <a:rPr sz="1150">
                <a:solidFill>
                  <a:srgbClr val="334155"/>
                </a:solidFill>
                <a:latin typeface="Calibri"/>
              </a:rPr>
              <a:t>Результат зберігається у створеній колекції (List&lt;Student&gt;), тому подальші модифікації studentList уже не впливають на збережені дані.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Використання пам'яті: </a:t>
            </a:r>
            <a:r>
              <a:rPr sz="1150">
                <a:solidFill>
                  <a:srgbClr val="334155"/>
                </a:solidFill>
                <a:latin typeface="Calibri"/>
              </a:rPr>
              <a:t>Матеріалізація завантажує всю вибірку в RAM, тому для великих обсягів даних слід обмежувати вибірку через Take().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Приклад у Method Syntax: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Метод .ToList() негайно фільтрує список і повертає готовий об'єкт List&lt;Student&gt;.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Негайне виконання за допомогою .ToList():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IList&lt;Student&gt; teenAgerStudents =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.Where(s =&gt; s.Age &gt; 12 &amp;&amp; s.Age &lt; 20)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.ToList();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Запит повністю виконано прямо зараз у точці .ToList()!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Змінна teenAgerStudents вже містить 2 об'єкти в пам'яті.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Console.WriteLine($"Завантажено студентів: {teenAgerStudents.Count}");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(Student teenStudent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Console.WriteLine($"ID: {teenStudent.StudentID}, Name: {teenStudent.StudentName}");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Завантажено студентів: 2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ID: 1, Name: John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ID: 3, Name: Bill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Коли застосовувати Immediate Execution: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Завжди, коли потрібно зафіксувати дані в пам'яті (кеш), від'єднатися від БД або запобігти повторним важким обрахункам.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3767327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· МОДЕЛІ ВИКОНАННЯ (EXECUTION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Негайне виконання у синтаксисі запиту (Query Syntax)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106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Керування виконанням через круглі дужки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Природа Query Syntax: </a:t>
            </a:r>
            <a:r>
              <a:rPr sz="1150">
                <a:solidFill>
                  <a:srgbClr val="334155"/>
                </a:solidFill>
                <a:latin typeface="Calibri"/>
              </a:rPr>
              <a:t>Синтаксис запиту (from ... select) за замовчуванням ЗАВЖДИ є відкладеним (повертає IEnumerable).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Прийом обгортання: </a:t>
            </a:r>
            <a:r>
              <a:rPr sz="1150">
                <a:solidFill>
                  <a:srgbClr val="334155"/>
                </a:solidFill>
                <a:latin typeface="Calibri"/>
              </a:rPr>
              <a:t>Щоб виконати такий запит негайно, весь вираз береться в круглі дужки і викликається оператор матеріалізації: (...) .ToList().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Перегляд у Debugger: </a:t>
            </a:r>
            <a:r>
              <a:rPr sz="1150">
                <a:solidFill>
                  <a:srgbClr val="334155"/>
                </a:solidFill>
                <a:latin typeface="Calibri"/>
              </a:rPr>
              <a:t>У відкладеному запиті налагоджувач показує внутрішній тип ітератора. У матеріалізованому — одразу відображає Count = 2 та масив елементів.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Матеріалізація скалярів: </a:t>
            </a:r>
            <a:r>
              <a:rPr sz="1150">
                <a:solidFill>
                  <a:srgbClr val="334155"/>
                </a:solidFill>
                <a:latin typeface="Calibri"/>
              </a:rPr>
              <a:t>Будь-який запит Query Syntax можна також обгорнути в дужки для виклику First(), Count(), Any() або ToDictionary().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Практична різниця: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Без .ToList(): запит чекає ітерації. З .ToList(): у пам'яті одразу створено готовий список із 2 студентів.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1. Відкладений синтаксис запиту: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var deferredQuery = from s in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                where s.Age &gt; 12 &amp;&amp; s.Age &lt; 20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                select s;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2. Негайне виконання через круглі дужки: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IList&lt;Student&gt; teenAgerStudents = (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from s in studentList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where s.Age &gt; 12 &amp;&amp; s.Age &lt; 20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8BDF8"/>
                </a:solidFill>
                <a:latin typeface="Consolas"/>
              </a:rPr>
              <a:t>    select s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).ToList();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endParaRPr sz="105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QuickWatch / Debugger View: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teenAgerStudents.Count = 2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[0] = {StudentID = 1, StudentName = "John"}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1050">
                <a:solidFill>
                  <a:srgbClr val="34D399"/>
                </a:solidFill>
                <a:latin typeface="Consolas"/>
              </a:rPr>
              <a:t>// [1] = {StudentID = 3, StudentName = "Bill"}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📌 Патерн для команди: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Обгортання запиту в дужки з викликом .ToList() або .ToArray() є загальноприйнятим стандартом у комерційній розробці на C#.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4008729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18 · КЛЮЧОВІ СЛОВА ЗАПИТІВ (QUERY KEYWORDS)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Ключове слово let: Оголошення проміжних змінних у запиті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107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Оптимізація та читабельність LINQ запитів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Проблема без let: </a:t>
            </a:r>
            <a:r>
              <a:rPr sz="1150">
                <a:solidFill>
                  <a:srgbClr val="334155"/>
                </a:solidFill>
                <a:latin typeface="Calibri"/>
              </a:rPr>
              <a:t>Якщо потрібно використовувати один і той самий вираз (наприклад, s.StudentName.ToLower()) у where та select, його доводиться писати двічі.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let: </a:t>
            </a:r>
            <a:r>
              <a:rPr sz="1150">
                <a:solidFill>
                  <a:srgbClr val="334155"/>
                </a:solidFill>
                <a:latin typeface="Calibri"/>
              </a:rPr>
              <a:t>Ключове слово let вводить нову змінну в запиті та зберігає в ній проміжний результат обчислення.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Прозорий ідентифікатор: </a:t>
            </a:r>
            <a:r>
              <a:rPr sz="1150">
                <a:solidFill>
                  <a:srgbClr val="334155"/>
                </a:solidFill>
                <a:latin typeface="Calibri"/>
              </a:rPr>
              <a:t>Компілятор C# створює анонімний тип (Transparent Identifier), що містить вихідний об'єкт та нову змінну.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Підвищення продуктивності: </a:t>
            </a:r>
            <a:r>
              <a:rPr sz="1150">
                <a:solidFill>
                  <a:srgbClr val="334155"/>
                </a:solidFill>
                <a:latin typeface="Calibri"/>
              </a:rPr>
              <a:t>Метод ToLower() викликається лише один раз для кожного запису замість двох чи більше разів.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Результат виконання: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Вибірка містить імена в нижньому регістрі: 'ram', 'ron'.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БЕЗ LET: ToLower() викликається двічі для кожного студента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badQuery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where s.StudentName.ToLower().StartsWith("r")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           select s.StudentName.ToLower();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З LET: обчислюємо один раз і повторно використовуємо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lowercaseStudentNames =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let lowercaseName = s.StudentName.ToLower()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where lowercaseName.StartsWith("r")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select lowercaseName;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name in lowercaseStudentNames)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Console.WriteLine(name);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ram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ron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💡 Best Practice: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Використовуйте let для збереження складних математичних формул, викликів методів та розбору рядків усередині запиту.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4008729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18 · КЛЮЧОВІ СЛОВА ЗАПИТІВ (QUERY KEYWORDS)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Ключове слово into: Продовження запиту (Query Continuation)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ООП · ЛЕКЦІЯ №10 · LINQ У C# ТА .NET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108 / 108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5010912" cy="2651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defRPr sz="1700" b="1">
                <a:solidFill>
                  <a:srgbClr val="4F46E5"/>
                </a:solidFill>
                <a:latin typeface="Calibri"/>
              </a:defRPr>
            </a:pPr>
            <a:r>
              <a:t>Конвеєризація запиту після select або group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Призначення into: </a:t>
            </a:r>
            <a:r>
              <a:rPr sz="1150">
                <a:solidFill>
                  <a:srgbClr val="334155"/>
                </a:solidFill>
                <a:latin typeface="Calibri"/>
              </a:rPr>
              <a:t>Дозволяє продовжити виконання запиту після секцій select, group by або join, створюючи новий ідентифікатор діапазону.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Область видимості: </a:t>
            </a:r>
            <a:r>
              <a:rPr sz="1150">
                <a:solidFill>
                  <a:srgbClr val="334155"/>
                </a:solidFill>
                <a:latin typeface="Calibri"/>
              </a:rPr>
              <a:t>Увага! Після ключового слова into попередня змінна діапазону (s) виходить з області видимості і більше недоступна!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Багаторівнева фільтрація: </a:t>
            </a:r>
            <a:r>
              <a:rPr sz="1150">
                <a:solidFill>
                  <a:srgbClr val="334155"/>
                </a:solidFill>
                <a:latin typeface="Calibri"/>
              </a:rPr>
              <a:t>У наведеному прикладі ми спочатку вибираємо підлітків, а потім продовжуємо фільтрацію за першою літерою імені ('B').</a:t>
            </a:r>
          </a:p>
          <a:p>
            <a:pPr>
              <a:lnSpc>
                <a:spcPct val="110000"/>
              </a:lnSpc>
              <a:spcBef>
                <a:spcPts val="35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• Завершення курсу LINQ: </a:t>
            </a:r>
            <a:r>
              <a:rPr sz="1150">
                <a:solidFill>
                  <a:srgbClr val="334155"/>
                </a:solidFill>
                <a:latin typeface="Calibri"/>
              </a:rPr>
              <a:t>Повне поєднання Query та Method синтаксису дає найпотужніший інструмент роботи з даними у .NET 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06240"/>
            <a:ext cx="50109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Фінальний результат запиту: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Повертається студент Bill, який пройшов обидва етапи фільтрації.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5010912" cy="3739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4D399"/>
                </a:solidFill>
                <a:latin typeface="Consolas"/>
              </a:rPr>
              <a:t>// Продовження запиту після select за допомогою 'into'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var teenAgerStudents = 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from s in studentList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where s.Age &gt; 12 &amp;&amp; s.Age &lt; 20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select 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into teenStudents // 's' більше недоступна, працюємо з teenStudents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where teenStudents.StudentName.StartsWith("B")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    select teenStudents;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38BDF8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Console.WriteLine("--- Студенти після into-фільтрації ---");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foreach (var teen in teenAgerStudents)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Console.WriteLine($"ID: {teen.StudentID}, Name: {teen.StudentName}, Age: {teen.Age}");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endParaRPr sz="100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Output:</a:t>
            </a:r>
          </a:p>
          <a:p>
            <a:pPr>
              <a:lnSpc>
                <a:spcPct val="108000"/>
              </a:lnSpc>
              <a:spcAft>
                <a:spcPts val="50"/>
              </a:spcAft>
            </a:pPr>
            <a:r>
              <a:rPr sz="1000">
                <a:solidFill>
                  <a:srgbClr val="FBBF24"/>
                </a:solidFill>
                <a:latin typeface="Consolas"/>
              </a:rPr>
              <a:t>-&gt; ID: 3, Name: Bill, Age: 18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8BDF8"/>
                </a:solidFill>
                <a:latin typeface="Consolas"/>
              </a:rPr>
              <a:t>📍 Program.cs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🎓 Вітаємо із завершенням курсу!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Ви опанували всі 18 ключових тем LINQ: від базової архітектури та лямбд до складних реляційних з'єднань, секціонування та оптимізації виконання!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31327</Words>
  <Application>Microsoft Office PowerPoint</Application>
  <PresentationFormat>Широкоэкранный</PresentationFormat>
  <Paragraphs>3419</Paragraphs>
  <Slides>127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127</vt:i4>
      </vt:variant>
    </vt:vector>
  </HeadingPairs>
  <TitlesOfParts>
    <vt:vector size="13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Yuriy Tomka</cp:lastModifiedBy>
  <cp:revision>3</cp:revision>
  <dcterms:created xsi:type="dcterms:W3CDTF">2013-01-27T09:14:16Z</dcterms:created>
  <dcterms:modified xsi:type="dcterms:W3CDTF">2026-10-06T08:26:03Z</dcterms:modified>
  <cp:category/>
</cp:coreProperties>
</file>