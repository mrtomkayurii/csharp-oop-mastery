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1" r:id="rId2"/>
    <p:sldId id="333" r:id="rId3"/>
    <p:sldId id="312" r:id="rId4"/>
    <p:sldId id="313" r:id="rId5"/>
    <p:sldId id="314" r:id="rId6"/>
    <p:sldId id="315" r:id="rId7"/>
    <p:sldId id="316" r:id="rId8"/>
    <p:sldId id="317" r:id="rId9"/>
    <p:sldId id="318" r:id="rId10"/>
    <p:sldId id="319" r:id="rId11"/>
    <p:sldId id="320" r:id="rId12"/>
    <p:sldId id="321" r:id="rId13"/>
    <p:sldId id="322" r:id="rId14"/>
    <p:sldId id="323" r:id="rId15"/>
    <p:sldId id="324" r:id="rId16"/>
    <p:sldId id="325" r:id="rId17"/>
    <p:sldId id="326" r:id="rId18"/>
    <p:sldId id="328" r:id="rId19"/>
    <p:sldId id="329" r:id="rId20"/>
    <p:sldId id="330" r:id="rId21"/>
    <p:sldId id="331" r:id="rId22"/>
    <p:sldId id="327" r:id="rId23"/>
    <p:sldId id="332" r:id="rId24"/>
    <p:sldId id="338" r:id="rId25"/>
    <p:sldId id="306" r:id="rId26"/>
    <p:sldId id="256" r:id="rId27"/>
    <p:sldId id="257" r:id="rId28"/>
    <p:sldId id="334" r:id="rId29"/>
    <p:sldId id="335" r:id="rId30"/>
    <p:sldId id="336" r:id="rId31"/>
    <p:sldId id="340" r:id="rId32"/>
    <p:sldId id="337" r:id="rId33"/>
    <p:sldId id="342" r:id="rId34"/>
    <p:sldId id="344" r:id="rId35"/>
    <p:sldId id="345" r:id="rId36"/>
    <p:sldId id="346" r:id="rId37"/>
    <p:sldId id="347" r:id="rId38"/>
    <p:sldId id="348" r:id="rId39"/>
    <p:sldId id="349" r:id="rId40"/>
    <p:sldId id="350" r:id="rId41"/>
    <p:sldId id="351" r:id="rId42"/>
    <p:sldId id="352" r:id="rId43"/>
    <p:sldId id="353" r:id="rId44"/>
    <p:sldId id="354" r:id="rId45"/>
    <p:sldId id="357" r:id="rId46"/>
    <p:sldId id="339" r:id="rId47"/>
    <p:sldId id="258" r:id="rId48"/>
    <p:sldId id="259" r:id="rId49"/>
    <p:sldId id="260" r:id="rId50"/>
    <p:sldId id="261" r:id="rId51"/>
    <p:sldId id="262" r:id="rId52"/>
    <p:sldId id="263" r:id="rId53"/>
    <p:sldId id="264" r:id="rId54"/>
    <p:sldId id="265" r:id="rId55"/>
    <p:sldId id="266" r:id="rId56"/>
    <p:sldId id="267" r:id="rId57"/>
    <p:sldId id="268" r:id="rId58"/>
    <p:sldId id="269" r:id="rId59"/>
    <p:sldId id="270" r:id="rId60"/>
    <p:sldId id="271" r:id="rId61"/>
    <p:sldId id="272" r:id="rId62"/>
    <p:sldId id="273" r:id="rId63"/>
    <p:sldId id="274" r:id="rId64"/>
    <p:sldId id="275" r:id="rId65"/>
    <p:sldId id="276" r:id="rId66"/>
    <p:sldId id="277" r:id="rId67"/>
    <p:sldId id="280" r:id="rId68"/>
    <p:sldId id="278" r:id="rId69"/>
    <p:sldId id="281" r:id="rId70"/>
    <p:sldId id="302" r:id="rId71"/>
    <p:sldId id="279" r:id="rId72"/>
    <p:sldId id="283" r:id="rId73"/>
    <p:sldId id="284" r:id="rId74"/>
    <p:sldId id="285" r:id="rId75"/>
    <p:sldId id="286" r:id="rId76"/>
    <p:sldId id="287" r:id="rId77"/>
    <p:sldId id="288" r:id="rId78"/>
    <p:sldId id="309" r:id="rId79"/>
    <p:sldId id="308" r:id="rId80"/>
    <p:sldId id="359" r:id="rId81"/>
    <p:sldId id="289" r:id="rId82"/>
    <p:sldId id="290" r:id="rId83"/>
    <p:sldId id="292" r:id="rId84"/>
    <p:sldId id="291" r:id="rId85"/>
    <p:sldId id="293" r:id="rId86"/>
    <p:sldId id="294" r:id="rId87"/>
    <p:sldId id="295" r:id="rId88"/>
    <p:sldId id="358" r:id="rId89"/>
    <p:sldId id="296" r:id="rId90"/>
    <p:sldId id="297" r:id="rId91"/>
    <p:sldId id="298" r:id="rId92"/>
    <p:sldId id="299" r:id="rId93"/>
    <p:sldId id="300" r:id="rId94"/>
    <p:sldId id="304" r:id="rId95"/>
    <p:sldId id="301" r:id="rId96"/>
    <p:sldId id="307" r:id="rId97"/>
    <p:sldId id="303" r:id="rId9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44F865-C791-4635-9099-67C1FC795CBA}" v="69" dt="2023-09-24T20:15:55.2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2" autoAdjust="0"/>
    <p:restoredTop sz="94660"/>
  </p:normalViewPr>
  <p:slideViewPr>
    <p:cSldViewPr snapToGrid="0">
      <p:cViewPr varScale="1">
        <p:scale>
          <a:sx n="86" d="100"/>
          <a:sy n="86" d="100"/>
        </p:scale>
        <p:origin x="70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023C03-C1F0-46D2-8445-73D9A57BF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9E0F3FA-2740-4E74-9E70-9660A27C6D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866927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4634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9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B74jCYZebvg" TargetMode="External"/><Relationship Id="rId2" Type="http://schemas.openxmlformats.org/officeDocument/2006/relationships/hyperlink" Target="https://dotnetfiddle.net/TfEKn9" TargetMode="Externa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hyperlink" Target="https://dotnetfiddle.net/iI4Ra8" TargetMode="External"/><Relationship Id="rId2" Type="http://schemas.openxmlformats.org/officeDocument/2006/relationships/hyperlink" Target="https://dotnetfiddle.net/4daKtz" TargetMode="Externa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8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ru-ru/dotnet/api/system.collections.icomparer?view=net-6.0" TargetMode="External"/><Relationship Id="rId2" Type="http://schemas.openxmlformats.org/officeDocument/2006/relationships/hyperlink" Target="https://dotnetfiddle.net/lefy5l" TargetMode="Externa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hyperlink" Target="https://dotnetfiddle.net/9diSHu" TargetMode="External"/><Relationship Id="rId2" Type="http://schemas.openxmlformats.org/officeDocument/2006/relationships/hyperlink" Target="https://learn.microsoft.com/ru-ru/dotnet/api/system.icomparable-1?view=net-6.0#code-try-2" TargetMode="Externa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-sharpcorner.com/article/icomparable-vs-icomparer-interface-in-c-sharp/" TargetMode="External"/><Relationship Id="rId2" Type="http://schemas.openxmlformats.org/officeDocument/2006/relationships/hyperlink" Target="https://dev.to/digionix/icomparable-vs-icomparer-274f" TargetMode="Externa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06429F-2FA8-9E2C-28F8-253DD54F3139}"/>
              </a:ext>
            </a:extLst>
          </p:cNvPr>
          <p:cNvSpPr txBox="1"/>
          <p:nvPr/>
        </p:nvSpPr>
        <p:spPr>
          <a:xfrm>
            <a:off x="345623" y="1651383"/>
            <a:ext cx="60945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dirty="0">
                <a:solidFill>
                  <a:srgbClr val="FF0000"/>
                </a:solidFill>
                <a:latin typeface="agave Nerd Font" panose="020B0509020404030204" pitchFamily="49" charset="0"/>
              </a:rPr>
              <a:t>Тема 5</a:t>
            </a:r>
            <a:endParaRPr lang="en-US" sz="4800" dirty="0">
              <a:solidFill>
                <a:srgbClr val="FF0000"/>
              </a:solidFill>
              <a:latin typeface="agave Nerd Font" panose="020B0509020404030204" pitchFamily="49" charset="0"/>
            </a:endParaRPr>
          </a:p>
          <a:p>
            <a:r>
              <a:rPr lang="ru-RU" sz="4800" dirty="0">
                <a:solidFill>
                  <a:srgbClr val="FF0000"/>
                </a:solidFill>
                <a:latin typeface="agave Nerd Font" panose="020B0509020404030204" pitchFamily="49" charset="0"/>
              </a:rPr>
              <a:t> </a:t>
            </a:r>
            <a:endParaRPr lang="en-US" sz="4800" dirty="0">
              <a:solidFill>
                <a:srgbClr val="FF0000"/>
              </a:solidFill>
              <a:latin typeface="agave Nerd Font" panose="020B0509020404030204" pitchFamily="49" charset="0"/>
            </a:endParaRPr>
          </a:p>
          <a:p>
            <a:r>
              <a:rPr lang="ru-RU" sz="4800" dirty="0" err="1">
                <a:solidFill>
                  <a:srgbClr val="FF0000"/>
                </a:solidFill>
                <a:latin typeface="agave Nerd Font" panose="020B0509020404030204" pitchFamily="49" charset="0"/>
              </a:rPr>
              <a:t>Інтерфейси</a:t>
            </a:r>
            <a:endParaRPr lang="ru-RU" sz="4800" dirty="0">
              <a:solidFill>
                <a:srgbClr val="FF0000"/>
              </a:solidFill>
              <a:latin typeface="agave Nerd Font" panose="020B05090204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92F2E0-633C-F4E7-A0B1-5C4D4DC7DD9A}"/>
              </a:ext>
            </a:extLst>
          </p:cNvPr>
          <p:cNvSpPr txBox="1"/>
          <p:nvPr/>
        </p:nvSpPr>
        <p:spPr>
          <a:xfrm>
            <a:off x="8925050" y="4606038"/>
            <a:ext cx="29213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ЛЕКЦ</a:t>
            </a:r>
            <a:r>
              <a:rPr lang="uk-UA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ІЯ </a:t>
            </a:r>
            <a:r>
              <a:rPr lang="en-US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5</a:t>
            </a:r>
            <a:endParaRPr lang="ru-RU" sz="4800" dirty="0">
              <a:solidFill>
                <a:schemeClr val="accent1">
                  <a:lumMod val="60000"/>
                  <a:lumOff val="40000"/>
                </a:schemeClr>
              </a:solidFill>
              <a:latin typeface="agave Nerd Font" panose="020B05090204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354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C32E53-9FC5-111D-7EE1-B4A3A0881D7B}"/>
              </a:ext>
            </a:extLst>
          </p:cNvPr>
          <p:cNvSpPr txBox="1"/>
          <p:nvPr/>
        </p:nvSpPr>
        <p:spPr>
          <a:xfrm>
            <a:off x="1007919" y="2026227"/>
            <a:ext cx="56430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ВСТУП</a:t>
            </a:r>
          </a:p>
          <a:p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(ТЕОР</a:t>
            </a:r>
            <a:r>
              <a:rPr lang="uk-UA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ІЯ ПО ІНТЕРФЕЙСАМ</a:t>
            </a:r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4566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B7D00B8-5702-2C80-B7CD-8C8B27A22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784" y="1722268"/>
            <a:ext cx="5433650" cy="32298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9E177C-1F3B-27BE-F67A-39590AE4F831}"/>
              </a:ext>
            </a:extLst>
          </p:cNvPr>
          <p:cNvSpPr txBox="1"/>
          <p:nvPr/>
        </p:nvSpPr>
        <p:spPr>
          <a:xfrm>
            <a:off x="366204" y="707422"/>
            <a:ext cx="522672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80340" algn="just"/>
            <a:r>
              <a:rPr lang="uk-UA" sz="1800" b="1" dirty="0">
                <a:effectLst/>
                <a:latin typeface="Garamond" panose="020204040303010108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Визначення інтерфейсу</a:t>
            </a:r>
            <a:endParaRPr lang="ru-RU" sz="1800" b="1" dirty="0">
              <a:effectLst/>
              <a:latin typeface="Garamond" panose="020204040303010108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80340" algn="just"/>
            <a:r>
              <a:rPr lang="uk-UA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Для визначення інтерфейсу використовується ключове слово </a:t>
            </a:r>
            <a:r>
              <a:rPr lang="uk-UA" sz="1800" b="1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interface</a:t>
            </a:r>
            <a:r>
              <a:rPr lang="uk-UA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. Як правило, назви інтерфейсів у C# починаються з головної букви</a:t>
            </a:r>
            <a:r>
              <a:rPr lang="uk-UA" sz="1800" b="1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I</a:t>
            </a:r>
            <a:r>
              <a:rPr lang="uk-UA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, наприклад, </a:t>
            </a:r>
            <a:r>
              <a:rPr lang="uk-UA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IComparable</a:t>
            </a:r>
            <a:r>
              <a:rPr lang="uk-UA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uk-UA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IEnumerable</a:t>
            </a:r>
            <a:r>
              <a:rPr lang="uk-UA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(так звана </a:t>
            </a:r>
            <a:r>
              <a:rPr lang="uk-UA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венгерська</a:t>
            </a:r>
            <a:r>
              <a:rPr lang="uk-UA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нотація), однак це не обов’язкове вимога, а більший стиль програмування.</a:t>
            </a:r>
            <a:endParaRPr lang="ru-RU" sz="1800" dirty="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180340" algn="just"/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Що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може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визначити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інтерфейс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 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Загалом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інтерфейси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можуть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визначати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такі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сутності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Методи</a:t>
            </a:r>
            <a:endParaRPr lang="ru-RU" sz="1800" dirty="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Властивості</a:t>
            </a:r>
            <a:endParaRPr lang="ru-RU" sz="1800" dirty="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Індексатори</a:t>
            </a:r>
            <a:endParaRPr lang="ru-RU" sz="1800" dirty="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Події</a:t>
            </a:r>
            <a:endParaRPr lang="ru-RU" sz="1800" dirty="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Статичні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поля та 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константи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починаючи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з 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версії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C# 8.0)</a:t>
            </a:r>
          </a:p>
          <a:p>
            <a:pPr indent="180340" algn="just"/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Проте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інтерфейси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що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неспроможні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визначати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нестатичні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змінні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 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Наприклад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найпростіший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інтерфейс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який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визначає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всі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ці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компоненти</a:t>
            </a:r>
            <a:r>
              <a:rPr lang="ru-RU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343368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3BF3CF9-F5A7-32F4-263A-75A032ED5CC3}"/>
              </a:ext>
            </a:extLst>
          </p:cNvPr>
          <p:cNvSpPr txBox="1"/>
          <p:nvPr/>
        </p:nvSpPr>
        <p:spPr>
          <a:xfrm>
            <a:off x="1044335" y="639139"/>
            <a:ext cx="1043126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80340" algn="just"/>
            <a:r>
              <a:rPr lang="uk-UA" sz="1800" b="1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Модифікатори доступу</a:t>
            </a:r>
            <a:endParaRPr lang="ru-RU" sz="1800" dirty="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180340" algn="just"/>
            <a:r>
              <a:rPr lang="uk-UA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Ще один момент в оголошенні інтерфейсу: якщо його члени - методи та властивості не мають модифікаторів доступу, то фактично за умовчанням доступ public , оскільки мета інтерфейсу - визначення функціоналу для реалізації його класом. Це стосується також констант і статичних змінних, які в класах і структурах за замовчуванням мають модифікатор private. В інтерфейсах вони мають за замовчуванням модифікатор public. І наприклад, ми могли б звернутися до константи </a:t>
            </a:r>
            <a:r>
              <a:rPr lang="uk-UA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minSpeed</a:t>
            </a:r>
            <a:r>
              <a:rPr lang="uk-UA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​​</a:t>
            </a:r>
            <a:r>
              <a:rPr lang="uk-UA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Garamond" panose="02020404030301010803" pitchFamily="18" charset="0"/>
              </a:rPr>
              <a:t>та</a:t>
            </a:r>
            <a:r>
              <a:rPr lang="uk-UA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Garamond" panose="02020404030301010803" pitchFamily="18" charset="0"/>
              </a:rPr>
              <a:t>змінної</a:t>
            </a:r>
            <a:r>
              <a:rPr lang="uk-UA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maxSpeed</a:t>
            </a:r>
            <a:r>
              <a:rPr lang="uk-UA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​​</a:t>
            </a:r>
            <a:r>
              <a:rPr lang="uk-UA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Garamond" panose="02020404030301010803" pitchFamily="18" charset="0"/>
              </a:rPr>
              <a:t>інтерфейсу</a:t>
            </a:r>
            <a:r>
              <a:rPr lang="uk-UA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uk-UA" sz="1800" dirty="0" err="1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IMovable</a:t>
            </a:r>
            <a:r>
              <a:rPr lang="uk-UA" sz="1800" dirty="0">
                <a:effectLst/>
                <a:latin typeface="Garamond" panose="02020404030301010803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ru-RU" sz="1800" dirty="0">
              <a:effectLst/>
              <a:latin typeface="Garamond" panose="02020404030301010803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6578A39-1802-3148-8FE2-9910232EA6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580" b="8241"/>
          <a:stretch/>
        </p:blipFill>
        <p:spPr>
          <a:xfrm>
            <a:off x="3235779" y="3429000"/>
            <a:ext cx="6048375" cy="93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078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3E2EB15-A39E-9485-A114-9F7B4BBF3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813" y="707014"/>
            <a:ext cx="9364374" cy="4740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631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CE0812F-6DAF-05B5-E1CD-D7452F1E2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52" y="423862"/>
            <a:ext cx="7829550" cy="601027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446250A-0D0F-09C2-5587-98F23943D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441" y="2576080"/>
            <a:ext cx="6523185" cy="2629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089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535B458-3F5D-4C17-496E-A3BB58F1F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7067" y="0"/>
            <a:ext cx="71692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909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DD63DA1-9A0A-1E8E-2E73-A9FCB09CC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42" y="104342"/>
            <a:ext cx="6981825" cy="286702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A8D8B65-81A7-9508-F5CC-CEB69AEB6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9650" y="1465552"/>
            <a:ext cx="7163749" cy="484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084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B5CC075-7D85-BC04-15D8-94564EF77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178" y="0"/>
            <a:ext cx="9323677" cy="684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383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15D2597-B8BB-976E-E694-ACFFB2180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469" y="0"/>
            <a:ext cx="8007495" cy="6468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075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42D35C1-22FF-77A9-DEB0-D381FDF79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36" y="0"/>
            <a:ext cx="7258050" cy="38862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9A67085-C78B-3058-8E3C-8442CFD36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864" y="2655949"/>
            <a:ext cx="6321136" cy="4202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399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FF5CA84-8693-E623-9903-3EDEFDEAB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925" y="130876"/>
            <a:ext cx="10122477" cy="6727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103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F24888C-2732-3A3B-D5DE-8520937FE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02" y="779750"/>
            <a:ext cx="10369132" cy="491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5378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C176B34-9058-1726-326B-0FA7F8449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777" y="634277"/>
            <a:ext cx="10397406" cy="5402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521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5C3047-ED19-4D15-ABB1-BD81BE7A0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127" y="613063"/>
            <a:ext cx="10077018" cy="5372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9262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AB5984-56EA-9610-A9D0-DA08BCDC7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656" y="1128712"/>
            <a:ext cx="9188580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8334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62D8878-48CE-490F-885A-5EC270CF2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544" y="423823"/>
            <a:ext cx="8264237" cy="6010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4262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EBAE0F9-3F12-E6C6-8DDB-1A2813DB4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0" y="0"/>
            <a:ext cx="9265595" cy="6858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D869A34-561C-9175-D7BB-D48D458DA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218" y="3176587"/>
            <a:ext cx="5902782" cy="135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5165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C5F1F04-BCDF-936A-4BE0-76E7BD9839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67"/>
          <a:stretch/>
        </p:blipFill>
        <p:spPr>
          <a:xfrm>
            <a:off x="0" y="-1"/>
            <a:ext cx="8582891" cy="425943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1FB31AF-A1B3-3139-30CB-E5ACB76D7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2087" y="4062845"/>
            <a:ext cx="9939913" cy="2795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3328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29A0BD1-6664-5BC3-60FC-440F52600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519"/>
            <a:ext cx="7863336" cy="390958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745DD15-F677-B1EC-8603-7612F80869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310"/>
          <a:stretch/>
        </p:blipFill>
        <p:spPr>
          <a:xfrm>
            <a:off x="5086062" y="3834245"/>
            <a:ext cx="6982979" cy="3023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1421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05A1221-2E6F-04F4-89D4-E59C29D0B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867" y="72737"/>
            <a:ext cx="9829367" cy="6463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602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5F03DC4-7D12-5E56-254E-392A9A65E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530" y="230763"/>
            <a:ext cx="9842198" cy="604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3932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3AF2918-7D87-C323-EAC3-7AB098AF8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8136082" cy="344730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F7EBFD5-84C4-C92B-1B41-548DEFD3E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4203" y="3283527"/>
            <a:ext cx="8579160" cy="363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5467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C32E53-9FC5-111D-7EE1-B4A3A0881D7B}"/>
              </a:ext>
            </a:extLst>
          </p:cNvPr>
          <p:cNvSpPr txBox="1"/>
          <p:nvPr/>
        </p:nvSpPr>
        <p:spPr>
          <a:xfrm>
            <a:off x="758537" y="1536174"/>
            <a:ext cx="564300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ВСТУП</a:t>
            </a:r>
          </a:p>
          <a:p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(</a:t>
            </a:r>
            <a:r>
              <a:rPr lang="uk-UA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Систематизація </a:t>
            </a:r>
            <a:r>
              <a:rPr lang="en-US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/</a:t>
            </a:r>
            <a:r>
              <a:rPr lang="uk-UA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 закріплення</a:t>
            </a:r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)</a:t>
            </a:r>
            <a:endParaRPr lang="en-US" sz="4800" dirty="0">
              <a:solidFill>
                <a:schemeClr val="accent1">
                  <a:lumMod val="60000"/>
                  <a:lumOff val="40000"/>
                </a:schemeClr>
              </a:solidFill>
              <a:latin typeface="agave Nerd Font" panose="020B0509020404030204" pitchFamily="49" charset="0"/>
            </a:endParaRPr>
          </a:p>
          <a:p>
            <a:endParaRPr lang="en-US" sz="4800" dirty="0">
              <a:solidFill>
                <a:schemeClr val="accent1">
                  <a:lumMod val="60000"/>
                  <a:lumOff val="40000"/>
                </a:schemeClr>
              </a:solidFill>
              <a:latin typeface="agave Nerd Font" panose="020B0509020404030204" pitchFamily="49" charset="0"/>
            </a:endParaRPr>
          </a:p>
          <a:p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До 7.0 </a:t>
            </a:r>
            <a:r>
              <a:rPr lang="ru-RU" sz="48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включно</a:t>
            </a:r>
            <a:endParaRPr lang="ru-RU" sz="4800" dirty="0">
              <a:solidFill>
                <a:schemeClr val="accent1">
                  <a:lumMod val="60000"/>
                  <a:lumOff val="40000"/>
                </a:schemeClr>
              </a:solidFill>
              <a:latin typeface="agave Nerd Font" panose="020B05090204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88741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C8308B3-2282-45B6-BECB-18D0D0E22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262" y="0"/>
            <a:ext cx="6945478" cy="6807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3897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990D0DA-D796-4482-9654-567C82D80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973" y="0"/>
            <a:ext cx="8693906" cy="6791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2361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9D27B44-6C4B-479B-9AC1-AC02A5377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66" y="0"/>
            <a:ext cx="6992295" cy="6858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F65509E-F3F1-4FAD-B0A3-4B7771F1D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79" y="2624570"/>
            <a:ext cx="3289494" cy="112447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04FE47E-E6C9-40D0-AFFF-126F4E3A2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2940" y="2707697"/>
            <a:ext cx="3289494" cy="112447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7DC897-43D2-AA85-88B7-258552651FDB}"/>
              </a:ext>
            </a:extLst>
          </p:cNvPr>
          <p:cNvSpPr txBox="1"/>
          <p:nvPr/>
        </p:nvSpPr>
        <p:spPr>
          <a:xfrm rot="16200000">
            <a:off x="-2408245" y="313661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agave Nerd Font Mono" panose="020B0509020404030204" pitchFamily="49" charset="0"/>
              </a:rPr>
              <a:t>DEMO -&gt; example p</a:t>
            </a:r>
            <a:r>
              <a:rPr lang="uk-UA" sz="3200" dirty="0">
                <a:solidFill>
                  <a:srgbClr val="FF0000"/>
                </a:solidFill>
                <a:latin typeface="agave Nerd Font Mono" panose="020B0509020404030204" pitchFamily="49" charset="0"/>
              </a:rPr>
              <a:t>389</a:t>
            </a:r>
            <a:endParaRPr lang="ru-RU" sz="3200" dirty="0">
              <a:solidFill>
                <a:srgbClr val="FF0000"/>
              </a:solidFill>
              <a:latin typeface="agave Nerd Font Mono" panose="020B05090204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2376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74BF4D2-17B3-0562-3FA7-FF0D6F9E6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206" y="0"/>
            <a:ext cx="10736840" cy="6278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5884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5D31A08-39BA-4B53-A2EF-7C8E550D1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340" y="515760"/>
            <a:ext cx="10033723" cy="582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9969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A445013-FCBD-9E7A-5AD5-617E883B9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06" y="1144200"/>
            <a:ext cx="10779787" cy="5283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4669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DA4EB1-5F82-430B-3C49-6CD2B3CBF0C3}"/>
              </a:ext>
            </a:extLst>
          </p:cNvPr>
          <p:cNvSpPr txBox="1"/>
          <p:nvPr/>
        </p:nvSpPr>
        <p:spPr>
          <a:xfrm rot="16200000">
            <a:off x="-2263170" y="2644170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agave Nerd Font Mono" panose="020B0509020404030204" pitchFamily="49" charset="0"/>
              </a:rPr>
              <a:t>DEMO -&gt; example p</a:t>
            </a:r>
            <a:r>
              <a:rPr lang="uk-UA" sz="3200" dirty="0">
                <a:solidFill>
                  <a:srgbClr val="FF0000"/>
                </a:solidFill>
                <a:latin typeface="agave Nerd Font Mono" panose="020B0509020404030204" pitchFamily="49" charset="0"/>
              </a:rPr>
              <a:t>39</a:t>
            </a:r>
            <a:r>
              <a:rPr lang="en-US" sz="3200" dirty="0">
                <a:solidFill>
                  <a:srgbClr val="FF0000"/>
                </a:solidFill>
                <a:latin typeface="agave Nerd Font Mono" panose="020B0509020404030204" pitchFamily="49" charset="0"/>
              </a:rPr>
              <a:t>0</a:t>
            </a:r>
          </a:p>
          <a:p>
            <a:pPr algn="ctr"/>
            <a:r>
              <a:rPr lang="en-US" sz="3200" dirty="0" err="1">
                <a:solidFill>
                  <a:srgbClr val="FF0000"/>
                </a:solidFill>
                <a:latin typeface="agave Nerd Font Mono" panose="020B0509020404030204" pitchFamily="49" charset="0"/>
              </a:rPr>
              <a:t>IComparable</a:t>
            </a:r>
            <a:endParaRPr lang="en-US" sz="3200" dirty="0">
              <a:solidFill>
                <a:srgbClr val="FF0000"/>
              </a:solidFill>
              <a:latin typeface="agave Nerd Font Mono" panose="020B0509020404030204" pitchFamily="49" charset="0"/>
            </a:endParaRPr>
          </a:p>
          <a:p>
            <a:pPr algn="ctr"/>
            <a:endParaRPr lang="ru-RU" sz="3200" dirty="0">
              <a:solidFill>
                <a:srgbClr val="FF0000"/>
              </a:solidFill>
              <a:latin typeface="agave Nerd Font Mono" panose="020B0509020404030204" pitchFamily="49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CFD95E1-BA31-2359-EF5B-24AFA6222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99" y="2916315"/>
            <a:ext cx="8156874" cy="394168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7847E4B-42E1-431E-4330-CD510FD7C4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829" y="176605"/>
            <a:ext cx="8044677" cy="152310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DC7FBDF-BB54-23FE-4C62-F6254657C3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8011" y="1951953"/>
            <a:ext cx="6052521" cy="1815756"/>
          </a:xfrm>
          <a:prstGeom prst="rect">
            <a:avLst/>
          </a:prstGeom>
        </p:spPr>
      </p:pic>
      <p:sp>
        <p:nvSpPr>
          <p:cNvPr id="11" name="Стрелка: изогнутая вверх 10">
            <a:extLst>
              <a:ext uri="{FF2B5EF4-FFF2-40B4-BE49-F238E27FC236}">
                <a16:creationId xmlns:a16="http://schemas.microsoft.com/office/drawing/2014/main" id="{3B58E73B-8053-D2D0-A24A-F424A086C2F4}"/>
              </a:ext>
            </a:extLst>
          </p:cNvPr>
          <p:cNvSpPr/>
          <p:nvPr/>
        </p:nvSpPr>
        <p:spPr>
          <a:xfrm rot="10800000" flipH="1">
            <a:off x="8452205" y="742118"/>
            <a:ext cx="1162131" cy="68580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81859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136233-B4F9-5140-BB17-36BC149AB37C}"/>
              </a:ext>
            </a:extLst>
          </p:cNvPr>
          <p:cNvSpPr txBox="1"/>
          <p:nvPr/>
        </p:nvSpPr>
        <p:spPr>
          <a:xfrm rot="16200000">
            <a:off x="-2263170" y="2644170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>
                <a:solidFill>
                  <a:srgbClr val="FF0000"/>
                </a:solidFill>
                <a:latin typeface="agave Nerd Font Mono" panose="020B0509020404030204" pitchFamily="49" charset="0"/>
              </a:rPr>
              <a:t>DEMO -&gt; example p393</a:t>
            </a:r>
          </a:p>
          <a:p>
            <a:pPr algn="ctr"/>
            <a:r>
              <a:rPr lang="en-US" sz="3200">
                <a:solidFill>
                  <a:srgbClr val="FF0000"/>
                </a:solidFill>
                <a:latin typeface="agave Nerd Font Mono" panose="020B0509020404030204" pitchFamily="49" charset="0"/>
              </a:rPr>
              <a:t>IComparable</a:t>
            </a:r>
          </a:p>
          <a:p>
            <a:pPr algn="ctr"/>
            <a:endParaRPr lang="ru-RU" sz="3200" dirty="0">
              <a:solidFill>
                <a:srgbClr val="FF0000"/>
              </a:solidFill>
              <a:latin typeface="agave Nerd Font Mono" panose="020B0509020404030204" pitchFamily="49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B0BC78D-731F-17CF-0A03-E7F2E2BC6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324" y="247650"/>
            <a:ext cx="5781675" cy="63627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97FBB71-1A29-746C-7462-D442E739B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839" y="5181600"/>
            <a:ext cx="3324225" cy="12954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83F75F2-9300-8562-CED8-138B9A02B9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7298" y="1775011"/>
            <a:ext cx="6438899" cy="209774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A5A451D-D369-71C1-1FF8-B425C93E52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203" y="1775010"/>
            <a:ext cx="6438899" cy="2097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2943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0047D24-C52B-E775-11B4-C8A7C351F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328" y="0"/>
            <a:ext cx="90173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8708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C754794-2A0A-445B-6661-56042AA77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287" y="176212"/>
            <a:ext cx="8353425" cy="65055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9160E4-F27D-F8AD-54CD-6E15F518F41B}"/>
              </a:ext>
            </a:extLst>
          </p:cNvPr>
          <p:cNvSpPr txBox="1"/>
          <p:nvPr/>
        </p:nvSpPr>
        <p:spPr>
          <a:xfrm rot="16200000">
            <a:off x="-2263170" y="2890391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agave Nerd Font Mono" panose="020B0509020404030204" pitchFamily="49" charset="0"/>
              </a:rPr>
              <a:t>DEMO -&gt; example p</a:t>
            </a:r>
            <a:r>
              <a:rPr lang="uk-UA" sz="3200" dirty="0">
                <a:solidFill>
                  <a:srgbClr val="FF0000"/>
                </a:solidFill>
                <a:latin typeface="agave Nerd Font Mono" panose="020B0509020404030204" pitchFamily="49" charset="0"/>
              </a:rPr>
              <a:t>39</a:t>
            </a:r>
            <a:r>
              <a:rPr lang="en-US" sz="3200" dirty="0">
                <a:solidFill>
                  <a:srgbClr val="FF0000"/>
                </a:solidFill>
                <a:latin typeface="agave Nerd Font Mono" panose="020B0509020404030204" pitchFamily="49" charset="0"/>
              </a:rPr>
              <a:t>7</a:t>
            </a:r>
          </a:p>
          <a:p>
            <a:pPr algn="ctr"/>
            <a:endParaRPr lang="ru-RU" sz="3200" dirty="0">
              <a:solidFill>
                <a:srgbClr val="FF0000"/>
              </a:solidFill>
              <a:latin typeface="agave Nerd Font Mono" panose="020B05090204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1679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360A6FD-339A-FD1A-2EE9-F482C6100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037" y="352425"/>
            <a:ext cx="8543925" cy="615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2549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DE25B55-D313-E605-0426-164E062FCE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0758"/>
          <a:stretch/>
        </p:blipFill>
        <p:spPr>
          <a:xfrm>
            <a:off x="611310" y="441613"/>
            <a:ext cx="9102298" cy="59747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9C7117-1A68-FCEA-4C5D-68E99615E8D0}"/>
              </a:ext>
            </a:extLst>
          </p:cNvPr>
          <p:cNvSpPr txBox="1"/>
          <p:nvPr/>
        </p:nvSpPr>
        <p:spPr>
          <a:xfrm rot="16200000">
            <a:off x="-2263170" y="2890391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agave Nerd Font Mono" panose="020B0509020404030204" pitchFamily="49" charset="0"/>
              </a:rPr>
              <a:t>DEMO -&gt; example p</a:t>
            </a:r>
            <a:r>
              <a:rPr lang="uk-UA" sz="3200" dirty="0">
                <a:solidFill>
                  <a:srgbClr val="FF0000"/>
                </a:solidFill>
                <a:latin typeface="agave Nerd Font Mono" panose="020B0509020404030204" pitchFamily="49" charset="0"/>
              </a:rPr>
              <a:t>39</a:t>
            </a:r>
            <a:r>
              <a:rPr lang="en-US" sz="3200" dirty="0">
                <a:solidFill>
                  <a:srgbClr val="FF0000"/>
                </a:solidFill>
                <a:latin typeface="agave Nerd Font Mono" panose="020B0509020404030204" pitchFamily="49" charset="0"/>
              </a:rPr>
              <a:t>9</a:t>
            </a:r>
          </a:p>
          <a:p>
            <a:pPr algn="ctr"/>
            <a:endParaRPr lang="ru-RU" sz="3200" dirty="0">
              <a:solidFill>
                <a:srgbClr val="FF0000"/>
              </a:solidFill>
              <a:latin typeface="agave Nerd Font Mono" panose="020B0509020404030204" pitchFamily="49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869F36E-2150-9803-D199-0D56EEF617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3561" r="16816"/>
          <a:stretch/>
        </p:blipFill>
        <p:spPr>
          <a:xfrm>
            <a:off x="5317205" y="0"/>
            <a:ext cx="6874795" cy="242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7614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FC4E841-601D-E610-F52C-6EEA9E6703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5757"/>
          <a:stretch/>
        </p:blipFill>
        <p:spPr>
          <a:xfrm>
            <a:off x="930302" y="316375"/>
            <a:ext cx="8017987" cy="62252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1C6A74-AD75-00C9-56CA-11B02A50311D}"/>
              </a:ext>
            </a:extLst>
          </p:cNvPr>
          <p:cNvSpPr txBox="1"/>
          <p:nvPr/>
        </p:nvSpPr>
        <p:spPr>
          <a:xfrm rot="16200000">
            <a:off x="-2263170" y="2890391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agave Nerd Font Mono" panose="020B0509020404030204" pitchFamily="49" charset="0"/>
              </a:rPr>
              <a:t>DEMO -&gt; example p401</a:t>
            </a:r>
          </a:p>
          <a:p>
            <a:pPr algn="ctr"/>
            <a:endParaRPr lang="ru-RU" sz="3200" dirty="0">
              <a:solidFill>
                <a:srgbClr val="FF0000"/>
              </a:solidFill>
              <a:latin typeface="agave Nerd Font Mono" panose="020B0509020404030204" pitchFamily="49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EABAAC6-3D65-DEC4-F8B6-1161E1E172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215" t="75656" r="29232" b="3283"/>
          <a:stretch/>
        </p:blipFill>
        <p:spPr>
          <a:xfrm>
            <a:off x="7511254" y="3917373"/>
            <a:ext cx="4569608" cy="2940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5608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FF8596F-F53D-13AC-C0C4-44F7734E2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817" y="197428"/>
            <a:ext cx="7000875" cy="13716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2D54B65-9DDF-1D19-F378-F0BFE7F90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772" y="2896033"/>
            <a:ext cx="6968782" cy="379571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0585D92-D65C-892B-0624-59EF4955F0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772" y="460664"/>
            <a:ext cx="2770909" cy="2216727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C561B3F-99C6-C97E-321A-83271CA937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3516" y="3855027"/>
            <a:ext cx="5772150" cy="2743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5DB5E8B-701E-29B9-086D-7ECB68316573}"/>
              </a:ext>
            </a:extLst>
          </p:cNvPr>
          <p:cNvSpPr txBox="1"/>
          <p:nvPr/>
        </p:nvSpPr>
        <p:spPr>
          <a:xfrm rot="16200000">
            <a:off x="-2263170" y="2890391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>
                <a:solidFill>
                  <a:srgbClr val="FF0000"/>
                </a:solidFill>
                <a:latin typeface="agave Nerd Font Mono" panose="020B0509020404030204" pitchFamily="49" charset="0"/>
              </a:rPr>
              <a:t>DEMO -&gt; example p402</a:t>
            </a:r>
          </a:p>
          <a:p>
            <a:pPr algn="ctr"/>
            <a:endParaRPr lang="ru-RU" sz="3200" dirty="0">
              <a:solidFill>
                <a:srgbClr val="FF0000"/>
              </a:solidFill>
              <a:latin typeface="agave Nerd Font Mono" panose="020B05090204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91712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71FBEDE-3E1A-11A4-BFFA-811D4A926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50" y="1312718"/>
            <a:ext cx="10835299" cy="4007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5964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D32B1FA-F364-A745-D3D9-A626BC7F19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5455"/>
          <a:stretch/>
        </p:blipFill>
        <p:spPr>
          <a:xfrm>
            <a:off x="1608400" y="155863"/>
            <a:ext cx="7750601" cy="4426527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0EEB4D3-9C29-4268-D306-C0E8731697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3384" r="21891"/>
          <a:stretch/>
        </p:blipFill>
        <p:spPr>
          <a:xfrm>
            <a:off x="3845881" y="4367646"/>
            <a:ext cx="8259529" cy="2490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649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B48467A-1ABF-878B-DCE3-E814A601F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00" y="88429"/>
            <a:ext cx="10199284" cy="6681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2315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CEB62F0-AD02-F5EA-C244-B35A5684B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440" y="0"/>
            <a:ext cx="6306483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700044-C037-727E-2AF3-32D9CE9C86A6}"/>
              </a:ext>
            </a:extLst>
          </p:cNvPr>
          <p:cNvSpPr txBox="1"/>
          <p:nvPr/>
        </p:nvSpPr>
        <p:spPr>
          <a:xfrm rot="16200000">
            <a:off x="-2263170" y="2890391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  <a:latin typeface="agave Nerd Font Mono" panose="020B0509020404030204" pitchFamily="49" charset="0"/>
              </a:rPr>
              <a:t>DEMO -&gt; example p408</a:t>
            </a:r>
          </a:p>
          <a:p>
            <a:pPr algn="ctr"/>
            <a:endParaRPr lang="ru-RU" sz="3200" dirty="0">
              <a:solidFill>
                <a:srgbClr val="FF0000"/>
              </a:solidFill>
              <a:latin typeface="agave Nerd Font Mono" panose="020B0509020404030204" pitchFamily="49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5094BD5-4895-D67B-F94C-54D9614E8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6884644" y="1670104"/>
            <a:ext cx="6537578" cy="319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1961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F8756B4-6E2B-A881-1AED-7A6FC98FA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781" y="668916"/>
            <a:ext cx="10396438" cy="532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9670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CCA65BF-ACC2-8852-E1EA-8DE57D9FD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35" y="295039"/>
            <a:ext cx="10763683" cy="6562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5845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5D0DEA-656A-B1EA-850F-96358850EDE4}"/>
              </a:ext>
            </a:extLst>
          </p:cNvPr>
          <p:cNvSpPr txBox="1"/>
          <p:nvPr/>
        </p:nvSpPr>
        <p:spPr>
          <a:xfrm rot="16200000">
            <a:off x="-2408643" y="2890390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>
                <a:solidFill>
                  <a:srgbClr val="FF0000"/>
                </a:solidFill>
                <a:latin typeface="agave Nerd Font Mono" panose="020B0509020404030204" pitchFamily="49" charset="0"/>
              </a:rPr>
              <a:t>DEMO -&gt; example p413</a:t>
            </a:r>
          </a:p>
          <a:p>
            <a:pPr algn="ctr"/>
            <a:endParaRPr lang="ru-RU" sz="3200" dirty="0">
              <a:solidFill>
                <a:srgbClr val="FF0000"/>
              </a:solidFill>
              <a:latin typeface="agave Nerd Font Mono" panose="020B0509020404030204" pitchFamily="49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F9F115B-55BD-85E4-2C58-7442A1109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357" y="1504948"/>
            <a:ext cx="5002530" cy="38481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9A84A44-9180-A604-F24E-4F3D651E7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830" y="0"/>
            <a:ext cx="64522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0541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C32E53-9FC5-111D-7EE1-B4A3A0881D7B}"/>
              </a:ext>
            </a:extLst>
          </p:cNvPr>
          <p:cNvSpPr txBox="1"/>
          <p:nvPr/>
        </p:nvSpPr>
        <p:spPr>
          <a:xfrm>
            <a:off x="758537" y="1536174"/>
            <a:ext cx="564300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ВСТУП</a:t>
            </a:r>
          </a:p>
          <a:p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(</a:t>
            </a:r>
            <a:r>
              <a:rPr lang="uk-UA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Систематизація </a:t>
            </a:r>
            <a:r>
              <a:rPr lang="en-US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/</a:t>
            </a:r>
            <a:r>
              <a:rPr lang="uk-UA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 закріплення</a:t>
            </a:r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)</a:t>
            </a:r>
            <a:endParaRPr lang="en-US" sz="4800" dirty="0">
              <a:solidFill>
                <a:schemeClr val="accent1">
                  <a:lumMod val="60000"/>
                  <a:lumOff val="40000"/>
                </a:schemeClr>
              </a:solidFill>
              <a:latin typeface="agave Nerd Font" panose="020B0509020404030204" pitchFamily="49" charset="0"/>
            </a:endParaRPr>
          </a:p>
          <a:p>
            <a:endParaRPr lang="en-US" sz="4800" dirty="0">
              <a:solidFill>
                <a:schemeClr val="accent1">
                  <a:lumMod val="60000"/>
                  <a:lumOff val="40000"/>
                </a:schemeClr>
              </a:solidFill>
              <a:latin typeface="agave Nerd Font" panose="020B0509020404030204" pitchFamily="49" charset="0"/>
            </a:endParaRPr>
          </a:p>
          <a:p>
            <a:r>
              <a:rPr lang="ru-RU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П</a:t>
            </a:r>
            <a:r>
              <a:rPr lang="uk-UA" sz="48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ісля</a:t>
            </a:r>
            <a:r>
              <a:rPr lang="uk-UA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 8.0</a:t>
            </a:r>
            <a:endParaRPr lang="ru-RU" sz="4800" dirty="0">
              <a:solidFill>
                <a:schemeClr val="accent1">
                  <a:lumMod val="60000"/>
                  <a:lumOff val="40000"/>
                </a:schemeClr>
              </a:solidFill>
              <a:latin typeface="agave Nerd Font" panose="020B05090204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5053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6C8ACD6-DC8D-4CC7-95C1-DF9C72255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89" y="903012"/>
            <a:ext cx="10599021" cy="505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6719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30E56E7-49F0-4FF5-BF08-A2C3A7315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360" y="1018699"/>
            <a:ext cx="11593766" cy="426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6515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2E4ABF3-A94B-49E5-83CC-A01E30408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55" y="1622800"/>
            <a:ext cx="11680090" cy="361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66271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34AD4FA-DF51-4610-83A8-619F0286E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1" y="316924"/>
            <a:ext cx="6905625" cy="33147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C8E629E-3635-4F9E-AC1B-DD42CE45D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605" y="4830734"/>
            <a:ext cx="9886950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73589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04177DA-C55F-4BCA-9466-59BECD0D1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760" y="0"/>
            <a:ext cx="4791075" cy="82867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E201D40-2A42-4EB8-AAEC-DF2E977B3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2411" y="974494"/>
            <a:ext cx="6734175" cy="539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888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AB05F0F-8CF3-4B36-9B16-1D3183F84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787" y="363682"/>
            <a:ext cx="7368367" cy="5395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3788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1E12CCC-EB6B-4B4C-86DC-F84276584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385" y="862750"/>
            <a:ext cx="9447242" cy="5132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5728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1FD9721-7291-4CA6-8B15-7447A0714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334" y="0"/>
            <a:ext cx="101093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25460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3F7589A-E856-443A-A352-6C11DDB5E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14" y="72217"/>
            <a:ext cx="10239375" cy="428625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92EA2A8-17D4-4A80-B5E6-5B4F73129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705" y="2830657"/>
            <a:ext cx="4867275" cy="381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78687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B2BDC95-206E-4030-890A-3A7B476B4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262" y="433387"/>
            <a:ext cx="10277475" cy="599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24527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CE0CCF2-402F-4B9B-9F0D-A3861050B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262" y="942975"/>
            <a:ext cx="10277475" cy="497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3552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954202A-7515-4F0A-A39B-7D273D4B5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72" y="0"/>
            <a:ext cx="10315575" cy="393382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B2D47B7-0E61-4758-9A20-BA2CCB348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32831"/>
            <a:ext cx="5651318" cy="54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75477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8250DD6-9766-4B95-AA4C-92C8A2289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6600"/>
            <a:ext cx="12192000" cy="28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47614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997B26B-F968-47AE-8E64-744F2C0BA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409" y="231284"/>
            <a:ext cx="7877175" cy="67627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EAC6C4C-571C-4644-B2EE-87426CBC5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6226" y="1139622"/>
            <a:ext cx="5248275" cy="374332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7745FE7-07EF-4D31-80B6-104FA199C7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5378" y="5115011"/>
            <a:ext cx="7896225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68165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3BE7230-3934-4D9F-A320-A60E6AA15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411" y="0"/>
            <a:ext cx="71771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10043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7F13AE-E59A-4411-8C4D-525E88CE9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497" y="0"/>
            <a:ext cx="10930457" cy="661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11816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D4851D5-40A9-4FB4-9245-5855282EA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000" y="281593"/>
            <a:ext cx="9977611" cy="576533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50E914C-FE55-40FD-95E4-BA09AEDCE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194" y="796982"/>
            <a:ext cx="9977611" cy="576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41449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89B493C-0795-4752-BBB0-A2E0A5E92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498" y="0"/>
            <a:ext cx="79250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49223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189EC4E-2FA9-4FDF-97C5-4FF7704D7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9884" y="2683451"/>
            <a:ext cx="4191450" cy="307726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4626562-F101-4DF3-AEC9-F72366178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0925" y="1206384"/>
            <a:ext cx="501015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36883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1060890-5741-445C-91D1-5037CAA43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122" y="2462059"/>
            <a:ext cx="4646814" cy="327489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5D7C25-BBB9-4B26-9F16-08516BEAD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8562" y="1009131"/>
            <a:ext cx="4714875" cy="66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16622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459CAAC-B98C-420E-96BE-24630E54F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937" y="0"/>
            <a:ext cx="78581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50800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163F84F-D2F2-4466-A232-BB89A8C3B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695" y="1867591"/>
            <a:ext cx="3974609" cy="406535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8FA4FD9-4096-4578-BAC4-BD8C86EF5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1850" y="1053292"/>
            <a:ext cx="54483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57886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720FB7E-AEFF-4346-95C9-00B9EBA7B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8192" y="1385281"/>
            <a:ext cx="6244244" cy="3822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71160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49C891-1BBF-6C5C-B914-6A5864FF0B42}"/>
              </a:ext>
            </a:extLst>
          </p:cNvPr>
          <p:cNvSpPr txBox="1"/>
          <p:nvPr/>
        </p:nvSpPr>
        <p:spPr>
          <a:xfrm>
            <a:off x="729961" y="2782669"/>
            <a:ext cx="609426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IEnumerable</a:t>
            </a:r>
            <a:r>
              <a:rPr lang="en-U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 &amp; </a:t>
            </a:r>
            <a:r>
              <a:rPr lang="en-U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IEnumerator</a:t>
            </a:r>
            <a:endParaRPr lang="ru-RU" sz="4400" dirty="0">
              <a:solidFill>
                <a:schemeClr val="accent1">
                  <a:lumMod val="60000"/>
                  <a:lumOff val="40000"/>
                </a:schemeClr>
              </a:solidFill>
              <a:latin typeface="agave Nerd Font" panose="020B05090204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6254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1D42889-59EF-474C-9FBA-DF7569E6D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48" y="957176"/>
            <a:ext cx="11348814" cy="418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45412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55478CA-6D04-4D3A-8A8D-6C08D9DFE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3964"/>
            <a:ext cx="12192000" cy="6450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43738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0F307D4-C3E1-4EE7-A9AB-DA610D02A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3026"/>
            <a:ext cx="12192000" cy="6331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82946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006BD4-D6F3-4405-9F5B-8D0FD2417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925"/>
            <a:ext cx="12192000" cy="6734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52926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5741D2F-B839-4516-8BDD-DC4AA6381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525" y="1737360"/>
            <a:ext cx="6076950" cy="4572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B2948F0-E6CD-4BD8-BE2E-9262FE8F5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5124" y="2735926"/>
            <a:ext cx="3585870" cy="216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54178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32BDD5F-AB7E-4F13-97AD-ED9E3092D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1158" y="842876"/>
            <a:ext cx="4648200" cy="30765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A64BE4-9BB1-4FD8-94F6-9DFBF8654A7B}"/>
              </a:ext>
            </a:extLst>
          </p:cNvPr>
          <p:cNvSpPr txBox="1"/>
          <p:nvPr/>
        </p:nvSpPr>
        <p:spPr>
          <a:xfrm>
            <a:off x="838891" y="4358516"/>
            <a:ext cx="1010897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242021"/>
                </a:solidFill>
                <a:effectLst/>
                <a:latin typeface="UtopiaStd-Regular9"/>
              </a:rPr>
              <a:t>The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heSansMonoConNormal9"/>
              </a:rPr>
              <a:t>yield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UtopiaStd-Regular9"/>
              </a:rPr>
              <a:t>keyword is used to specify the value (or values) to be returned to the caller’s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heSansMonoConNormal9"/>
              </a:rPr>
              <a:t>foreach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UtopiaStd-Regular9"/>
              </a:rPr>
              <a:t>construct. When the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TheSansMonoConNormal9"/>
              </a:rPr>
              <a:t>yield return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UtopiaStd-Regular9"/>
              </a:rPr>
              <a:t>statement is reached, the current location in the container is stored, and execution is restarted from this location the next time the iterator is called.</a:t>
            </a:r>
            <a:r>
              <a:rPr lang="en-US" dirty="0"/>
              <a:t> </a:t>
            </a:r>
            <a:br>
              <a:rPr lang="en-US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4950322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F17FBB9-B0E2-4648-A6C3-9610A1C46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425" y="0"/>
            <a:ext cx="77880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73707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14820F-D9CA-468B-8DE3-8BC1F3B8E0FE}"/>
              </a:ext>
            </a:extLst>
          </p:cNvPr>
          <p:cNvSpPr txBox="1"/>
          <p:nvPr/>
        </p:nvSpPr>
        <p:spPr>
          <a:xfrm>
            <a:off x="4403667" y="2379810"/>
            <a:ext cx="6097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hlinkClick r:id="rId2"/>
              </a:rPr>
              <a:t>https://dotnetfiddle.net/TfEKn9</a:t>
            </a:r>
            <a:endParaRPr lang="en-US" b="1" dirty="0"/>
          </a:p>
          <a:p>
            <a:endParaRPr lang="ru-RU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8EA92A-52C4-4099-B8A8-4C1BD9FBD3A2}"/>
              </a:ext>
            </a:extLst>
          </p:cNvPr>
          <p:cNvSpPr txBox="1"/>
          <p:nvPr/>
        </p:nvSpPr>
        <p:spPr>
          <a:xfrm>
            <a:off x="3672147" y="3508694"/>
            <a:ext cx="6097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hlinkClick r:id="rId3"/>
              </a:rPr>
              <a:t>https://www.youtube.com/watch?v=B74jCYZebvg</a:t>
            </a:r>
            <a:endParaRPr lang="en-US" dirty="0"/>
          </a:p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F30307-41C9-4257-9F6B-D438CB122E01}"/>
              </a:ext>
            </a:extLst>
          </p:cNvPr>
          <p:cNvSpPr txBox="1"/>
          <p:nvPr/>
        </p:nvSpPr>
        <p:spPr>
          <a:xfrm>
            <a:off x="4037909" y="871050"/>
            <a:ext cx="60973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5400" b="1" dirty="0" err="1"/>
              <a:t>IEnumerable</a:t>
            </a:r>
            <a:endParaRPr lang="ru-RU" sz="5400" b="1" dirty="0"/>
          </a:p>
        </p:txBody>
      </p:sp>
    </p:spTree>
    <p:extLst>
      <p:ext uri="{BB962C8B-B14F-4D97-AF65-F5344CB8AC3E}">
        <p14:creationId xmlns:p14="http://schemas.microsoft.com/office/powerpoint/2010/main" val="393766455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77B6FF-D3AC-4555-979F-EDFB53C19373}"/>
              </a:ext>
            </a:extLst>
          </p:cNvPr>
          <p:cNvSpPr txBox="1"/>
          <p:nvPr/>
        </p:nvSpPr>
        <p:spPr>
          <a:xfrm>
            <a:off x="3397827" y="3930034"/>
            <a:ext cx="609738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hlinkClick r:id="rId2"/>
              </a:rPr>
              <a:t>https://dotnetfiddle.net/4daKtz</a:t>
            </a:r>
            <a:endParaRPr lang="en-US" sz="3200" b="1" dirty="0"/>
          </a:p>
          <a:p>
            <a:endParaRPr lang="ru-RU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F68413-6F42-4340-B5FC-30118F2D26A8}"/>
              </a:ext>
            </a:extLst>
          </p:cNvPr>
          <p:cNvSpPr txBox="1"/>
          <p:nvPr/>
        </p:nvSpPr>
        <p:spPr>
          <a:xfrm>
            <a:off x="3397827" y="2584539"/>
            <a:ext cx="609738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hlinkClick r:id="rId3"/>
              </a:rPr>
              <a:t>https://dotnetfiddle.net/iI4Ra8</a:t>
            </a:r>
            <a:endParaRPr lang="en-US" sz="3200" b="1" dirty="0"/>
          </a:p>
          <a:p>
            <a:endParaRPr lang="ru-RU" sz="32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78C6DA-D32F-4634-B9C6-6AED0E0790B3}"/>
              </a:ext>
            </a:extLst>
          </p:cNvPr>
          <p:cNvSpPr txBox="1"/>
          <p:nvPr/>
        </p:nvSpPr>
        <p:spPr>
          <a:xfrm>
            <a:off x="5401194" y="542698"/>
            <a:ext cx="609738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dirty="0" err="1"/>
              <a:t>yield</a:t>
            </a:r>
            <a:endParaRPr lang="ru-RU" sz="4400" b="1" dirty="0"/>
          </a:p>
        </p:txBody>
      </p:sp>
    </p:spTree>
    <p:extLst>
      <p:ext uri="{BB962C8B-B14F-4D97-AF65-F5344CB8AC3E}">
        <p14:creationId xmlns:p14="http://schemas.microsoft.com/office/powerpoint/2010/main" val="93247525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C32E53-9FC5-111D-7EE1-B4A3A0881D7B}"/>
              </a:ext>
            </a:extLst>
          </p:cNvPr>
          <p:cNvSpPr txBox="1"/>
          <p:nvPr/>
        </p:nvSpPr>
        <p:spPr>
          <a:xfrm>
            <a:off x="452996" y="2897383"/>
            <a:ext cx="56430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ICloneable</a:t>
            </a:r>
            <a:endParaRPr lang="ru-RU" sz="4800" dirty="0">
              <a:solidFill>
                <a:schemeClr val="accent1">
                  <a:lumMod val="60000"/>
                  <a:lumOff val="40000"/>
                </a:schemeClr>
              </a:solidFill>
              <a:latin typeface="agave Nerd Font" panose="020B05090204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801453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1E83790-8C19-4067-B938-64FDE3A51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569" y="327746"/>
            <a:ext cx="8572500" cy="138112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076B01D-8723-4E47-85B1-9B584F742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0528" y="2979852"/>
            <a:ext cx="3518622" cy="186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51508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12A04D6-32DE-4569-B698-77F75F3EE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223" y="209550"/>
            <a:ext cx="8420100" cy="321945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8EC1761-0A92-4CBC-8A0E-AA8DBD56B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1757" y="3795972"/>
            <a:ext cx="8391525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48268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C3FAE65-3EC6-44AC-9430-CFC27E4C4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535" y="1240587"/>
            <a:ext cx="7649388" cy="400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92710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9C1DBBC-9190-4A6B-9C53-4AD45A8AD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075" y="523875"/>
            <a:ext cx="8705850" cy="581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09224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F1E4140-68D4-4126-9C53-17C3824D1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1539" y="521363"/>
            <a:ext cx="4305300" cy="42862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B6008E0-F45E-486C-B6B0-7EAE668AC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789" y="2058525"/>
            <a:ext cx="3333750" cy="301942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3C819D3-DEE1-4617-A218-B6347D2495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4496" y="1007744"/>
            <a:ext cx="6886575" cy="539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67381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32C078B-A311-4AD8-82AB-A299CDF18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92" y="1395412"/>
            <a:ext cx="5724525" cy="406717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9188CBA-C0F7-484B-8C5B-CDAD6BF82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885" y="1395412"/>
            <a:ext cx="5391150" cy="4057650"/>
          </a:xfrm>
          <a:prstGeom prst="rect">
            <a:avLst/>
          </a:prstGeom>
        </p:spPr>
      </p:pic>
      <p:sp>
        <p:nvSpPr>
          <p:cNvPr id="6" name="Стрелка: вправо 5">
            <a:extLst>
              <a:ext uri="{FF2B5EF4-FFF2-40B4-BE49-F238E27FC236}">
                <a16:creationId xmlns:a16="http://schemas.microsoft.com/office/drawing/2014/main" id="{B52F4BA9-C7CE-4F10-9653-2F44DD7CADD3}"/>
              </a:ext>
            </a:extLst>
          </p:cNvPr>
          <p:cNvSpPr/>
          <p:nvPr/>
        </p:nvSpPr>
        <p:spPr>
          <a:xfrm>
            <a:off x="4763193" y="2908847"/>
            <a:ext cx="1630637" cy="10307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284462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2155E89-A5C1-4054-97D2-D3BFB094D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45" y="2217506"/>
            <a:ext cx="5305425" cy="290512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8C0F14F-48F7-4249-863A-BADED6E46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6130" y="2429827"/>
            <a:ext cx="4019550" cy="2181225"/>
          </a:xfrm>
          <a:prstGeom prst="rect">
            <a:avLst/>
          </a:prstGeom>
        </p:spPr>
      </p:pic>
      <p:sp>
        <p:nvSpPr>
          <p:cNvPr id="6" name="Стрелка: вправо 5">
            <a:extLst>
              <a:ext uri="{FF2B5EF4-FFF2-40B4-BE49-F238E27FC236}">
                <a16:creationId xmlns:a16="http://schemas.microsoft.com/office/drawing/2014/main" id="{7121986A-CA1D-4760-9EB3-51FAC2FC42CC}"/>
              </a:ext>
            </a:extLst>
          </p:cNvPr>
          <p:cNvSpPr/>
          <p:nvPr/>
        </p:nvSpPr>
        <p:spPr>
          <a:xfrm>
            <a:off x="5926975" y="3067396"/>
            <a:ext cx="1014152" cy="7065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235161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C32E53-9FC5-111D-7EE1-B4A3A0881D7B}"/>
              </a:ext>
            </a:extLst>
          </p:cNvPr>
          <p:cNvSpPr txBox="1"/>
          <p:nvPr/>
        </p:nvSpPr>
        <p:spPr>
          <a:xfrm>
            <a:off x="452996" y="2897383"/>
            <a:ext cx="56430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gave Nerd Font" panose="020B0509020404030204" pitchFamily="49" charset="0"/>
              </a:rPr>
              <a:t>IComparer</a:t>
            </a:r>
            <a:endParaRPr lang="ru-RU" sz="4800" dirty="0">
              <a:solidFill>
                <a:schemeClr val="accent1">
                  <a:lumMod val="60000"/>
                  <a:lumOff val="40000"/>
                </a:schemeClr>
              </a:solidFill>
              <a:latin typeface="agave Nerd Font" panose="020B05090204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86402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DB04108-1D4F-48F8-816C-DB44C4654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464" y="362144"/>
            <a:ext cx="10208464" cy="325625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6A465A5-63E4-4241-872B-E6A57E1C7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3387" y="3819872"/>
            <a:ext cx="3705225" cy="2343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18157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21428BF-0B50-42D0-970B-AC02DB7BC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825" y="1950460"/>
            <a:ext cx="9857308" cy="218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8885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8627CDC-FF2C-4979-A128-18B26D4D4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4042"/>
            <a:ext cx="12192000" cy="6189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72109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A194FE3-C6A1-447A-99BD-B350EEA02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63" y="1108233"/>
            <a:ext cx="11134094" cy="423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63524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E55897A-6522-4700-AFC5-2A718FBF6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969"/>
            <a:ext cx="12192000" cy="6478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16232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B8B7E3-A974-4A24-AA26-CC83F5EE5770}"/>
              </a:ext>
            </a:extLst>
          </p:cNvPr>
          <p:cNvSpPr txBox="1"/>
          <p:nvPr/>
        </p:nvSpPr>
        <p:spPr>
          <a:xfrm>
            <a:off x="4511732" y="3779081"/>
            <a:ext cx="6097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hlinkClick r:id="rId2"/>
              </a:rPr>
              <a:t>https://dotnetfiddle.net/lefy5l</a:t>
            </a:r>
            <a:endParaRPr lang="ru-RU" b="1" dirty="0"/>
          </a:p>
          <a:p>
            <a:endParaRPr lang="ru-RU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52D3B2-95F9-4265-A1BA-4CAF15012212}"/>
              </a:ext>
            </a:extLst>
          </p:cNvPr>
          <p:cNvSpPr txBox="1"/>
          <p:nvPr/>
        </p:nvSpPr>
        <p:spPr>
          <a:xfrm>
            <a:off x="4854632" y="872430"/>
            <a:ext cx="6097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 err="1">
                <a:effectLst/>
                <a:highlight>
                  <a:srgbClr val="FFFF00"/>
                </a:highlight>
                <a:latin typeface="Segoe UI" panose="020B0502040204020203" pitchFamily="34" charset="0"/>
              </a:rPr>
              <a:t>IComparer</a:t>
            </a:r>
            <a:endParaRPr lang="ru-RU" sz="3600" b="1" i="0" dirty="0">
              <a:effectLst/>
              <a:highlight>
                <a:srgbClr val="FFFF00"/>
              </a:highlight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36C96C-673D-4757-A56B-A4EC729330C9}"/>
              </a:ext>
            </a:extLst>
          </p:cNvPr>
          <p:cNvSpPr txBox="1"/>
          <p:nvPr/>
        </p:nvSpPr>
        <p:spPr>
          <a:xfrm>
            <a:off x="2225386" y="2155589"/>
            <a:ext cx="77412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hlinkClick r:id="rId3"/>
              </a:rPr>
              <a:t>https://learn.microsoft.com/ru-ru/dotnet/api/system.collections.icomparer?view=net-6.0</a:t>
            </a:r>
            <a:endParaRPr lang="ru-RU" dirty="0"/>
          </a:p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41005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F59267E-1408-4D87-9E44-58150AC1F40B}"/>
              </a:ext>
            </a:extLst>
          </p:cNvPr>
          <p:cNvSpPr txBox="1"/>
          <p:nvPr/>
        </p:nvSpPr>
        <p:spPr>
          <a:xfrm>
            <a:off x="4295602" y="703193"/>
            <a:ext cx="35349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dirty="0" err="1">
                <a:effectLst/>
                <a:highlight>
                  <a:srgbClr val="FFFF00"/>
                </a:highlight>
                <a:latin typeface="Segoe UI" panose="020B0502040204020203" pitchFamily="34" charset="0"/>
              </a:rPr>
              <a:t>IComparable</a:t>
            </a:r>
            <a:r>
              <a:rPr lang="en-US" sz="3200" b="1" i="0" dirty="0">
                <a:effectLst/>
                <a:highlight>
                  <a:srgbClr val="FFFF00"/>
                </a:highlight>
                <a:latin typeface="Segoe UI" panose="020B0502040204020203" pitchFamily="34" charset="0"/>
              </a:rPr>
              <a:t>&lt;T&gt;</a:t>
            </a:r>
            <a:endParaRPr lang="ru-RU" sz="3200" b="1" i="0" dirty="0">
              <a:effectLst/>
              <a:highlight>
                <a:srgbClr val="FFFF00"/>
              </a:highlight>
              <a:latin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CB6E85-ADB5-42DD-9C2D-666F414884FC}"/>
              </a:ext>
            </a:extLst>
          </p:cNvPr>
          <p:cNvSpPr txBox="1"/>
          <p:nvPr/>
        </p:nvSpPr>
        <p:spPr>
          <a:xfrm>
            <a:off x="2635135" y="2397748"/>
            <a:ext cx="60973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hlinkClick r:id="rId2"/>
              </a:rPr>
              <a:t>https://learn.microsoft.com/ru-ru/dotnet/api/system.icomparable-1?view=net-6.0#code-try-2</a:t>
            </a:r>
            <a:endParaRPr lang="ru-RU" dirty="0"/>
          </a:p>
          <a:p>
            <a:pPr algn="ctr"/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FBD623-FC7B-46C5-87F2-119104DC64B1}"/>
              </a:ext>
            </a:extLst>
          </p:cNvPr>
          <p:cNvSpPr txBox="1"/>
          <p:nvPr/>
        </p:nvSpPr>
        <p:spPr>
          <a:xfrm>
            <a:off x="4295602" y="3998587"/>
            <a:ext cx="6097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hlinkClick r:id="rId3"/>
              </a:rPr>
              <a:t>https://dotnetfiddle.net/9diSHu</a:t>
            </a:r>
            <a:endParaRPr lang="en-US" b="1" dirty="0"/>
          </a:p>
          <a:p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4408636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2B0CE1-48B4-4122-A2A1-64A2F1E9856F}"/>
              </a:ext>
            </a:extLst>
          </p:cNvPr>
          <p:cNvSpPr txBox="1"/>
          <p:nvPr/>
        </p:nvSpPr>
        <p:spPr>
          <a:xfrm>
            <a:off x="3045923" y="2171992"/>
            <a:ext cx="6097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hlinkClick r:id="rId2"/>
              </a:rPr>
              <a:t>https://dev.to/digionix/icomparable-vs-icomparer-274f</a:t>
            </a:r>
            <a:endParaRPr lang="en-US" dirty="0"/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13D0A5-3116-42B6-8CB0-99A55937A097}"/>
              </a:ext>
            </a:extLst>
          </p:cNvPr>
          <p:cNvSpPr txBox="1"/>
          <p:nvPr/>
        </p:nvSpPr>
        <p:spPr>
          <a:xfrm>
            <a:off x="1898766" y="3716512"/>
            <a:ext cx="87249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hlinkClick r:id="rId3"/>
              </a:rPr>
              <a:t>https://www.c-sharpcorner.com/article/icomparable-vs-icomparer-interface-in-c-sharp/</a:t>
            </a:r>
            <a:endParaRPr lang="en-US" dirty="0"/>
          </a:p>
          <a:p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777C04-6EFF-80DD-AD3F-92906145D794}"/>
              </a:ext>
            </a:extLst>
          </p:cNvPr>
          <p:cNvSpPr txBox="1"/>
          <p:nvPr/>
        </p:nvSpPr>
        <p:spPr>
          <a:xfrm>
            <a:off x="5147657" y="689028"/>
            <a:ext cx="35349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3200" b="1" i="0" dirty="0">
                <a:effectLst/>
                <a:highlight>
                  <a:srgbClr val="FFFF00"/>
                </a:highlight>
                <a:latin typeface="Segoe UI" panose="020B0502040204020203" pitchFamily="34" charset="0"/>
              </a:rPr>
              <a:t>ЧИТАТИ</a:t>
            </a:r>
          </a:p>
        </p:txBody>
      </p:sp>
    </p:spTree>
    <p:extLst>
      <p:ext uri="{BB962C8B-B14F-4D97-AF65-F5344CB8AC3E}">
        <p14:creationId xmlns:p14="http://schemas.microsoft.com/office/powerpoint/2010/main" val="357979764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круг, Графика, Шрифт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13F647D4-A926-8EC3-BD22-656B950C7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79499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438</Words>
  <Application>Microsoft Office PowerPoint</Application>
  <PresentationFormat>Широкоэкранный</PresentationFormat>
  <Paragraphs>55</Paragraphs>
  <Slides>97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97</vt:i4>
      </vt:variant>
    </vt:vector>
  </HeadingPairs>
  <TitlesOfParts>
    <vt:vector size="109" baseType="lpstr">
      <vt:lpstr>agave Nerd Font</vt:lpstr>
      <vt:lpstr>agave Nerd Font Mono</vt:lpstr>
      <vt:lpstr>Arial</vt:lpstr>
      <vt:lpstr>Calibri</vt:lpstr>
      <vt:lpstr>Calibri Light</vt:lpstr>
      <vt:lpstr>Garamond</vt:lpstr>
      <vt:lpstr>Segoe UI</vt:lpstr>
      <vt:lpstr>Symbol</vt:lpstr>
      <vt:lpstr>TheSansMonoConNormal9</vt:lpstr>
      <vt:lpstr>Times New Roman</vt:lpstr>
      <vt:lpstr>UtopiaStd-Regular9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Yuriy Tomka</dc:creator>
  <cp:lastModifiedBy>Yuriy Tomka</cp:lastModifiedBy>
  <cp:revision>4</cp:revision>
  <dcterms:created xsi:type="dcterms:W3CDTF">2022-10-02T19:29:19Z</dcterms:created>
  <dcterms:modified xsi:type="dcterms:W3CDTF">2026-09-14T08:26:51Z</dcterms:modified>
</cp:coreProperties>
</file>