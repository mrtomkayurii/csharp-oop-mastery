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60" r:id="rId3"/>
    <p:sldId id="361" r:id="rId4"/>
    <p:sldId id="362" r:id="rId5"/>
    <p:sldId id="363" r:id="rId6"/>
    <p:sldId id="364" r:id="rId7"/>
    <p:sldId id="261" r:id="rId8"/>
    <p:sldId id="262" r:id="rId9"/>
    <p:sldId id="263" r:id="rId10"/>
    <p:sldId id="264" r:id="rId11"/>
    <p:sldId id="365" r:id="rId12"/>
    <p:sldId id="366" r:id="rId13"/>
    <p:sldId id="333" r:id="rId14"/>
    <p:sldId id="306" r:id="rId15"/>
    <p:sldId id="256" r:id="rId16"/>
    <p:sldId id="257" r:id="rId17"/>
    <p:sldId id="336" r:id="rId18"/>
    <p:sldId id="340" r:id="rId19"/>
    <p:sldId id="337" r:id="rId20"/>
    <p:sldId id="342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7" r:id="rId33"/>
    <p:sldId id="339" r:id="rId34"/>
    <p:sldId id="258" r:id="rId35"/>
    <p:sldId id="259" r:id="rId36"/>
    <p:sldId id="260" r:id="rId37"/>
    <p:sldId id="265" r:id="rId38"/>
    <p:sldId id="266" r:id="rId39"/>
    <p:sldId id="267" r:id="rId40"/>
    <p:sldId id="268" r:id="rId41"/>
    <p:sldId id="269" r:id="rId42"/>
    <p:sldId id="270" r:id="rId43"/>
    <p:sldId id="273" r:id="rId44"/>
    <p:sldId id="276" r:id="rId45"/>
    <p:sldId id="277" r:id="rId46"/>
    <p:sldId id="281" r:id="rId47"/>
    <p:sldId id="302" r:id="rId48"/>
    <p:sldId id="279" r:id="rId49"/>
    <p:sldId id="283" r:id="rId50"/>
    <p:sldId id="284" r:id="rId51"/>
    <p:sldId id="285" r:id="rId52"/>
    <p:sldId id="286" r:id="rId53"/>
    <p:sldId id="287" r:id="rId54"/>
    <p:sldId id="288" r:id="rId55"/>
    <p:sldId id="309" r:id="rId56"/>
    <p:sldId id="308" r:id="rId57"/>
    <p:sldId id="359" r:id="rId58"/>
    <p:sldId id="289" r:id="rId59"/>
    <p:sldId id="290" r:id="rId60"/>
    <p:sldId id="358" r:id="rId61"/>
    <p:sldId id="296" r:id="rId62"/>
    <p:sldId id="298" r:id="rId63"/>
    <p:sldId id="299" r:id="rId64"/>
    <p:sldId id="300" r:id="rId65"/>
    <p:sldId id="304" r:id="rId66"/>
    <p:sldId id="301" r:id="rId67"/>
    <p:sldId id="307" r:id="rId68"/>
    <p:sldId id="303" r:id="rId6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4F865-C791-4635-9099-67C1FC795CBA}" v="69" dt="2023-09-24T20:15:55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98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23C03-C1F0-46D2-8445-73D9A57BF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E0F3FA-2740-4E74-9E70-9660A27C6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692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4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63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fundamentals/types/interfac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language-reference/keywords/interfac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fundamentals/types/interfac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fundamentals/types/interface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language-reference/operators/type-testing-and-cas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fundamentals/types/interfac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fundamentals/types/interfac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fundamentals/types/interfac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whats-new/csharp-8#default-interface-method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dotnet/csharp/whats-new/csharp-8#default-interface-method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74jCYZebvg" TargetMode="External"/><Relationship Id="rId2" Type="http://schemas.openxmlformats.org/officeDocument/2006/relationships/hyperlink" Target="https://dotnetfiddle.net/TfEKn9" TargetMode="Externa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iI4Ra8" TargetMode="External"/><Relationship Id="rId2" Type="http://schemas.openxmlformats.org/officeDocument/2006/relationships/hyperlink" Target="https://dotnetfiddle.net/4daKtz" TargetMode="Externa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icomparable?view=net-10.0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learn.microsoft.com/ru-ru/dotnet/api/system.collections.generic.icomparer-1?view=net-10.0" TargetMode="Externa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collections.icomparer?view=net-6.0" TargetMode="External"/><Relationship Id="rId2" Type="http://schemas.openxmlformats.org/officeDocument/2006/relationships/hyperlink" Target="https://dotnetfiddle.net/lefy5l" TargetMode="Externa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9diSHu" TargetMode="External"/><Relationship Id="rId2" Type="http://schemas.openxmlformats.org/officeDocument/2006/relationships/hyperlink" Target="https://learn.microsoft.com/ru-ru/dotnet/api/system.icomparable-1?view=net-6.0#code-try-2" TargetMode="Externa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-sharpcorner.com/article/icomparable-vs-icomparer-interface-in-c-sharp/" TargetMode="External"/><Relationship Id="rId2" Type="http://schemas.openxmlformats.org/officeDocument/2006/relationships/hyperlink" Target="https://dev.to/digionix/icomparable-vs-icomparer-274f" TargetMode="Externa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6429F-2FA8-9E2C-28F8-253DD54F3139}"/>
              </a:ext>
            </a:extLst>
          </p:cNvPr>
          <p:cNvSpPr txBox="1"/>
          <p:nvPr/>
        </p:nvSpPr>
        <p:spPr>
          <a:xfrm>
            <a:off x="345623" y="1651383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rgbClr val="FF0000"/>
                </a:solidFill>
                <a:latin typeface="agave Nerd Font" panose="020B0509020404030204" pitchFamily="49" charset="0"/>
              </a:rPr>
              <a:t>Тема 5</a:t>
            </a:r>
            <a:endParaRPr lang="en-US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  <a:p>
            <a:r>
              <a:rPr lang="ru-RU" sz="4800" dirty="0">
                <a:solidFill>
                  <a:srgbClr val="FF0000"/>
                </a:solidFill>
                <a:latin typeface="agave Nerd Font" panose="020B0509020404030204" pitchFamily="49" charset="0"/>
              </a:rPr>
              <a:t> </a:t>
            </a:r>
            <a:endParaRPr lang="en-US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  <a:p>
            <a:r>
              <a:rPr lang="ru-RU" sz="4800" dirty="0" err="1">
                <a:solidFill>
                  <a:srgbClr val="FF0000"/>
                </a:solidFill>
                <a:latin typeface="agave Nerd Font" panose="020B0509020404030204" pitchFamily="49" charset="0"/>
              </a:rPr>
              <a:t>Інтерфейси</a:t>
            </a:r>
            <a:endParaRPr lang="ru-RU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2F2E0-633C-F4E7-A0B1-5C4D4DC7DD9A}"/>
              </a:ext>
            </a:extLst>
          </p:cNvPr>
          <p:cNvSpPr txBox="1"/>
          <p:nvPr/>
        </p:nvSpPr>
        <p:spPr>
          <a:xfrm>
            <a:off x="8925050" y="4606038"/>
            <a:ext cx="29213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ЛЕКЦ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ІЯ 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5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35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0"/>
            <a:ext cx="1118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202028"/>
                </a:solidFill>
                <a:latin typeface="Calibri"/>
              </a:rPr>
              <a:t>Інтерфейси в C#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118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60636B"/>
                </a:solidFill>
                <a:latin typeface="Calibri"/>
              </a:rPr>
              <a:t>Базові поняття - короткий огляд перед детальним розбором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Що таке інтерфейс?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Контракт</a:t>
            </a:r>
            <a:r>
              <a:rPr dirty="0">
                <a:solidFill>
                  <a:srgbClr val="202028"/>
                </a:solidFill>
                <a:latin typeface="Calibri"/>
              </a:rPr>
              <a:t>: </a:t>
            </a:r>
            <a:r>
              <a:rPr dirty="0" err="1">
                <a:solidFill>
                  <a:srgbClr val="202028"/>
                </a:solidFill>
                <a:latin typeface="Calibri"/>
              </a:rPr>
              <a:t>описує</a:t>
            </a:r>
            <a:r>
              <a:rPr dirty="0">
                <a:solidFill>
                  <a:srgbClr val="202028"/>
                </a:solidFill>
                <a:latin typeface="Calibri"/>
              </a:rPr>
              <a:t>, ЩО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має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вміти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тип</a:t>
            </a:r>
            <a:r>
              <a:rPr dirty="0">
                <a:solidFill>
                  <a:srgbClr val="202028"/>
                </a:solidFill>
                <a:latin typeface="Calibri"/>
              </a:rPr>
              <a:t>, а </a:t>
            </a:r>
            <a:r>
              <a:rPr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dirty="0">
                <a:solidFill>
                  <a:srgbClr val="202028"/>
                </a:solidFill>
                <a:latin typeface="Calibri"/>
              </a:rPr>
              <a:t> ЯК </a:t>
            </a:r>
            <a:r>
              <a:rPr dirty="0" err="1">
                <a:solidFill>
                  <a:srgbClr val="202028"/>
                </a:solidFill>
                <a:latin typeface="Calibri"/>
              </a:rPr>
              <a:t>саме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це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реалізовано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Створити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екземпляр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самого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інтерфейсу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можна</a:t>
            </a:r>
            <a:r>
              <a:rPr dirty="0">
                <a:solidFill>
                  <a:srgbClr val="202028"/>
                </a:solidFill>
                <a:latin typeface="Calibri"/>
              </a:rPr>
              <a:t> - new </a:t>
            </a:r>
            <a:r>
              <a:rPr dirty="0" err="1">
                <a:solidFill>
                  <a:srgbClr val="202028"/>
                </a:solidFill>
                <a:latin typeface="Calibri"/>
              </a:rPr>
              <a:t>IMovable</a:t>
            </a:r>
            <a:r>
              <a:rPr dirty="0">
                <a:solidFill>
                  <a:srgbClr val="202028"/>
                </a:solidFill>
                <a:latin typeface="Calibri"/>
              </a:rPr>
              <a:t>() є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помилкою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компіляції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Класи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та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структури</a:t>
            </a:r>
            <a:r>
              <a:rPr dirty="0">
                <a:solidFill>
                  <a:srgbClr val="202028"/>
                </a:solidFill>
                <a:latin typeface="Calibri"/>
              </a:rPr>
              <a:t> "</a:t>
            </a:r>
            <a:r>
              <a:rPr dirty="0" err="1">
                <a:solidFill>
                  <a:srgbClr val="202028"/>
                </a:solidFill>
                <a:latin typeface="Calibri"/>
              </a:rPr>
              <a:t>підписуються</a:t>
            </a:r>
            <a:r>
              <a:rPr dirty="0">
                <a:solidFill>
                  <a:srgbClr val="202028"/>
                </a:solidFill>
                <a:latin typeface="Calibri"/>
              </a:rPr>
              <a:t>"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під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контракт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реалізацію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b="1" dirty="0">
                <a:solidFill>
                  <a:srgbClr val="1B4F9C"/>
                </a:solidFill>
                <a:latin typeface="Calibri"/>
              </a:rPr>
              <a:t>C# 8.0: </a:t>
            </a:r>
            <a:r>
              <a:rPr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може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містити</a:t>
            </a:r>
            <a:r>
              <a:rPr dirty="0">
                <a:solidFill>
                  <a:srgbClr val="202028"/>
                </a:solidFill>
                <a:latin typeface="Calibri"/>
              </a:rPr>
              <a:t> і </a:t>
            </a:r>
            <a:r>
              <a:rPr dirty="0" err="1">
                <a:solidFill>
                  <a:srgbClr val="202028"/>
                </a:solidFill>
                <a:latin typeface="Calibri"/>
              </a:rPr>
              <a:t>готову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реалізацію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методу</a:t>
            </a:r>
            <a:r>
              <a:rPr dirty="0">
                <a:solidFill>
                  <a:srgbClr val="202028"/>
                </a:solidFill>
                <a:latin typeface="Calibri"/>
              </a:rPr>
              <a:t> -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подробиці</a:t>
            </a:r>
            <a:r>
              <a:rPr dirty="0">
                <a:solidFill>
                  <a:srgbClr val="202028"/>
                </a:solidFill>
                <a:latin typeface="Calibri"/>
              </a:rPr>
              <a:t> в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кінці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31686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3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IMovable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Контракт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: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лише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сигнатура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методу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Move();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 dirty="0"/>
              <a:t> </a:t>
            </a:r>
          </a:p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Car :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IMovable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Car "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підписується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"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під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контракт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Move() =&gt;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("Move!");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85029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Оголошення інтерфейсу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Оголошується ключовим словом interface.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За стилем (не вимогою мови) ім'я починається з великої літери I.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Тіла членів не пишуть - лише сигнатура, завершена крапкою з комою.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Інтерфейс може бути вкладеним у namespace так само, як і клас.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11112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namespace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Shapes;</a:t>
            </a:r>
          </a:p>
          <a:p>
            <a:r>
              <a:rPr sz="1500" dirty="0"/>
              <a:t> 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IMovable</a:t>
            </a:r>
            <a:endParaRPr sz="1500" b="0" dirty="0">
              <a:solidFill>
                <a:srgbClr val="202028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Move();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bool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CanMove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; }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79289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Довідка: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learn.microsoft.com/dotnet/csharp/language-reference/keywords/interface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Реалізація інтерфейсу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Ім'я інтерфейсу дописують через двокрапку в списку базових типів класу.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Реалізувати потрібно КОЖЕН член інтерфейсу, без винятків.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Модифікатор доступу реалізації - завжди public.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</a:t>
            </a:r>
            <a:r>
              <a:rPr b="1">
                <a:solidFill>
                  <a:srgbClr val="1B4F9C"/>
                </a:solidFill>
                <a:latin typeface="Calibri"/>
              </a:rPr>
              <a:t>C# 8.0: </a:t>
            </a:r>
            <a:r>
              <a:rPr>
                <a:solidFill>
                  <a:srgbClr val="202028"/>
                </a:solidFill>
                <a:latin typeface="Calibri"/>
              </a:rPr>
              <a:t>якщо в інтерфейсі вже є реалізація за замовчуванням, власну можна не писати.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985516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Car :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IMovable</a:t>
            </a:r>
            <a:endParaRPr sz="1300" b="0" dirty="0">
              <a:solidFill>
                <a:srgbClr val="202028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bool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CanMove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} = true;</a:t>
            </a:r>
          </a:p>
          <a:p>
            <a:r>
              <a:rPr sz="1300" dirty="0"/>
              <a:t> 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Move()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Обов'язково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public.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("Car is moving");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 dirty="0"/>
              <a:t> 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Car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car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=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Car();</a:t>
            </a:r>
          </a:p>
          <a:p>
            <a:r>
              <a:rPr sz="1300" b="0" dirty="0" err="1">
                <a:solidFill>
                  <a:srgbClr val="202028"/>
                </a:solidFill>
                <a:latin typeface="Consolas"/>
              </a:rPr>
              <a:t>car.Move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();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Move!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3684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Члени інтерфейсу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Дозволені: методи, властивості, індексатори, події.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Звичайні поля (дані) інтерфейс мати не може.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Усі члени за замовчуванням public - вказувати модифікатор не потрібно.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</a:t>
            </a:r>
            <a:r>
              <a:rPr b="1">
                <a:solidFill>
                  <a:srgbClr val="1B4F9C"/>
                </a:solidFill>
                <a:latin typeface="Calibri"/>
              </a:rPr>
              <a:t>C# 8.0: </a:t>
            </a:r>
            <a:r>
              <a:rPr>
                <a:solidFill>
                  <a:srgbClr val="202028"/>
                </a:solidFill>
                <a:latin typeface="Calibri"/>
              </a:rPr>
              <a:t>додатково дозволені статичні поля/константи та private-члени.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11112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IBox</a:t>
            </a:r>
            <a:endParaRPr sz="1500" b="0" dirty="0">
              <a:solidFill>
                <a:srgbClr val="202028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Count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; }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Властивість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this[int i]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; }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Індексатор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event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EventHandler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Changed;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Подія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Add(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item);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Метод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79289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Інтерфейс - посилальний тип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Посилання на об'єкт класу можна привести (cast) до типу інтерфейсу.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Через таке посилання доступні лише члени саме цього інтерфейсу.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Оператор as повертає null замість винятку, якщо тип не підтримується.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Оператор is (C# 7+) перевіряє тип і одразу оголошує змінну.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1853945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500" b="0" dirty="0">
                <a:solidFill>
                  <a:srgbClr val="202028"/>
                </a:solidFill>
                <a:latin typeface="Consolas"/>
              </a:rPr>
              <a:t>Car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car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=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Car();</a:t>
            </a:r>
          </a:p>
          <a:p>
            <a:r>
              <a:rPr sz="1500" b="0" dirty="0" err="1">
                <a:solidFill>
                  <a:srgbClr val="202028"/>
                </a:solidFill>
                <a:latin typeface="Consolas"/>
              </a:rPr>
              <a:t>IMovable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m = (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IMovable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)car;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Явне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приведення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до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інтерфейсу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 err="1">
                <a:solidFill>
                  <a:srgbClr val="202028"/>
                </a:solidFill>
                <a:latin typeface="Consolas"/>
              </a:rPr>
              <a:t>m.Move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();</a:t>
            </a:r>
          </a:p>
          <a:p>
            <a:r>
              <a:rPr sz="1500" dirty="0"/>
              <a:t> 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if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(car is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IMovable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im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)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Безпечна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перевірка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+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змінна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im.Move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22113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learn.microsoft.com/dotnet/csharp/language-reference/operators/type-testing-and-cast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Реалізація кількох інтерфейсів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Клас може реалізувати будь-яку кількість інтерфейсів одночасно.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Інтерфейси перелічують через кому в списку базових типів.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Якщо сигнатури методів різних інтерфейсів збігаються - досить ОДНІЄЇ спільної реалізації.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50008"/>
            <a:ext cx="11186160" cy="2539746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Car :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IMovable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,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IComparable</a:t>
            </a:r>
            <a:endParaRPr sz="1300" b="0" dirty="0">
              <a:solidFill>
                <a:srgbClr val="202028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Move() =&gt;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("Move!");</a:t>
            </a:r>
          </a:p>
          <a:p>
            <a:r>
              <a:rPr sz="1300" dirty="0"/>
              <a:t> 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CompareTo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object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o)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300" i="1" dirty="0">
                <a:solidFill>
                  <a:srgbClr val="2E7D32"/>
                </a:solidFill>
                <a:latin typeface="Consolas"/>
              </a:rPr>
              <a:t>  // ...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порівняння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за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якимось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критерієм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...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0;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2634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Успадкування інтерфейсів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Інтерфейс може успадковувати від одного чи кількох інших інтерфейсів.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Похідний інтерфейс містить усі успадковані члени плюс власні.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Клас, що реалізує похідний інтерфейс, реалізує і всі успадковані члени теж.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</a:t>
            </a:r>
            <a:r>
              <a:rPr b="1">
                <a:solidFill>
                  <a:srgbClr val="1B4F9C"/>
                </a:solidFill>
                <a:latin typeface="Calibri"/>
              </a:rPr>
              <a:t>C# 8.0: </a:t>
            </a:r>
            <a:r>
              <a:rPr>
                <a:solidFill>
                  <a:srgbClr val="202028"/>
                </a:solidFill>
                <a:latin typeface="Calibri"/>
              </a:rPr>
              <a:t>похідний інтерфейс може перевизначити реалізацію за замовчуванням базового.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11112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IDrawable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Draw(); }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IPrintable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Print(); }</a:t>
            </a:r>
          </a:p>
          <a:p>
            <a:r>
              <a:rPr sz="1500" dirty="0"/>
              <a:t> 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IShape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: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IDrawable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,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IPrintable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Успадковує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обидва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GetNumberOfSides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();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79289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Явна реалізація членів інтерфейсу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Потрібна</a:t>
            </a:r>
            <a:r>
              <a:rPr dirty="0">
                <a:solidFill>
                  <a:srgbClr val="202028"/>
                </a:solidFill>
                <a:latin typeface="Calibri"/>
              </a:rPr>
              <a:t>,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коли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два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інтерфейси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мають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метод</a:t>
            </a:r>
            <a:r>
              <a:rPr dirty="0">
                <a:solidFill>
                  <a:srgbClr val="202028"/>
                </a:solidFill>
                <a:latin typeface="Calibri"/>
              </a:rPr>
              <a:t> з </a:t>
            </a:r>
            <a:r>
              <a:rPr dirty="0" err="1">
                <a:solidFill>
                  <a:srgbClr val="202028"/>
                </a:solidFill>
                <a:latin typeface="Calibri"/>
              </a:rPr>
              <a:t>однаковим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підписом</a:t>
            </a:r>
            <a:r>
              <a:rPr dirty="0">
                <a:solidFill>
                  <a:srgbClr val="202028"/>
                </a:solidFill>
                <a:latin typeface="Calibri"/>
              </a:rPr>
              <a:t>, </a:t>
            </a:r>
            <a:r>
              <a:rPr dirty="0" err="1">
                <a:solidFill>
                  <a:srgbClr val="202028"/>
                </a:solidFill>
                <a:latin typeface="Calibri"/>
              </a:rPr>
              <a:t>але</a:t>
            </a:r>
            <a:r>
              <a:rPr dirty="0">
                <a:solidFill>
                  <a:srgbClr val="202028"/>
                </a:solidFill>
                <a:latin typeface="Calibri"/>
              </a:rPr>
              <a:t> РІЗНОЮ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поведінкою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Синтаксис</a:t>
            </a:r>
            <a:r>
              <a:rPr dirty="0">
                <a:solidFill>
                  <a:srgbClr val="202028"/>
                </a:solidFill>
                <a:latin typeface="Calibri"/>
              </a:rPr>
              <a:t>: </a:t>
            </a:r>
            <a:r>
              <a:rPr dirty="0" err="1">
                <a:solidFill>
                  <a:srgbClr val="202028"/>
                </a:solidFill>
                <a:latin typeface="Calibri"/>
              </a:rPr>
              <a:t>Interface.Метод</a:t>
            </a:r>
            <a:r>
              <a:rPr dirty="0">
                <a:solidFill>
                  <a:srgbClr val="202028"/>
                </a:solidFill>
                <a:latin typeface="Calibri"/>
              </a:rPr>
              <a:t>() - </a:t>
            </a:r>
            <a:r>
              <a:rPr dirty="0" err="1">
                <a:solidFill>
                  <a:srgbClr val="202028"/>
                </a:solidFill>
                <a:latin typeface="Calibri"/>
              </a:rPr>
              <a:t>без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модифікатора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доступу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Викликати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такий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член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можна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лише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посилання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відповідного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інтерфейсу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змінну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класу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цей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член</a:t>
            </a:r>
            <a:r>
              <a:rPr dirty="0">
                <a:solidFill>
                  <a:srgbClr val="202028"/>
                </a:solidFill>
                <a:latin typeface="Calibri"/>
              </a:rPr>
              <a:t> НЕ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видно</a:t>
            </a:r>
            <a:r>
              <a:rPr dirty="0">
                <a:solidFill>
                  <a:srgbClr val="202028"/>
                </a:solidFill>
                <a:latin typeface="Calibri"/>
              </a:rPr>
              <a:t> й </a:t>
            </a:r>
            <a:r>
              <a:rPr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викликається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85288"/>
            <a:ext cx="11186160" cy="2368296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Document :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IPrintable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,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IDrawable</a:t>
            </a:r>
            <a:endParaRPr sz="1500" b="0" dirty="0">
              <a:solidFill>
                <a:srgbClr val="202028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IPrintable.Print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() =&gt;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("Printing...");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IDrawable.Draw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()   =&gt;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("Drawing...");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500" dirty="0"/>
              <a:t> 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Document d =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Document();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((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IPrintable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)d).Print();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Лише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так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-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через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тип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інтерфейсу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36464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Документація: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learn.microsoft.com/dotnet/csharp/fundamentals/types/interfaces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none" lIns="0" tIns="0">
            <a:noAutofit/>
          </a:bodyPr>
          <a:lstStyle/>
          <a:p>
            <a:r>
              <a:rPr sz="1300" b="1">
                <a:solidFill>
                  <a:srgbClr val="1B4F9C"/>
                </a:solidFill>
                <a:latin typeface="Calibri"/>
              </a:rPr>
              <a:t>НОВЕ В C# 8.0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Реалізація за замовчуванням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Метод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чи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властивість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інтерфейсу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може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отримати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готове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тіло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прямо</a:t>
            </a:r>
            <a:r>
              <a:rPr dirty="0">
                <a:solidFill>
                  <a:srgbClr val="202028"/>
                </a:solidFill>
                <a:latin typeface="Calibri"/>
              </a:rPr>
              <a:t> в </a:t>
            </a:r>
            <a:r>
              <a:rPr dirty="0" err="1">
                <a:solidFill>
                  <a:srgbClr val="202028"/>
                </a:solidFill>
                <a:latin typeface="Calibri"/>
              </a:rPr>
              <a:t>оголошенні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Реалізовувати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такий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член</a:t>
            </a:r>
            <a:r>
              <a:rPr dirty="0">
                <a:solidFill>
                  <a:srgbClr val="202028"/>
                </a:solidFill>
                <a:latin typeface="Calibri"/>
              </a:rPr>
              <a:t> у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класі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більше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обов'язково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Класи</a:t>
            </a:r>
            <a:r>
              <a:rPr dirty="0">
                <a:solidFill>
                  <a:srgbClr val="202028"/>
                </a:solidFill>
                <a:latin typeface="Calibri"/>
              </a:rPr>
              <a:t>, </a:t>
            </a:r>
            <a:r>
              <a:rPr dirty="0" err="1">
                <a:solidFill>
                  <a:srgbClr val="202028"/>
                </a:solidFill>
                <a:latin typeface="Calibri"/>
              </a:rPr>
              <a:t>які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вже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реалізують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dirty="0">
                <a:solidFill>
                  <a:srgbClr val="202028"/>
                </a:solidFill>
                <a:latin typeface="Calibri"/>
              </a:rPr>
              <a:t>, </a:t>
            </a:r>
            <a:r>
              <a:rPr dirty="0" err="1">
                <a:solidFill>
                  <a:srgbClr val="202028"/>
                </a:solidFill>
                <a:latin typeface="Calibri"/>
              </a:rPr>
              <a:t>автоматично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отримують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новий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член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без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змін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власного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коду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dirty="0">
                <a:solidFill>
                  <a:srgbClr val="202028"/>
                </a:solidFill>
                <a:latin typeface="Calibri"/>
              </a:rPr>
              <a:t>•  </a:t>
            </a:r>
            <a:r>
              <a:rPr dirty="0" err="1">
                <a:solidFill>
                  <a:srgbClr val="202028"/>
                </a:solidFill>
                <a:latin typeface="Calibri"/>
              </a:rPr>
              <a:t>За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потреби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клас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все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одно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може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перевизначити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його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власною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реалізацією</a:t>
            </a:r>
            <a:r>
              <a:rPr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32760"/>
            <a:ext cx="11186160" cy="2985516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3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ILogger</a:t>
            </a:r>
            <a:endParaRPr sz="1300" b="0" dirty="0">
              <a:solidFill>
                <a:srgbClr val="202028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Log(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s) =&gt;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($"[LOG] {s}");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 dirty="0"/>
              <a:t> </a:t>
            </a:r>
          </a:p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FileLogger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: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ILogger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{ }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Log()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успадковано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без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змін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dirty="0"/>
              <a:t> </a:t>
            </a:r>
          </a:p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ConsoleLogger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: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ILogger</a:t>
            </a:r>
            <a:endParaRPr sz="1300" b="0" dirty="0">
              <a:solidFill>
                <a:srgbClr val="202028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Log(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s)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Власна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реалізація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-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перевизначає</a:t>
            </a:r>
            <a:endParaRPr sz="1300" i="1" dirty="0">
              <a:solidFill>
                <a:srgbClr val="2E7D32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    =&gt;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(s);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версію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за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замовчуванням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01156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Що нового в C# 8.0: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learn.microsoft.com/dotnet/csharp/whats-new/csharp-8#default-interface-methods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194560" cy="320040"/>
          </a:xfrm>
          <a:prstGeom prst="rect">
            <a:avLst/>
          </a:prstGeom>
          <a:noFill/>
        </p:spPr>
        <p:txBody>
          <a:bodyPr wrap="none" lIns="0" tIns="0">
            <a:noAutofit/>
          </a:bodyPr>
          <a:lstStyle/>
          <a:p>
            <a:r>
              <a:rPr sz="1300" b="1">
                <a:solidFill>
                  <a:srgbClr val="1B4F9C"/>
                </a:solidFill>
                <a:latin typeface="Calibri"/>
              </a:rPr>
              <a:t>НОВЕ В C# 8.0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67512"/>
            <a:ext cx="111861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Статичні члени та private-логіка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1186160" cy="1478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Інтерфейс може мати статичні поля, властивості, методи й навіть статичний конструктор.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Вони належать самому інтерфейсу, а не якомусь класу-реалізатору.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private-члени служать для внутрішньої допоміжної логіки й недоступні ззовні.</a:t>
            </a:r>
          </a:p>
          <a:p>
            <a:pPr>
              <a:spcAft>
                <a:spcPts val="700"/>
              </a:spcAft>
            </a:pPr>
            <a:r>
              <a:rPr>
                <a:solidFill>
                  <a:srgbClr val="202028"/>
                </a:solidFill>
                <a:latin typeface="Calibri"/>
              </a:rPr>
              <a:t>•  Звернення до статичного члена - через ім'я інтерфейсу, а не через об'єкт.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32760"/>
            <a:ext cx="11186160" cy="2316861"/>
          </a:xfrm>
          <a:prstGeom prst="roundRect">
            <a:avLst>
              <a:gd name="adj" fmla="val 35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37160" rIns="164592" bIns="137160" rtlCol="0" anchor="t">
            <a:noAutofit/>
          </a:bodyPr>
          <a:lstStyle/>
          <a:p>
            <a:r>
              <a:rPr sz="13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ICounter</a:t>
            </a:r>
            <a:endParaRPr sz="1300" b="0" dirty="0">
              <a:solidFill>
                <a:srgbClr val="202028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private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count = 0;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Доступно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лише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всередині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інтерфейсу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dirty="0"/>
              <a:t> 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Next() =&gt; ++count;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Статичний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метод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 dirty="0"/>
              <a:t> </a:t>
            </a:r>
          </a:p>
          <a:p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a =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ICounter.Next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();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Звернення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через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ім'я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інтерфейсу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b =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ICounter.Next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();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a = 1, b =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32501"/>
            <a:ext cx="1118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>
                <a:solidFill>
                  <a:srgbClr val="202028"/>
                </a:solidFill>
                <a:latin typeface="Calibri"/>
              </a:rPr>
              <a:t>Що нового в C# 8.0: </a:t>
            </a:r>
            <a:r>
              <a:rPr sz="1300" u="sng">
                <a:solidFill>
                  <a:srgbClr val="0B63C7"/>
                </a:solidFill>
                <a:latin typeface="Calibri"/>
                <a:hlinkClick r:id="rId2"/>
              </a:rPr>
              <a:t>learn.microsoft.com/dotnet/csharp/whats-new/csharp-8#default-interface-methods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1007919" y="2026227"/>
            <a:ext cx="56430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ВСТУП</a:t>
            </a: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(ТЕОР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ІЯ ПО ІНТЕРФЕЙСАМ</a:t>
            </a:r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566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4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Інтерфейси</a:t>
            </a:r>
            <a:r>
              <a:rPr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sz="4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план</a:t>
            </a:r>
            <a:r>
              <a:rPr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розділу</a:t>
            </a:r>
            <a:endParaRPr sz="4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11231880" cy="4114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Що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таке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Оголошення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інтерфейсу</a:t>
            </a:r>
            <a:endParaRPr sz="2400" dirty="0">
              <a:solidFill>
                <a:srgbClr val="2020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Реалізація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інтерфейсу</a:t>
            </a:r>
            <a:endParaRPr sz="2400" dirty="0">
              <a:solidFill>
                <a:srgbClr val="2020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як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посилальний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тип</a:t>
            </a:r>
            <a:endParaRPr sz="2400" dirty="0">
              <a:solidFill>
                <a:srgbClr val="2020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Оператор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з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інтерфейсами</a:t>
            </a:r>
            <a:endParaRPr sz="2400" dirty="0">
              <a:solidFill>
                <a:srgbClr val="2020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Реалізація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кількох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інтерфейсів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одразу</a:t>
            </a:r>
            <a:endParaRPr sz="2400" dirty="0">
              <a:solidFill>
                <a:srgbClr val="2020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Коли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сигнатури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методів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збігаються</a:t>
            </a:r>
            <a:endParaRPr sz="2400" dirty="0">
              <a:solidFill>
                <a:srgbClr val="2020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Успадкований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як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реалізація</a:t>
            </a:r>
            <a:endParaRPr sz="2400" dirty="0">
              <a:solidFill>
                <a:srgbClr val="2020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Явна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реалізація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членів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інтерфейсу</a:t>
            </a:r>
            <a:endParaRPr sz="2400" dirty="0">
              <a:solidFill>
                <a:srgbClr val="2020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Успадкування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інтерфейсу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</a:t>
            </a:r>
            <a:r>
              <a:rPr sz="24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інтерфейсу</a:t>
            </a:r>
            <a:endParaRPr sz="2400" dirty="0">
              <a:solidFill>
                <a:srgbClr val="2020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389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</a:rPr>
              <a:t>Навіщо потрібен інтерфейс?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1787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 dirty="0" err="1">
                <a:solidFill>
                  <a:srgbClr val="202028"/>
                </a:solidFill>
              </a:rPr>
              <a:t>Якщо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метод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приймає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параметр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конкретного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класу</a:t>
            </a:r>
            <a:r>
              <a:rPr sz="2400" dirty="0">
                <a:solidFill>
                  <a:srgbClr val="202028"/>
                </a:solidFill>
              </a:rPr>
              <a:t> CA, </a:t>
            </a:r>
            <a:r>
              <a:rPr sz="2400" dirty="0" err="1">
                <a:solidFill>
                  <a:srgbClr val="202028"/>
                </a:solidFill>
              </a:rPr>
              <a:t>він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не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зможе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прийняти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інший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клас</a:t>
            </a:r>
            <a:r>
              <a:rPr sz="2400" dirty="0">
                <a:solidFill>
                  <a:srgbClr val="202028"/>
                </a:solidFill>
              </a:rPr>
              <a:t> CB, </a:t>
            </a:r>
            <a:r>
              <a:rPr sz="2400" dirty="0" err="1">
                <a:solidFill>
                  <a:srgbClr val="202028"/>
                </a:solidFill>
              </a:rPr>
              <a:t>навіть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якщо</a:t>
            </a:r>
            <a:r>
              <a:rPr sz="2400" dirty="0">
                <a:solidFill>
                  <a:srgbClr val="202028"/>
                </a:solidFill>
              </a:rPr>
              <a:t> в CB є </a:t>
            </a:r>
            <a:r>
              <a:rPr sz="2400" dirty="0" err="1">
                <a:solidFill>
                  <a:srgbClr val="202028"/>
                </a:solidFill>
              </a:rPr>
              <a:t>ті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самі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дані</a:t>
            </a:r>
            <a:r>
              <a:rPr sz="2400" dirty="0">
                <a:solidFill>
                  <a:srgbClr val="202028"/>
                </a:solidFill>
              </a:rPr>
              <a:t>, </a:t>
            </a:r>
            <a:r>
              <a:rPr sz="2400" dirty="0" err="1">
                <a:solidFill>
                  <a:srgbClr val="202028"/>
                </a:solidFill>
              </a:rPr>
              <a:t>але</a:t>
            </a:r>
            <a:r>
              <a:rPr sz="2400" dirty="0">
                <a:solidFill>
                  <a:srgbClr val="202028"/>
                </a:solidFill>
              </a:rPr>
              <a:t> в </a:t>
            </a:r>
            <a:r>
              <a:rPr sz="2400" dirty="0" err="1">
                <a:solidFill>
                  <a:srgbClr val="202028"/>
                </a:solidFill>
              </a:rPr>
              <a:t>іншій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формі</a:t>
            </a:r>
            <a:r>
              <a:rPr sz="2400" dirty="0">
                <a:solidFill>
                  <a:srgbClr val="202028"/>
                </a:solidFill>
              </a:rPr>
              <a:t>. </a:t>
            </a:r>
            <a:r>
              <a:rPr sz="2400" dirty="0" err="1">
                <a:solidFill>
                  <a:srgbClr val="202028"/>
                </a:solidFill>
              </a:rPr>
              <a:t>Довелося</a:t>
            </a:r>
            <a:r>
              <a:rPr sz="2400" dirty="0">
                <a:solidFill>
                  <a:srgbClr val="202028"/>
                </a:solidFill>
              </a:rPr>
              <a:t> б </a:t>
            </a:r>
            <a:r>
              <a:rPr sz="2400" dirty="0" err="1">
                <a:solidFill>
                  <a:srgbClr val="202028"/>
                </a:solidFill>
              </a:rPr>
              <a:t>писати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окремий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метод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під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кожен</a:t>
            </a:r>
            <a:r>
              <a:rPr sz="2400" dirty="0">
                <a:solidFill>
                  <a:srgbClr val="202028"/>
                </a:solidFill>
              </a:rPr>
              <a:t> </a:t>
            </a:r>
            <a:r>
              <a:rPr sz="2400" dirty="0" err="1">
                <a:solidFill>
                  <a:srgbClr val="202028"/>
                </a:solidFill>
              </a:rPr>
              <a:t>клас</a:t>
            </a:r>
            <a:r>
              <a:rPr sz="2400" dirty="0">
                <a:solidFill>
                  <a:srgbClr val="202028"/>
                </a:solidFill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09246"/>
            <a:ext cx="11231880" cy="35509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CA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Name;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Age;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 dirty="0"/>
              <a:t> </a:t>
            </a:r>
          </a:p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Program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PrintInfo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(CA item)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Приймає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лише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CA.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($"Name: {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item.Name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}, Age: {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item.Age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}");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Клас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CB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сюди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передати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не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можна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-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навіть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якщо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в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нього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є Name і Age.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7236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DC897-43D2-AA85-88B7-258552651FDB}"/>
              </a:ext>
            </a:extLst>
          </p:cNvPr>
          <p:cNvSpPr txBox="1"/>
          <p:nvPr/>
        </p:nvSpPr>
        <p:spPr>
          <a:xfrm rot="16200000">
            <a:off x="-2418078" y="373638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389</a:t>
            </a:r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1050036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Приклад p389 - спільний контракт IInfo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058275"/>
            <a:ext cx="1050036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IInfo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оголошує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спільний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контракт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GetName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()/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GetAge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Класи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 і CB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реалізують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його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по-різному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а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PrintInfo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приймає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параметр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типу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IInfo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тому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працює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обома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класами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змін</a:t>
            </a:r>
            <a:r>
              <a:rPr sz="2000" dirty="0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2442158"/>
            <a:ext cx="10812490" cy="4271158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1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IInfo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Оголошення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інтерфейсу-контракту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GetName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GetAge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100" dirty="0"/>
              <a:t> 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CA :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IInfo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CA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зберігає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ім'я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одним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полем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Name;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Age;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GetName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Name;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GetAge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Age.ToString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();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100" dirty="0"/>
              <a:t> 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CB :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IInfo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CB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зберігає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ім'я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інакше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(First/Last).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First;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Last;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double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PersonsAge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GetName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First + " " + Last;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GetAge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PersonsAge.ToString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();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1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79C38-069A-50F5-FE69-765B2D3562DB}"/>
              </a:ext>
            </a:extLst>
          </p:cNvPr>
          <p:cNvSpPr txBox="1"/>
          <p:nvPr/>
        </p:nvSpPr>
        <p:spPr>
          <a:xfrm>
            <a:off x="6097930" y="3261992"/>
            <a:ext cx="609407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 Program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lang="en-US" sz="11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lang="en-US" sz="1100" b="0" dirty="0" err="1">
                <a:solidFill>
                  <a:srgbClr val="202028"/>
                </a:solidFill>
                <a:latin typeface="Consolas"/>
              </a:rPr>
              <a:t>PrintInfo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lang="en-US" sz="1100" b="0" dirty="0" err="1">
                <a:solidFill>
                  <a:srgbClr val="202028"/>
                </a:solidFill>
                <a:latin typeface="Consolas"/>
              </a:rPr>
              <a:t>IInfo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 item)</a:t>
            </a:r>
            <a:r>
              <a:rPr lang="en-US"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lang="uk-UA" sz="1100" i="1" dirty="0">
                <a:solidFill>
                  <a:srgbClr val="2E7D32"/>
                </a:solidFill>
                <a:latin typeface="Consolas"/>
              </a:rPr>
              <a:t>Параметр типу інтерфейсу </a:t>
            </a:r>
            <a:r>
              <a:rPr lang="en-US" sz="1100" i="1" dirty="0" err="1">
                <a:solidFill>
                  <a:srgbClr val="2E7D32"/>
                </a:solidFill>
                <a:latin typeface="Consolas"/>
              </a:rPr>
              <a:t>IInfo</a:t>
            </a:r>
            <a:r>
              <a:rPr lang="en-US" sz="11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lang="en-US" sz="11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($"Name: {</a:t>
            </a:r>
            <a:r>
              <a:rPr lang="en-US" sz="1100" b="0" dirty="0" err="1">
                <a:solidFill>
                  <a:srgbClr val="202028"/>
                </a:solidFill>
                <a:latin typeface="Consolas"/>
              </a:rPr>
              <a:t>item.GetName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()}, Age: {</a:t>
            </a:r>
            <a:r>
              <a:rPr lang="en-US" sz="1100" b="0" dirty="0" err="1">
                <a:solidFill>
                  <a:srgbClr val="202028"/>
                </a:solidFill>
                <a:latin typeface="Consolas"/>
              </a:rPr>
              <a:t>item.GetAge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()}");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lang="en-US" sz="1100" dirty="0"/>
              <a:t> 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lang="en-US" sz="11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 Main()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    CA a = </a:t>
            </a:r>
            <a:r>
              <a:rPr lang="en-US" sz="11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 CA() { Name = "John Doe", Age = 35 };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    CB b = </a:t>
            </a:r>
            <a:r>
              <a:rPr lang="en-US" sz="11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 CB() { First = "Jane", Last = "Doe", </a:t>
            </a:r>
            <a:r>
              <a:rPr lang="en-US" sz="1100" b="0" dirty="0" err="1">
                <a:solidFill>
                  <a:srgbClr val="202028"/>
                </a:solidFill>
                <a:latin typeface="Consolas"/>
              </a:rPr>
              <a:t>PersonsAge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 = 33 };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lang="en-US" sz="1100" b="0" dirty="0" err="1">
                <a:solidFill>
                  <a:srgbClr val="202028"/>
                </a:solidFill>
                <a:latin typeface="Consolas"/>
              </a:rPr>
              <a:t>PrintInfo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(a);</a:t>
            </a:r>
            <a:r>
              <a:rPr lang="en-US"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lang="uk-UA" sz="1100" i="1" dirty="0">
                <a:solidFill>
                  <a:srgbClr val="2E7D32"/>
                </a:solidFill>
                <a:latin typeface="Consolas"/>
              </a:rPr>
              <a:t>Обидва об'єкти проходять через</a:t>
            </a:r>
          </a:p>
          <a:p>
            <a:r>
              <a:rPr lang="uk-UA" sz="11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lang="en-US" sz="1100" b="0" dirty="0" err="1">
                <a:solidFill>
                  <a:srgbClr val="202028"/>
                </a:solidFill>
                <a:latin typeface="Consolas"/>
              </a:rPr>
              <a:t>PrintInfo</a:t>
            </a:r>
            <a:r>
              <a:rPr lang="en-US" sz="1100" b="0" dirty="0">
                <a:solidFill>
                  <a:srgbClr val="202028"/>
                </a:solidFill>
                <a:latin typeface="Consolas"/>
              </a:rPr>
              <a:t>(b);</a:t>
            </a:r>
            <a:r>
              <a:rPr lang="en-US"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lang="uk-UA" sz="1100" i="1" dirty="0">
                <a:solidFill>
                  <a:srgbClr val="2E7D32"/>
                </a:solidFill>
                <a:latin typeface="Consolas"/>
              </a:rPr>
              <a:t>той самий метод завдяки </a:t>
            </a:r>
            <a:r>
              <a:rPr lang="en-US" sz="1100" i="1" dirty="0" err="1">
                <a:solidFill>
                  <a:srgbClr val="2E7D32"/>
                </a:solidFill>
                <a:latin typeface="Consolas"/>
              </a:rPr>
              <a:t>IInfo</a:t>
            </a:r>
            <a:r>
              <a:rPr lang="en-US" sz="11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lang="en-US" sz="11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5237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Порядок у списку базових типів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66608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Якщо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клас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одночасно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успадковує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базовий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клас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і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реалізує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інтерфейси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ім'я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базового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класу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має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стояти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першим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у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списку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перед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іменами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інтерфейсів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Базовий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клас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може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бути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лише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один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а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інтерфейсів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будь-яка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кількість</a:t>
            </a:r>
            <a:r>
              <a:rPr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960432"/>
            <a:ext cx="11231880" cy="133096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20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2000" b="0" dirty="0">
                <a:solidFill>
                  <a:srgbClr val="202028"/>
                </a:solidFill>
                <a:latin typeface="Consolas"/>
              </a:rPr>
              <a:t> Derived : </a:t>
            </a:r>
            <a:r>
              <a:rPr sz="2000" b="0" dirty="0" err="1">
                <a:solidFill>
                  <a:srgbClr val="202028"/>
                </a:solidFill>
                <a:latin typeface="Consolas"/>
              </a:rPr>
              <a:t>MyBaseClass</a:t>
            </a:r>
            <a:r>
              <a:rPr sz="2000" b="0" dirty="0">
                <a:solidFill>
                  <a:srgbClr val="202028"/>
                </a:solidFill>
                <a:latin typeface="Consolas"/>
              </a:rPr>
              <a:t>, IIfc1, </a:t>
            </a:r>
            <a:r>
              <a:rPr sz="2000" b="0" dirty="0" err="1">
                <a:solidFill>
                  <a:srgbClr val="202028"/>
                </a:solidFill>
                <a:latin typeface="Consolas"/>
              </a:rPr>
              <a:t>IEnumerable</a:t>
            </a:r>
            <a:r>
              <a:rPr sz="2000" b="0" dirty="0">
                <a:solidFill>
                  <a:srgbClr val="202028"/>
                </a:solidFill>
                <a:latin typeface="Consolas"/>
              </a:rPr>
              <a:t>, </a:t>
            </a:r>
            <a:r>
              <a:rPr sz="2000" b="0" dirty="0" err="1">
                <a:solidFill>
                  <a:srgbClr val="202028"/>
                </a:solidFill>
                <a:latin typeface="Consolas"/>
              </a:rPr>
              <a:t>IComparable</a:t>
            </a:r>
            <a:endParaRPr sz="2000" b="0" dirty="0">
              <a:solidFill>
                <a:srgbClr val="202028"/>
              </a:solidFill>
              <a:latin typeface="Consolas"/>
            </a:endParaRPr>
          </a:p>
          <a:p>
            <a:r>
              <a:rPr sz="20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2000" i="1" dirty="0">
                <a:solidFill>
                  <a:srgbClr val="2E7D32"/>
                </a:solidFill>
                <a:latin typeface="Consolas"/>
              </a:rPr>
              <a:t>  // ...</a:t>
            </a:r>
          </a:p>
          <a:p>
            <a:r>
              <a:rPr sz="20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7466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A4EB1-5F82-430B-3C49-6CD2B3CBF0C3}"/>
              </a:ext>
            </a:extLst>
          </p:cNvPr>
          <p:cNvSpPr txBox="1"/>
          <p:nvPr/>
        </p:nvSpPr>
        <p:spPr>
          <a:xfrm rot="16200000">
            <a:off x="-2263170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</a:t>
            </a:r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0</a:t>
            </a:r>
          </a:p>
          <a:p>
            <a:pPr algn="ctr"/>
            <a:r>
              <a:rPr lang="en-US" sz="3200" dirty="0" err="1">
                <a:solidFill>
                  <a:srgbClr val="FF0000"/>
                </a:solidFill>
                <a:latin typeface="agave Nerd Font Mono" panose="020B0509020404030204" pitchFamily="49" charset="0"/>
              </a:rPr>
              <a:t>IComparable</a:t>
            </a:r>
            <a:endParaRPr lang="en-US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sp>
        <p:nvSpPr>
          <p:cNvPr id="11" name="Стрелка: изогнутая вверх 10">
            <a:extLst>
              <a:ext uri="{FF2B5EF4-FFF2-40B4-BE49-F238E27FC236}">
                <a16:creationId xmlns:a16="http://schemas.microsoft.com/office/drawing/2014/main" id="{3B58E73B-8053-D2D0-A24A-F424A086C2F4}"/>
              </a:ext>
            </a:extLst>
          </p:cNvPr>
          <p:cNvSpPr/>
          <p:nvPr/>
        </p:nvSpPr>
        <p:spPr>
          <a:xfrm rot="10800000" flipH="1">
            <a:off x="8452205" y="742118"/>
            <a:ext cx="1162131" cy="6858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234440" y="274320"/>
            <a:ext cx="5880201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 dirty="0" err="1">
                <a:solidFill>
                  <a:srgbClr val="202028"/>
                </a:solidFill>
                <a:latin typeface="Calibri"/>
              </a:rPr>
              <a:t>Приклад</a:t>
            </a:r>
            <a:r>
              <a:rPr sz="2800" b="1" dirty="0">
                <a:solidFill>
                  <a:srgbClr val="202028"/>
                </a:solidFill>
                <a:latin typeface="Calibri"/>
              </a:rPr>
              <a:t> - </a:t>
            </a:r>
            <a:r>
              <a:rPr sz="2800" b="1" dirty="0" err="1">
                <a:solidFill>
                  <a:srgbClr val="202028"/>
                </a:solidFill>
                <a:latin typeface="Calibri"/>
              </a:rPr>
              <a:t>вбудований</a:t>
            </a:r>
            <a:r>
              <a:rPr sz="2800" b="1" dirty="0">
                <a:solidFill>
                  <a:srgbClr val="20202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202028"/>
                </a:solidFill>
                <a:latin typeface="Calibri"/>
              </a:rPr>
              <a:t>IComparable</a:t>
            </a:r>
            <a:endParaRPr sz="2800" b="1" dirty="0">
              <a:solidFill>
                <a:srgbClr val="20202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34440" y="1277839"/>
            <a:ext cx="5880201" cy="1859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000" dirty="0" err="1">
                <a:solidFill>
                  <a:srgbClr val="202028"/>
                </a:solidFill>
                <a:latin typeface="Calibri"/>
              </a:rPr>
              <a:t>Array.Sort</a:t>
            </a:r>
            <a:r>
              <a:rPr sz="2000" dirty="0">
                <a:solidFill>
                  <a:srgbClr val="202028"/>
                </a:solidFill>
                <a:latin typeface="Calibri"/>
              </a:rPr>
              <a:t>()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уміє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сортувати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масив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int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лише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тому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що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int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реалізує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стандартний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IComparable</a:t>
            </a:r>
            <a:r>
              <a:rPr sz="2000" dirty="0">
                <a:solidFill>
                  <a:srgbClr val="202028"/>
                </a:solidFill>
                <a:latin typeface="Calibri"/>
              </a:rPr>
              <a:t>&lt;int&gt;.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Сам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Sort()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порівнює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елементи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цей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знаючи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заздалегідь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що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це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саме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6453" y="4004202"/>
            <a:ext cx="5880201" cy="25603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sz="1500" b="0">
                <a:solidFill>
                  <a:srgbClr val="202028"/>
                </a:solidFill>
                <a:latin typeface="Consolas"/>
              </a:rPr>
              <a:t>var myInt = new[] { 20, 4, 16, 9, 2 };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Масив цілих чисел.</a:t>
            </a:r>
          </a:p>
          <a:p>
            <a:r>
              <a:rPr sz="1500"/>
              <a:t> 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Array.Sort(myInt);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Сортує через вбудований IComparable&lt;int&gt;.</a:t>
            </a:r>
          </a:p>
          <a:p>
            <a:r>
              <a:rPr sz="1500"/>
              <a:t> </a:t>
            </a:r>
          </a:p>
          <a:p>
            <a:r>
              <a:rPr sz="1500" b="1">
                <a:solidFill>
                  <a:srgbClr val="1B4F9C"/>
                </a:solidFill>
                <a:latin typeface="Consolas"/>
              </a:rPr>
              <a:t>foreach</a:t>
            </a:r>
            <a:r>
              <a:rPr sz="1500" b="0">
                <a:solidFill>
                  <a:srgbClr val="202028"/>
                </a:solidFill>
                <a:latin typeface="Consolas"/>
              </a:rPr>
              <a:t> (var i in myInt)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    Console.Write($"{i} ");</a:t>
            </a:r>
            <a:r>
              <a:rPr sz="1500" i="1">
                <a:solidFill>
                  <a:srgbClr val="2E7D32"/>
                </a:solidFill>
                <a:latin typeface="Consolas"/>
              </a:rPr>
              <a:t>  // 2 4 9 16 20</a:t>
            </a:r>
          </a:p>
        </p:txBody>
      </p:sp>
      <p:pic>
        <p:nvPicPr>
          <p:cNvPr id="15" name="Picture 14" descr="diagram_31.png"/>
          <p:cNvPicPr>
            <a:picLocks noChangeAspect="1"/>
          </p:cNvPicPr>
          <p:nvPr/>
        </p:nvPicPr>
        <p:blipFill rotWithShape="1">
          <a:blip r:embed="rId2"/>
          <a:srcRect r="53429"/>
          <a:stretch/>
        </p:blipFill>
        <p:spPr>
          <a:xfrm>
            <a:off x="7532935" y="2394292"/>
            <a:ext cx="4373731" cy="264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85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41" y="4652088"/>
            <a:ext cx="6143405" cy="1859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136233-B4F9-5140-BB17-36BC149AB37C}"/>
              </a:ext>
            </a:extLst>
          </p:cNvPr>
          <p:cNvSpPr txBox="1"/>
          <p:nvPr/>
        </p:nvSpPr>
        <p:spPr>
          <a:xfrm rot="16200000">
            <a:off x="-2263170" y="208028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p393</a:t>
            </a:r>
          </a:p>
          <a:p>
            <a:pPr algn="ctr"/>
            <a:r>
              <a:rPr lang="en-US" sz="3200" dirty="0" err="1">
                <a:solidFill>
                  <a:srgbClr val="FF0000"/>
                </a:solidFill>
                <a:latin typeface="agave Nerd Font Mono" panose="020B0509020404030204" pitchFamily="49" charset="0"/>
              </a:rPr>
              <a:t>IComparable</a:t>
            </a:r>
            <a:endParaRPr lang="en-US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187528"/>
            <a:ext cx="5880201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Приклад p393 - IComparable для власного класу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1" y="2081936"/>
            <a:ext cx="5120906" cy="1859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 dirty="0" err="1">
                <a:solidFill>
                  <a:srgbClr val="202028"/>
                </a:solidFill>
                <a:latin typeface="Calibri"/>
              </a:rPr>
              <a:t>Щоб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Array.Sort</a:t>
            </a:r>
            <a:r>
              <a:rPr sz="2000" dirty="0">
                <a:solidFill>
                  <a:srgbClr val="202028"/>
                </a:solidFill>
                <a:latin typeface="Calibri"/>
              </a:rPr>
              <a:t>()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міг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відсортувати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масив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об'єктів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власного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класу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клас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має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явно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реалізувати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CompareTo</a:t>
            </a:r>
            <a:r>
              <a:rPr sz="2000" dirty="0">
                <a:solidFill>
                  <a:srgbClr val="202028"/>
                </a:solidFill>
                <a:latin typeface="Calibri"/>
              </a:rPr>
              <a:t>() -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той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самий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метод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який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Sort()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порівнює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будь-які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елементи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незалежно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від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їх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типу</a:t>
            </a:r>
            <a:r>
              <a:rPr sz="20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2188" y="844773"/>
            <a:ext cx="5120905" cy="5516698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sz="12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MyClass : 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IComparable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Клас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реалізує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IComparable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TheValue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200" dirty="0"/>
              <a:t> 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CompareTo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object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obj)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Через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цей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метод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Array.Sort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()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{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порівнюватиме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об'єкти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MyClass.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    MyClass mc = (MyClass)obj;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if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(</a:t>
            </a:r>
            <a:r>
              <a:rPr sz="1200" b="1" dirty="0" err="1">
                <a:solidFill>
                  <a:srgbClr val="1B4F9C"/>
                </a:solidFill>
                <a:latin typeface="Consolas"/>
              </a:rPr>
              <a:t>this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.TheValue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&lt; 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mc.TheValue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)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-1;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if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(</a:t>
            </a:r>
            <a:r>
              <a:rPr sz="1200" b="1" dirty="0" err="1">
                <a:solidFill>
                  <a:srgbClr val="1B4F9C"/>
                </a:solidFill>
                <a:latin typeface="Consolas"/>
              </a:rPr>
              <a:t>this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.TheValue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&gt; 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mc.TheValue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)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1;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0;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200" dirty="0"/>
              <a:t> </a:t>
            </a:r>
          </a:p>
          <a:p>
            <a:r>
              <a:rPr sz="12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Program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Main()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    MyClass[] 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mcArr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= </a:t>
            </a:r>
            <a:r>
              <a:rPr sz="12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 MyClass[5];</a:t>
            </a:r>
          </a:p>
          <a:p>
            <a:r>
              <a:rPr sz="1200" i="1" dirty="0">
                <a:solidFill>
                  <a:srgbClr val="2E7D32"/>
                </a:solidFill>
                <a:latin typeface="Consolas"/>
              </a:rPr>
              <a:t>  // ...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заповнення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масиву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значеннями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...</a:t>
            </a:r>
          </a:p>
          <a:p>
            <a:r>
              <a:rPr sz="1200" dirty="0"/>
              <a:t> 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Array.Sort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202028"/>
                </a:solidFill>
                <a:latin typeface="Consolas"/>
              </a:rPr>
              <a:t>mcArr</a:t>
            </a:r>
            <a:r>
              <a:rPr sz="1200" b="0" dirty="0">
                <a:solidFill>
                  <a:srgbClr val="202028"/>
                </a:solidFill>
                <a:latin typeface="Consolas"/>
              </a:rPr>
              <a:t>);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Працює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для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будь-якого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класу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,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    }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що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реалізує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2E7D32"/>
                </a:solidFill>
                <a:latin typeface="Consolas"/>
              </a:rPr>
              <a:t>IComparable</a:t>
            </a:r>
            <a:r>
              <a:rPr sz="12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2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8294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Інтерфейс проти абстрактного класу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 dirty="0" err="1">
                <a:solidFill>
                  <a:srgbClr val="FF0000"/>
                </a:solidFill>
                <a:latin typeface="Calibri"/>
              </a:rPr>
              <a:t>Інтерфейс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не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може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мати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полів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і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не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містить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реалізації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жодного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члена</a:t>
            </a:r>
            <a:r>
              <a:rPr sz="2400" dirty="0">
                <a:solidFill>
                  <a:srgbClr val="FF0000"/>
                </a:solidFill>
                <a:latin typeface="Calibri"/>
              </a:rPr>
              <a:t>.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Абстрактний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клас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може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мати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поля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та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звичайні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(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не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абстрактні</a:t>
            </a:r>
            <a:r>
              <a:rPr sz="2400" dirty="0">
                <a:solidFill>
                  <a:srgbClr val="FF0000"/>
                </a:solidFill>
                <a:latin typeface="Calibri"/>
              </a:rPr>
              <a:t>)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методи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з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готовою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реалізацією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- у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цьому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їхня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головна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відмінність</a:t>
            </a:r>
            <a:r>
              <a:rPr sz="240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87039"/>
            <a:ext cx="11231880" cy="280416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IMyInterface1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DoStuff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nVar1, long lVar2);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Лише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підпис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500" dirty="0"/>
              <a:t> 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abstract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MyAbstractClass</a:t>
            </a:r>
            <a:endParaRPr sz="1500" b="0" dirty="0">
              <a:solidFill>
                <a:srgbClr val="202028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SomeField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Поле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-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дозволено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DoStuff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() { /* ... */ }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Готова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реалізація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-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дозволено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1870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9160E4-F27D-F8AD-54CD-6E15F518F41B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</a:t>
            </a:r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7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50036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Приклад p397 - найпростіша реалізація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36039"/>
            <a:ext cx="10500360" cy="1066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IIfc1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оголошує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лише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сигнатуру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методу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PrintOut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без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тіла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Клас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MyClass,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реалізуючи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IIfc1,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зобов'язаний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надати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власне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тіло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методу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722879"/>
            <a:ext cx="10500360" cy="381508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sz="11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100" b="0">
                <a:solidFill>
                  <a:srgbClr val="202028"/>
                </a:solidFill>
                <a:latin typeface="Consolas"/>
              </a:rPr>
              <a:t> IIfc1</a:t>
            </a:r>
            <a:r>
              <a:rPr sz="1100" i="1">
                <a:solidFill>
                  <a:srgbClr val="2E7D32"/>
                </a:solidFill>
                <a:latin typeface="Consolas"/>
              </a:rPr>
              <a:t>  // Контракт: лише сигнатура методу.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>
                <a:solidFill>
                  <a:srgbClr val="202028"/>
                </a:solidFill>
                <a:latin typeface="Consolas"/>
              </a:rPr>
              <a:t> PrintOut(</a:t>
            </a:r>
            <a:r>
              <a:rPr sz="1100" b="1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>
                <a:solidFill>
                  <a:srgbClr val="202028"/>
                </a:solidFill>
                <a:latin typeface="Consolas"/>
              </a:rPr>
              <a:t> s);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100"/>
              <a:t> </a:t>
            </a:r>
          </a:p>
          <a:p>
            <a:r>
              <a:rPr sz="1100" b="1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>
                <a:solidFill>
                  <a:srgbClr val="202028"/>
                </a:solidFill>
                <a:latin typeface="Consolas"/>
              </a:rPr>
              <a:t> MyClass : IIfc1</a:t>
            </a:r>
            <a:r>
              <a:rPr sz="1100" i="1">
                <a:solidFill>
                  <a:srgbClr val="2E7D32"/>
                </a:solidFill>
                <a:latin typeface="Consolas"/>
              </a:rPr>
              <a:t>  // Клас бере на себе зобов'язання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{</a:t>
            </a:r>
            <a:r>
              <a:rPr sz="1100" i="1">
                <a:solidFill>
                  <a:srgbClr val="2E7D32"/>
                </a:solidFill>
                <a:latin typeface="Consolas"/>
              </a:rPr>
              <a:t>  // реалізувати контракт.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>
                <a:solidFill>
                  <a:srgbClr val="202028"/>
                </a:solidFill>
                <a:latin typeface="Consolas"/>
              </a:rPr>
              <a:t> PrintOut(</a:t>
            </a:r>
            <a:r>
              <a:rPr sz="1100" b="1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>
                <a:solidFill>
                  <a:srgbClr val="202028"/>
                </a:solidFill>
                <a:latin typeface="Consolas"/>
              </a:rPr>
              <a:t> s)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    Console.WriteLine($"Calling through: {s}");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100"/>
              <a:t> </a:t>
            </a:r>
          </a:p>
          <a:p>
            <a:r>
              <a:rPr sz="1100" b="1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>
                <a:solidFill>
                  <a:srgbClr val="202028"/>
                </a:solidFill>
                <a:latin typeface="Consolas"/>
              </a:rPr>
              <a:t> Program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>
                <a:solidFill>
                  <a:srgbClr val="1B4F9C"/>
                </a:solidFill>
                <a:latin typeface="Consolas"/>
              </a:rPr>
              <a:t>static</a:t>
            </a:r>
            <a:r>
              <a:rPr sz="1100" b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>
                <a:solidFill>
                  <a:srgbClr val="202028"/>
                </a:solidFill>
                <a:latin typeface="Consolas"/>
              </a:rPr>
              <a:t> Main()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    MyClass mc = </a:t>
            </a:r>
            <a:r>
              <a:rPr sz="1100" b="1">
                <a:solidFill>
                  <a:srgbClr val="1B4F9C"/>
                </a:solidFill>
                <a:latin typeface="Consolas"/>
              </a:rPr>
              <a:t>new</a:t>
            </a:r>
            <a:r>
              <a:rPr sz="1100" b="0">
                <a:solidFill>
                  <a:srgbClr val="202028"/>
                </a:solidFill>
                <a:latin typeface="Consolas"/>
              </a:rPr>
              <a:t> MyClass();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    mc.PrintOut("object");</a:t>
            </a:r>
            <a:r>
              <a:rPr sz="1100" i="1">
                <a:solidFill>
                  <a:srgbClr val="2E7D32"/>
                </a:solidFill>
                <a:latin typeface="Consolas"/>
              </a:rPr>
              <a:t>  // Виклик напряму через тип класу.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100" b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4167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Інтерфейс - це посилальний тип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2219510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600" dirty="0" err="1">
                <a:solidFill>
                  <a:srgbClr val="FF0000"/>
                </a:solidFill>
                <a:latin typeface="Calibri"/>
              </a:rPr>
              <a:t>Інтерфейс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-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не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просто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список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вимог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до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класу</a:t>
            </a:r>
            <a:r>
              <a:rPr sz="3600" dirty="0">
                <a:solidFill>
                  <a:srgbClr val="FF0000"/>
                </a:solidFill>
                <a:latin typeface="Calibri"/>
              </a:rPr>
              <a:t>, а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окремий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посилальний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тип</a:t>
            </a:r>
            <a:r>
              <a:rPr sz="3600" dirty="0">
                <a:solidFill>
                  <a:srgbClr val="FF0000"/>
                </a:solidFill>
                <a:latin typeface="Calibri"/>
              </a:rPr>
              <a:t>.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Приведення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(cast)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посилання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на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об'єкт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класу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до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типу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інтерфейсу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дає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нове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посилання</a:t>
            </a:r>
            <a:r>
              <a:rPr sz="3600" dirty="0">
                <a:solidFill>
                  <a:srgbClr val="FF0000"/>
                </a:solidFill>
                <a:latin typeface="Calibri"/>
              </a:rPr>
              <a:t>,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через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яке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доступні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лише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члени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цього</a:t>
            </a:r>
            <a:r>
              <a:rPr sz="3600" dirty="0">
                <a:solidFill>
                  <a:srgbClr val="FF0000"/>
                </a:solidFill>
                <a:latin typeface="Calibri"/>
              </a:rPr>
              <a:t> </a:t>
            </a:r>
            <a:r>
              <a:rPr sz="3600" dirty="0" err="1">
                <a:solidFill>
                  <a:srgbClr val="FF0000"/>
                </a:solidFill>
                <a:latin typeface="Calibri"/>
              </a:rPr>
              <a:t>інтерфейсу</a:t>
            </a:r>
            <a:r>
              <a:rPr sz="360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9254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9C7117-1A68-FCEA-4C5D-68E99615E8D0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</a:t>
            </a:r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9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5880201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Приклад p399 - посилання через інтерфейс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2541" y="1610530"/>
            <a:ext cx="5880201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000" dirty="0" err="1">
                <a:solidFill>
                  <a:srgbClr val="202028"/>
                </a:solidFill>
                <a:latin typeface="Calibri"/>
              </a:rPr>
              <a:t>Той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самий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метод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можна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викликати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і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напряму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клас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і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посилання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на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приведене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явним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(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або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неявним</a:t>
            </a:r>
            <a:r>
              <a:rPr sz="2000" dirty="0">
                <a:solidFill>
                  <a:srgbClr val="202028"/>
                </a:solidFill>
                <a:latin typeface="Calibri"/>
              </a:rPr>
              <a:t>)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приведенням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типу</a:t>
            </a:r>
            <a:r>
              <a:rPr sz="20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0814" y="3206711"/>
            <a:ext cx="6346231" cy="308864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0" dirty="0">
                <a:solidFill>
                  <a:srgbClr val="202028"/>
                </a:solidFill>
                <a:latin typeface="Consolas"/>
              </a:rPr>
              <a:t>MyClass mc =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MyClass();</a:t>
            </a:r>
          </a:p>
          <a:p>
            <a:r>
              <a:rPr sz="1500" dirty="0"/>
              <a:t> </a:t>
            </a:r>
          </a:p>
          <a:p>
            <a:r>
              <a:rPr sz="1500" b="0" dirty="0" err="1">
                <a:solidFill>
                  <a:srgbClr val="202028"/>
                </a:solidFill>
                <a:latin typeface="Consolas"/>
              </a:rPr>
              <a:t>mc.PrintOut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("object");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Виклик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через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посилання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на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клас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dirty="0"/>
              <a:t> 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IIfc1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ifc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= (IIfc1)mc;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Приведення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до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типу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інтерфейсу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 err="1">
                <a:solidFill>
                  <a:srgbClr val="202028"/>
                </a:solidFill>
                <a:latin typeface="Consolas"/>
              </a:rPr>
              <a:t>ifc.PrintOut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("interface");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Той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самий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метод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,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інший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тип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посилання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</p:txBody>
      </p:sp>
      <p:pic>
        <p:nvPicPr>
          <p:cNvPr id="8" name="Picture 7" descr="diagram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641" y="820837"/>
            <a:ext cx="5038402" cy="556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61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iagram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184" y="78129"/>
            <a:ext cx="5147816" cy="6701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1C6A74-AD75-00C9-56CA-11B02A50311D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p401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5880201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Приклад p401 - два інтерфейси в одному класі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35479"/>
            <a:ext cx="5880201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 dirty="0" err="1">
                <a:solidFill>
                  <a:srgbClr val="202028"/>
                </a:solidFill>
                <a:latin typeface="Calibri"/>
              </a:rPr>
              <a:t>Клас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може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реалізувати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будь-яку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кількість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інтерфейсів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одночасно</a:t>
            </a:r>
            <a:r>
              <a:rPr sz="2000" dirty="0">
                <a:solidFill>
                  <a:srgbClr val="202028"/>
                </a:solidFill>
                <a:latin typeface="Calibri"/>
              </a:rPr>
              <a:t>.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IDataRetrieve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відповідає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лише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за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читання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IDataStore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-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лише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за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запис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;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MyData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поєднує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обидві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можливості</a:t>
            </a:r>
            <a:r>
              <a:rPr sz="20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39" y="3273641"/>
            <a:ext cx="5880201" cy="342810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sz="11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IDataRetrieve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GetData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(); }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"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Читання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".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IDataStore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SetData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x); }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"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Запис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".</a:t>
            </a:r>
          </a:p>
          <a:p>
            <a:r>
              <a:rPr sz="1100" dirty="0"/>
              <a:t> 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MyData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: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IDataRetrieve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,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IDataStore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Одночасно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обидва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контракти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Mem1;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GetData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Mem1;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SetData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x) { Mem1 = x;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100" dirty="0"/>
              <a:t> 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Program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Main()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MyData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data =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MyData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data.SetData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(5);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($"Value = {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data.GetData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()}");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6560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5DB5E8B-701E-29B9-086D-7ECB68316573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p402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4440" y="274320"/>
            <a:ext cx="5880201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Приклад p402 - збіг сигнатур методів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8940" y="1646112"/>
            <a:ext cx="9566538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 dirty="0" err="1">
                <a:solidFill>
                  <a:srgbClr val="202028"/>
                </a:solidFill>
                <a:latin typeface="Calibri"/>
              </a:rPr>
              <a:t>Якщо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два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оголошують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метод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з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однаковим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підписом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клас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може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реалізувати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обидва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ОДНИМ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спільним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методом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компілятор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вважає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його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реалізацією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одразу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для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обох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інтерфейсів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39" y="3241232"/>
            <a:ext cx="5880201" cy="282448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IIfc1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PrintOut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s); }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IIfc2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PrintOut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t); }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Той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самий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підпис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методу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dirty="0"/>
              <a:t> 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MyClass : IIfc1, IIfc2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PrintOut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s)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ОДИН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метод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обслуговує</a:t>
            </a:r>
            <a:endParaRPr sz="1500" i="1" dirty="0">
              <a:solidFill>
                <a:srgbClr val="2E7D32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{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обидва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інтерфейси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одразу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($"Calling through: {s}");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pic>
        <p:nvPicPr>
          <p:cNvPr id="14" name="Picture 13" descr="diagram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215" y="3212684"/>
            <a:ext cx="4345839" cy="191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71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Успадкований метод як реалізація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725" y="2362200"/>
            <a:ext cx="11231880" cy="1066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800">
                <a:solidFill>
                  <a:srgbClr val="FF0000"/>
                </a:solidFill>
                <a:latin typeface="Calibri"/>
              </a:rPr>
              <a:t>Клас, що реалізує інтерфейс, може задовольнити вимогу не власним кодом, а методом, успадкованим від базового класу - навіть якщо тіло похідного класу лишається порожнім.</a:t>
            </a:r>
          </a:p>
        </p:txBody>
      </p:sp>
    </p:spTree>
    <p:extLst>
      <p:ext uri="{BB962C8B-B14F-4D97-AF65-F5344CB8AC3E}">
        <p14:creationId xmlns:p14="http://schemas.microsoft.com/office/powerpoint/2010/main" val="691596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289852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Реалізація через базовий клас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3116"/>
            <a:ext cx="6289852" cy="1859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>
                <a:solidFill>
                  <a:srgbClr val="202028"/>
                </a:solidFill>
                <a:latin typeface="Calibri"/>
              </a:rPr>
              <a:t>MyBaseClass вже містить метод PrintOut із потрібним підписом. Клас Derived успадковує MyBaseClass і заявляє про реалізацію IIfc1 - і хоча власного коду в Derived немає, вимога інтерфейсу вже виконана.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515359"/>
            <a:ext cx="6289852" cy="302260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IIfc1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PrintOut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s); }</a:t>
            </a:r>
          </a:p>
          <a:p>
            <a:r>
              <a:rPr sz="1500" dirty="0"/>
              <a:t> 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MyBaseClass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Базовий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клас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з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готовою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реалізацією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PrintOut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s) {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($"Calling through: {s}"); }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500" dirty="0"/>
              <a:t> 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Derived :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MyBaseClass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, IIfc1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Тіло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класу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порожнє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,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але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вимога</a:t>
            </a:r>
            <a:endParaRPr sz="1500" i="1" dirty="0">
              <a:solidFill>
                <a:srgbClr val="2E7D32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інтерфейсу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вже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виконана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pic>
        <p:nvPicPr>
          <p:cNvPr id="5" name="Picture 4" descr="diagram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772" y="1254585"/>
            <a:ext cx="5110048" cy="452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4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Явна реалізація членів інтерфейсу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5599" y="2631440"/>
            <a:ext cx="11231880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800" dirty="0" err="1">
                <a:solidFill>
                  <a:srgbClr val="FF0000"/>
                </a:solidFill>
                <a:latin typeface="Calibri"/>
              </a:rPr>
              <a:t>Коли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клас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реалізує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два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інтерфейси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з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методом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однакового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підпису</a:t>
            </a:r>
            <a:r>
              <a:rPr sz="2800" dirty="0">
                <a:solidFill>
                  <a:srgbClr val="FF0000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але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з РІЗНОЮ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поведінкою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для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кожного</a:t>
            </a:r>
            <a:r>
              <a:rPr sz="2800" dirty="0">
                <a:solidFill>
                  <a:srgbClr val="FF0000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для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кожного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інтерфейсу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пишеться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окрема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явна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реалізація</a:t>
            </a:r>
            <a:r>
              <a:rPr sz="2800" dirty="0">
                <a:solidFill>
                  <a:srgbClr val="FF0000"/>
                </a:solidFill>
                <a:latin typeface="Calibri"/>
              </a:rPr>
              <a:t>: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Interface.Метод</a:t>
            </a:r>
            <a:r>
              <a:rPr sz="2800" dirty="0">
                <a:solidFill>
                  <a:srgbClr val="FF0000"/>
                </a:solidFill>
                <a:latin typeface="Calibri"/>
              </a:rPr>
              <a:t>().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Викликати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такий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метод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можна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лише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через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посилання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відповідного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інтерфейсу</a:t>
            </a:r>
            <a:r>
              <a:rPr sz="2800" dirty="0">
                <a:solidFill>
                  <a:srgbClr val="FF0000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не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напряму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через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клас</a:t>
            </a:r>
            <a:r>
              <a:rPr sz="280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4231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700044-C037-727E-2AF3-32D9CE9C86A6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p408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5880201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Приклад p408 - явна реалізація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160779"/>
            <a:ext cx="3719526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 dirty="0" err="1">
                <a:solidFill>
                  <a:srgbClr val="202028"/>
                </a:solidFill>
                <a:latin typeface="Calibri"/>
              </a:rPr>
              <a:t>На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відміну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від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p402,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тут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кожен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отримує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ОКРЕМУ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реалізацію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PrintOut</a:t>
            </a:r>
            <a:r>
              <a:rPr sz="2000" dirty="0">
                <a:solidFill>
                  <a:srgbClr val="202028"/>
                </a:solidFill>
                <a:latin typeface="Calibri"/>
              </a:rPr>
              <a:t>.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Викликати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її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можна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лише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посилання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IIfc1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або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IIfc2 -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змінну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типу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MyClass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цей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метод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недоступний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2186" y="1036319"/>
            <a:ext cx="5880201" cy="5248734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sz="11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IIfc1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PrintOut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s); }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IIfc2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PrintOut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t); }</a:t>
            </a:r>
          </a:p>
          <a:p>
            <a:r>
              <a:rPr sz="1100" dirty="0"/>
              <a:t> 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MyClass : IIfc1, IIfc2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IIfc1.PrintOut(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s)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Явна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реалізація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-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окрема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для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IIfc1.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($"IIfc1: {s}");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IIfc2.PrintOut(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s)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Явна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реалізація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-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окрема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для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IIfc2.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($"IIfc2: {s}");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100" dirty="0"/>
              <a:t> 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Program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Main()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MyClass mc =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MyClass();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IIfc1 ifc1 = (IIfc1)mc;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Доступ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лише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через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посилання</a:t>
            </a:r>
            <a:endParaRPr sz="1100" i="1" dirty="0">
              <a:solidFill>
                <a:srgbClr val="2E7D32"/>
              </a:solidFill>
              <a:latin typeface="Consolas"/>
            </a:endParaRP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ifc1.PrintOut("interface 1");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відповідного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інтерфейсу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-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IIfc2 ifc2 = (IIfc2)mc;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напряму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через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mc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метод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недоступний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ifc2.PrintOut("interface 2");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pic>
        <p:nvPicPr>
          <p:cNvPr id="8" name="Picture 7" descr="diagram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30" y="3429000"/>
            <a:ext cx="5023796" cy="25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96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Інтерфейси можуть успадковувати інтерфейси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11231880" cy="1066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 dirty="0" err="1">
                <a:solidFill>
                  <a:srgbClr val="FF0000"/>
                </a:solidFill>
                <a:latin typeface="Calibri"/>
              </a:rPr>
              <a:t>Інтерфейс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може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успадковувати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від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кількох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інших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інтерфейсів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через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кому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після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двокрапки</a:t>
            </a:r>
            <a:r>
              <a:rPr sz="2400" dirty="0">
                <a:solidFill>
                  <a:srgbClr val="FF0000"/>
                </a:solidFill>
                <a:latin typeface="Calibri"/>
              </a:rPr>
              <a:t>.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Результат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містить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усі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члени</a:t>
            </a:r>
            <a:r>
              <a:rPr sz="2400" dirty="0">
                <a:solidFill>
                  <a:srgbClr val="FF0000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оголошені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ним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самим</a:t>
            </a:r>
            <a:r>
              <a:rPr sz="2400" dirty="0">
                <a:solidFill>
                  <a:srgbClr val="FF0000"/>
                </a:solidFill>
                <a:latin typeface="Calibri"/>
              </a:rPr>
              <a:t>, і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всі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члени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успадкованих</a:t>
            </a:r>
            <a:r>
              <a:rPr sz="2400" dirty="0">
                <a:solidFill>
                  <a:srgbClr val="FF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Calibri"/>
              </a:rPr>
              <a:t>інтерфейсів</a:t>
            </a:r>
            <a:r>
              <a:rPr sz="240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22879"/>
            <a:ext cx="11231880" cy="381508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sz="15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>
                <a:solidFill>
                  <a:srgbClr val="202028"/>
                </a:solidFill>
                <a:latin typeface="Consolas"/>
              </a:rPr>
              <a:t> IDataIO : IDataRetrieve, IDataStore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i="1">
                <a:solidFill>
                  <a:srgbClr val="2E7D32"/>
                </a:solidFill>
                <a:latin typeface="Consolas"/>
              </a:rPr>
              <a:t>  // успадковує GetData() і SetData()</a:t>
            </a:r>
          </a:p>
          <a:p>
            <a:r>
              <a:rPr sz="1500" b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2967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289852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Клас, що реалізує складений інтерфейс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935479"/>
            <a:ext cx="6289852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800" dirty="0" err="1">
                <a:solidFill>
                  <a:srgbClr val="FF0000"/>
                </a:solidFill>
                <a:latin typeface="Calibri"/>
              </a:rPr>
              <a:t>MyData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реалізує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IDataIO</a:t>
            </a:r>
            <a:r>
              <a:rPr sz="2800" dirty="0">
                <a:solidFill>
                  <a:srgbClr val="FF0000"/>
                </a:solidFill>
                <a:latin typeface="Calibri"/>
              </a:rPr>
              <a:t>, а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той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об'єднує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в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собі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IDataRetrieve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і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IDataStore</a:t>
            </a:r>
            <a:r>
              <a:rPr sz="2800" dirty="0">
                <a:solidFill>
                  <a:srgbClr val="FF0000"/>
                </a:solidFill>
                <a:latin typeface="Calibri"/>
              </a:rPr>
              <a:t>.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GetData</a:t>
            </a:r>
            <a:r>
              <a:rPr sz="2800" dirty="0">
                <a:solidFill>
                  <a:srgbClr val="FF0000"/>
                </a:solidFill>
                <a:latin typeface="Calibri"/>
              </a:rPr>
              <a:t>() і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SetData</a:t>
            </a:r>
            <a:r>
              <a:rPr sz="2800" dirty="0">
                <a:solidFill>
                  <a:srgbClr val="FF0000"/>
                </a:solidFill>
                <a:latin typeface="Calibri"/>
              </a:rPr>
              <a:t>()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задовольняють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вимоги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обох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успадкованих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інтерфейсів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одночасно</a:t>
            </a:r>
            <a:r>
              <a:rPr sz="280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diagram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242" y="1051560"/>
            <a:ext cx="4615408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84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5D0DEA-656A-B1EA-850F-96358850EDE4}"/>
              </a:ext>
            </a:extLst>
          </p:cNvPr>
          <p:cNvSpPr txBox="1"/>
          <p:nvPr/>
        </p:nvSpPr>
        <p:spPr>
          <a:xfrm rot="16200000">
            <a:off x="-2408643" y="289039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p413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5880201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Приклад p413 - опціональна поведінка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967" y="1472492"/>
            <a:ext cx="5880201" cy="1859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всі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похідні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класи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мають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реалізовувати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один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і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той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самий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додатковий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.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Оператор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as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під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час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виконання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перевіряє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чи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підтримує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конкретний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об'єкт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ILiveBirth</a:t>
            </a:r>
            <a:r>
              <a:rPr sz="2000" dirty="0">
                <a:solidFill>
                  <a:srgbClr val="202028"/>
                </a:solidFill>
                <a:latin typeface="Calibri"/>
              </a:rPr>
              <a:t>, і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повертає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null,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якщо</a:t>
            </a:r>
            <a:r>
              <a:rPr sz="2000" dirty="0">
                <a:solidFill>
                  <a:srgbClr val="202028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202028"/>
                </a:solidFill>
                <a:latin typeface="Calibri"/>
              </a:rPr>
              <a:t>ні</a:t>
            </a:r>
            <a:r>
              <a:rPr sz="20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5322" y="770870"/>
            <a:ext cx="4564476" cy="5316256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sz="11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ILiveBirth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BabyCalled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(); }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Опціональна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поведінка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100" dirty="0"/>
              <a:t> 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Animal { }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Cat : Animal,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ILiveBirth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ILiveBirth.BabyCalled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"kitten"; } }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Dog : Animal,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ILiveBirth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ILiveBirth.BabyCalled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"puppy"; } }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Bird : Animal { }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Без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ILiveBirth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- з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яйця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100" dirty="0"/>
              <a:t> </a:t>
            </a:r>
          </a:p>
          <a:p>
            <a:r>
              <a:rPr sz="11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Program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Main()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Animal[]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animalArray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= {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Cat(),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Bird(),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Dog() };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foreach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(Animal a in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animalArray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)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{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   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ILiveBirth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b = a as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ILiveBirth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;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 // null,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якщо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не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100" i="1" dirty="0" err="1">
                <a:solidFill>
                  <a:srgbClr val="2E7D32"/>
                </a:solidFill>
                <a:latin typeface="Consolas"/>
              </a:rPr>
              <a:t>підтримується</a:t>
            </a:r>
            <a:r>
              <a:rPr sz="11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    </a:t>
            </a:r>
            <a:r>
              <a:rPr sz="1100" b="1" dirty="0">
                <a:solidFill>
                  <a:srgbClr val="1B4F9C"/>
                </a:solidFill>
                <a:latin typeface="Consolas"/>
              </a:rPr>
              <a:t>if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 (b != null)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        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($"Baby is called: {</a:t>
            </a:r>
            <a:r>
              <a:rPr sz="1100" b="0" dirty="0" err="1">
                <a:solidFill>
                  <a:srgbClr val="202028"/>
                </a:solidFill>
                <a:latin typeface="Consolas"/>
              </a:rPr>
              <a:t>b.BabyCalled</a:t>
            </a:r>
            <a:r>
              <a:rPr sz="1100" b="0" dirty="0">
                <a:solidFill>
                  <a:srgbClr val="202028"/>
                </a:solidFill>
                <a:latin typeface="Consolas"/>
              </a:rPr>
              <a:t>()}");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   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1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  <p:pic>
        <p:nvPicPr>
          <p:cNvPr id="8" name="Picture 7" descr="diagram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61" y="3331772"/>
            <a:ext cx="4345839" cy="3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54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758537" y="1536174"/>
            <a:ext cx="56430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ВСТУП</a:t>
            </a: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(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Систематизація 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/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закріплення</a:t>
            </a:r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)</a:t>
            </a:r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П</a:t>
            </a:r>
            <a:r>
              <a:rPr lang="uk-UA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ісля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8.0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0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Інтерфейси у C# 8+: що додалось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300" y="2631440"/>
            <a:ext cx="11231880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>
                <a:solidFill>
                  <a:srgbClr val="FF0000"/>
                </a:solidFill>
                <a:latin typeface="Calibri"/>
              </a:rPr>
              <a:t>Створити екземпляр самого інтерфейсу не можна (new IPointy() - помилка компіляції) - він лишається лише типом для змінної чи параметра. Поля (дані) в інтерфейсі заборонені завжди. Але починаючи з C# 8.0 метод чи властивість інтерфейсу може отримати готову реалізацію за замовчуванням - подробиці далі.</a:t>
            </a:r>
          </a:p>
        </p:txBody>
      </p:sp>
    </p:spTree>
    <p:extLst>
      <p:ext uri="{BB962C8B-B14F-4D97-AF65-F5344CB8AC3E}">
        <p14:creationId xmlns:p14="http://schemas.microsoft.com/office/powerpoint/2010/main" val="98867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Приклад: інтерфейс IPointy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11231880" cy="1066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 dirty="0" err="1">
                <a:solidFill>
                  <a:srgbClr val="202028"/>
                </a:solidFill>
                <a:latin typeface="Calibri"/>
              </a:rPr>
              <a:t>Оголосимо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власний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IPointy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він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описує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кількість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"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кутів</a:t>
            </a:r>
            <a:r>
              <a:rPr sz="2400" dirty="0">
                <a:solidFill>
                  <a:srgbClr val="202028"/>
                </a:solidFill>
                <a:latin typeface="Calibri"/>
              </a:rPr>
              <a:t>"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фігури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одну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get-only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властивість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Points,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без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жодної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реалізації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22879"/>
            <a:ext cx="11231880" cy="381508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IPointy</a:t>
            </a:r>
            <a:endParaRPr sz="1500" b="0" dirty="0">
              <a:solidFill>
                <a:srgbClr val="202028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byte Points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; }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Лише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сигнатура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get-only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властивості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26515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Реалізація IPointy у похідних класах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11231880" cy="1066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>
                <a:solidFill>
                  <a:srgbClr val="202028"/>
                </a:solidFill>
                <a:latin typeface="Calibri"/>
              </a:rPr>
              <a:t>Triangle і Hexagon успадковують базовий клас Shape і водночас реалізують IPointy - кожен через властивість-вираз (=&gt;) із власним числом кутів.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22879"/>
            <a:ext cx="11231880" cy="381508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Triangle : Shape,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IPointy</a:t>
            </a:r>
            <a:endParaRPr sz="1300" b="0" dirty="0">
              <a:solidFill>
                <a:srgbClr val="202028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override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Draw() { /* ... */ }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byte Points =&gt; 3;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Реалізація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IPointy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 dirty="0"/>
              <a:t> </a:t>
            </a:r>
          </a:p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Hexagon : Shape,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IPointy</a:t>
            </a:r>
            <a:endParaRPr sz="1300" b="0" dirty="0">
              <a:solidFill>
                <a:srgbClr val="202028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override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Draw() { /* ... */ }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byte Points =&gt; 6;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Реалізація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IPointy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4662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289852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Ієрархія Shape з підтримкою IPointy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935479"/>
            <a:ext cx="6289852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200" dirty="0" err="1">
                <a:solidFill>
                  <a:srgbClr val="FF0000"/>
                </a:solidFill>
                <a:latin typeface="Calibri"/>
              </a:rPr>
              <a:t>Кожен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похідний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клас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сам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вирішує</a:t>
            </a:r>
            <a:r>
              <a:rPr sz="3200" dirty="0">
                <a:solidFill>
                  <a:srgbClr val="FF0000"/>
                </a:solidFill>
                <a:latin typeface="Calibri"/>
              </a:rPr>
              <a:t>,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чи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підтримувати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IPointy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- Circle і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ThreeDCircle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можуть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лишитися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без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нього</a:t>
            </a:r>
            <a:r>
              <a:rPr sz="3200" dirty="0">
                <a:solidFill>
                  <a:srgbClr val="FF0000"/>
                </a:solidFill>
                <a:latin typeface="Calibri"/>
              </a:rPr>
              <a:t>,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тоді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як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Hexagon і Triangle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додають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цю</a:t>
            </a:r>
            <a:r>
              <a:rPr sz="3200" dirty="0">
                <a:solidFill>
                  <a:srgbClr val="FF0000"/>
                </a:solidFill>
                <a:latin typeface="Calibri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Calibri"/>
              </a:rPr>
              <a:t>можливість</a:t>
            </a:r>
            <a:r>
              <a:rPr sz="320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diagram_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092" y="2158887"/>
            <a:ext cx="4667708" cy="322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54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Виклик членів інтерфейсу через об'єкт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>
                <a:solidFill>
                  <a:srgbClr val="202028"/>
                </a:solidFill>
                <a:latin typeface="Calibri"/>
              </a:rPr>
              <a:t>Якщо член інтерфейсу реалізований НЕ явно, до нього можна звертатися напряму через змінну класу-реалізатора. А ось явне приведення до типу інтерфейсу, який клас не підтримує, кине InvalidCastException.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87039"/>
            <a:ext cx="11231880" cy="35509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0" dirty="0">
                <a:solidFill>
                  <a:srgbClr val="202028"/>
                </a:solidFill>
                <a:latin typeface="Consolas"/>
              </a:rPr>
              <a:t>Hexagon hex =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Hexagon();</a:t>
            </a:r>
          </a:p>
          <a:p>
            <a:r>
              <a:rPr sz="15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($"Points: {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hex.Points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}");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Напряму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через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об'єкт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dirty="0"/>
              <a:t> </a:t>
            </a:r>
          </a:p>
          <a:p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Явний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cast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кине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InvalidCastException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,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якщо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клас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НЕ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підтримує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інтерфейс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: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Circle c =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new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Circle();</a:t>
            </a:r>
          </a:p>
          <a:p>
            <a:r>
              <a:rPr sz="1500" b="0" dirty="0" err="1">
                <a:solidFill>
                  <a:srgbClr val="202028"/>
                </a:solidFill>
                <a:latin typeface="Consolas"/>
              </a:rPr>
              <a:t>IPointy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itfPt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= (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IPointy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)c;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Виняток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,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якщо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у Circle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немає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IPointy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0786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Безпечна перевірка: оператори as та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>
                <a:solidFill>
                  <a:srgbClr val="202028"/>
                </a:solidFill>
                <a:latin typeface="Calibri"/>
              </a:rPr>
              <a:t>Оператор as повертає null замість винятку, якщо тип не підтримує інтерфейс, - тому результат обов'язково перевіряють на null. Оператор is (C# 7+) поєднує перевірку типу й оголошення змінної в одному виразі.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87039"/>
            <a:ext cx="11231880" cy="35509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0" dirty="0" err="1">
                <a:solidFill>
                  <a:srgbClr val="202028"/>
                </a:solidFill>
                <a:latin typeface="Consolas"/>
              </a:rPr>
              <a:t>IPointy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itfPt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= hex2 as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IPointy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null,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якщо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не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підтримується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if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(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itfPt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!= null)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($"Points: {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itfPt.Points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}");</a:t>
            </a:r>
          </a:p>
          <a:p>
            <a:r>
              <a:rPr sz="1500" dirty="0"/>
              <a:t> </a:t>
            </a:r>
          </a:p>
          <a:p>
            <a:r>
              <a:rPr sz="1500" i="1" dirty="0">
                <a:solidFill>
                  <a:srgbClr val="2E7D32"/>
                </a:solidFill>
                <a:latin typeface="Consolas"/>
              </a:rPr>
              <a:t>  // C# 7+: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перевірка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і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оголошення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змінної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одним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виразом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if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(hex2 is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IPointy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itfPt2)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($"Points: {itfPt2.Points}");</a:t>
            </a:r>
          </a:p>
        </p:txBody>
      </p:sp>
    </p:spTree>
    <p:extLst>
      <p:ext uri="{BB962C8B-B14F-4D97-AF65-F5344CB8AC3E}">
        <p14:creationId xmlns:p14="http://schemas.microsoft.com/office/powerpoint/2010/main" val="28852452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Реалізація за замовчуванням (C# 8.0)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3391" y="1160683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 dirty="0" err="1">
                <a:solidFill>
                  <a:srgbClr val="202028"/>
                </a:solidFill>
                <a:latin typeface="Calibri"/>
              </a:rPr>
              <a:t>IRegularPointy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успадковує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IPointy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і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додає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властивість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Perimeter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із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готовою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реалізацією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за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замовчуванням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Класу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Square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обов'язково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перевизначати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її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власним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кодом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спрацює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версія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з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87039"/>
            <a:ext cx="11231880" cy="35509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3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IRegularPointy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: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IPointy</a:t>
            </a:r>
            <a:endParaRPr sz="1300" b="0" dirty="0">
              <a:solidFill>
                <a:srgbClr val="202028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SideLength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}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NumberOfSides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}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Perimeter =&gt;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SideLength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*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NumberOfSides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Реалізація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за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замовчуванням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 dirty="0"/>
              <a:t> </a:t>
            </a:r>
          </a:p>
          <a:p>
            <a:r>
              <a:rPr sz="13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Square : Shape,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IRegularPointy</a:t>
            </a:r>
            <a:endParaRPr sz="1300" b="0" dirty="0">
              <a:solidFill>
                <a:srgbClr val="202028"/>
              </a:solidFill>
              <a:latin typeface="Consolas"/>
            </a:endParaRP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SideLength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}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202028"/>
                </a:solidFill>
                <a:latin typeface="Consolas"/>
              </a:rPr>
              <a:t>NumberOfSides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</a:t>
            </a:r>
            <a:r>
              <a:rPr sz="1300" b="1" dirty="0">
                <a:solidFill>
                  <a:srgbClr val="1B4F9C"/>
                </a:solidFill>
                <a:latin typeface="Consolas"/>
              </a:rPr>
              <a:t>set</a:t>
            </a:r>
            <a:r>
              <a:rPr sz="1300" b="0" dirty="0">
                <a:solidFill>
                  <a:srgbClr val="202028"/>
                </a:solidFill>
                <a:latin typeface="Consolas"/>
              </a:rPr>
              <a:t>; }</a:t>
            </a:r>
          </a:p>
          <a:p>
            <a:r>
              <a:rPr sz="1300" i="1" dirty="0">
                <a:solidFill>
                  <a:srgbClr val="2E7D32"/>
                </a:solidFill>
                <a:latin typeface="Consolas"/>
              </a:rPr>
              <a:t>  // Perimeter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не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реалізовано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власним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кодом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-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працює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версія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за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300" i="1" dirty="0" err="1">
                <a:solidFill>
                  <a:srgbClr val="2E7D32"/>
                </a:solidFill>
                <a:latin typeface="Consolas"/>
              </a:rPr>
              <a:t>замовчуванням</a:t>
            </a:r>
            <a:r>
              <a:rPr sz="13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3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13552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Статичні члени інтерфейсу (C# 8.0)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36039"/>
            <a:ext cx="11231880" cy="1066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може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мати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статичні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поля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властивості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й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навіть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статичний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конструктор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вони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належать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самому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а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якомусь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конкретному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класу-реалізатору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22879"/>
            <a:ext cx="11231880" cy="381508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IRegularPointy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: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IPointy</a:t>
            </a:r>
            <a:endParaRPr sz="1500" b="0" dirty="0">
              <a:solidFill>
                <a:srgbClr val="202028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string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ExampleProperty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{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get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;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set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; }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Статична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властивість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IRegularPointy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() =&gt;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ExampleProperty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= "Foo";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Статичний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конструктор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500" dirty="0"/>
              <a:t> </a:t>
            </a:r>
          </a:p>
          <a:p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Звернення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-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через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ім'я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інтерфейсу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, а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не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через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об'єкт-реалізатор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:</a:t>
            </a:r>
          </a:p>
          <a:p>
            <a:r>
              <a:rPr sz="15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IRegularPointy.ExampleProperty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06754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Інтерфейс як параметр і як результат методу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38474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>
                <a:solidFill>
                  <a:srgbClr val="202028"/>
                </a:solidFill>
                <a:latin typeface="Calibri"/>
              </a:rPr>
              <a:t>Інтерфейс - повноцінний тип, тому його можна використовувати і як тип параметра, і як тип, що повертається з методу. Це дозволяє писати код, який працює з будь-яким класом, що підтримує потрібний інтерфейс.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87039"/>
            <a:ext cx="11231880" cy="35509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void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DrawIn3D(IDraw3D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itf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) =&gt; itf.Draw3D();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Інтерфейс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як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параметр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dirty="0"/>
              <a:t> 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static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IPointy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FindFirstPointyShape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(Shape[] shapes)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Інтерфейс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як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результат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foreach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(Shape s in shapes)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if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(s is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IPointy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)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ip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;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null;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5476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289852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Розширена ієрархія інтерфейсів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6289852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800" dirty="0" err="1">
                <a:solidFill>
                  <a:srgbClr val="FF0000"/>
                </a:solidFill>
                <a:latin typeface="Calibri"/>
              </a:rPr>
              <a:t>Один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клас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може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одночасно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підтримувати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кілька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незалежних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інтерфейсів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-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тут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Hexagon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поєднує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IPointy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та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IDraw3D, а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IRegularPointy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додає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власні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властивості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поверх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IPointy</a:t>
            </a:r>
            <a:r>
              <a:rPr sz="2800" dirty="0">
                <a:solidFill>
                  <a:srgbClr val="FF0000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diagram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092" y="2402317"/>
            <a:ext cx="4667708" cy="273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181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289852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Явна реалізація при конфлікті імен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935479"/>
            <a:ext cx="6289852" cy="212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600">
                <a:solidFill>
                  <a:srgbClr val="202028"/>
                </a:solidFill>
                <a:latin typeface="Calibri"/>
              </a:rPr>
              <a:t>Якщо клас реалізує кілька інтерфейсів, і в них випадково збігається ім'я методу з різним очікуваним значенням (наприклад, Draw() для форми і Draw() для друку), явна реалізація дозволяє розвести їх без конфлікту - так само, як ми вже бачили на прикладі p408.</a:t>
            </a:r>
          </a:p>
        </p:txBody>
      </p:sp>
      <p:pic>
        <p:nvPicPr>
          <p:cNvPr id="4" name="Picture 3" descr="diagram_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092" y="2058438"/>
            <a:ext cx="4667708" cy="342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688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Проєктування ієрархій інтерфейсів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11231880" cy="1066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600">
                <a:solidFill>
                  <a:srgbClr val="202028"/>
                </a:solidFill>
                <a:latin typeface="Calibri"/>
              </a:rPr>
              <a:t>Інтерфейс, як і клас, може успадковувати відразу кілька інших інтерфейсів. IShape тут успадковує і IDrawable, і IPrintable одночасно - і тому містить усі їхні члени.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22879"/>
            <a:ext cx="11231880" cy="381508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sz="13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>
                <a:solidFill>
                  <a:srgbClr val="202028"/>
                </a:solidFill>
                <a:latin typeface="Consolas"/>
              </a:rPr>
              <a:t> IDrawable { </a:t>
            </a:r>
            <a:r>
              <a:rPr sz="1300" b="1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>
                <a:solidFill>
                  <a:srgbClr val="202028"/>
                </a:solidFill>
                <a:latin typeface="Consolas"/>
              </a:rPr>
              <a:t> Draw(); }</a:t>
            </a:r>
          </a:p>
          <a:p>
            <a:r>
              <a:rPr sz="1300"/>
              <a:t> </a:t>
            </a:r>
          </a:p>
          <a:p>
            <a:r>
              <a:rPr sz="13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>
                <a:solidFill>
                  <a:srgbClr val="202028"/>
                </a:solidFill>
                <a:latin typeface="Consolas"/>
              </a:rPr>
              <a:t> IPrintable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>
                <a:solidFill>
                  <a:srgbClr val="202028"/>
                </a:solidFill>
                <a:latin typeface="Consolas"/>
              </a:rPr>
              <a:t> Print();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void</a:t>
            </a:r>
            <a:r>
              <a:rPr sz="1300" b="0">
                <a:solidFill>
                  <a:srgbClr val="202028"/>
                </a:solidFill>
                <a:latin typeface="Consolas"/>
              </a:rPr>
              <a:t> Draw();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Обережно: та сама сигнатура, що й в IDrawable!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  <a:p>
            <a:r>
              <a:rPr sz="1300"/>
              <a:t> </a:t>
            </a:r>
          </a:p>
          <a:p>
            <a:r>
              <a:rPr sz="1300" b="1">
                <a:solidFill>
                  <a:srgbClr val="1B4F9C"/>
                </a:solidFill>
                <a:latin typeface="Consolas"/>
              </a:rPr>
              <a:t>interface</a:t>
            </a:r>
            <a:r>
              <a:rPr sz="1300" b="0">
                <a:solidFill>
                  <a:srgbClr val="202028"/>
                </a:solidFill>
                <a:latin typeface="Consolas"/>
              </a:rPr>
              <a:t> IShape : IDrawable, IPrintable</a:t>
            </a:r>
            <a:r>
              <a:rPr sz="1300" i="1">
                <a:solidFill>
                  <a:srgbClr val="2E7D32"/>
                </a:solidFill>
                <a:latin typeface="Consolas"/>
              </a:rPr>
              <a:t>  // Успадковує одразу від двох інтерфейсів.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    </a:t>
            </a:r>
            <a:r>
              <a:rPr sz="1300" b="1">
                <a:solidFill>
                  <a:srgbClr val="1B4F9C"/>
                </a:solidFill>
                <a:latin typeface="Consolas"/>
              </a:rPr>
              <a:t>int</a:t>
            </a:r>
            <a:r>
              <a:rPr sz="1300" b="0">
                <a:solidFill>
                  <a:srgbClr val="202028"/>
                </a:solidFill>
                <a:latin typeface="Consolas"/>
              </a:rPr>
              <a:t> GetNumberOfSides();</a:t>
            </a:r>
          </a:p>
          <a:p>
            <a:r>
              <a:rPr sz="1300" b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91662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289852" cy="1523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IShape: успадкування від двох інтерфейсів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935479"/>
            <a:ext cx="6289852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600">
                <a:solidFill>
                  <a:srgbClr val="202028"/>
                </a:solidFill>
                <a:latin typeface="Calibri"/>
              </a:rPr>
              <a:t>На відміну від класів (лише один базовий клас), інтерфейс може мати будь-яку кількість базових інтерфейсів одразу.</a:t>
            </a:r>
          </a:p>
        </p:txBody>
      </p:sp>
      <p:pic>
        <p:nvPicPr>
          <p:cNvPr id="4" name="Picture 3" descr="diagram_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092" y="2350618"/>
            <a:ext cx="4667708" cy="284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116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49C891-1BBF-6C5C-B914-6A5864FF0B42}"/>
              </a:ext>
            </a:extLst>
          </p:cNvPr>
          <p:cNvSpPr txBox="1"/>
          <p:nvPr/>
        </p:nvSpPr>
        <p:spPr>
          <a:xfrm>
            <a:off x="729961" y="2782669"/>
            <a:ext cx="609426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IEnumerable</a:t>
            </a:r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&amp; </a:t>
            </a:r>
            <a:r>
              <a:rPr lang="en-U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IEnumerator</a:t>
            </a:r>
            <a:endParaRPr lang="ru-RU" sz="44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25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Навіщо потрібні IEnumerable та IEnumerator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73199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000">
                <a:solidFill>
                  <a:srgbClr val="202028"/>
                </a:solidFill>
                <a:latin typeface="Calibri"/>
              </a:rPr>
              <a:t>Ключове слово foreach уміє перебирати вміст будь-якого масиву. Але воно працює не магією - компілятор перетворює foreach на виклики членів двох стандартних інтерфейсів, IEnumerable та IEnumerator, які й забезпечують послідовний прохід по елементах.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87039"/>
            <a:ext cx="11231880" cy="35509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0" dirty="0">
                <a:solidFill>
                  <a:srgbClr val="202028"/>
                </a:solidFill>
                <a:latin typeface="Consolas"/>
              </a:rPr>
              <a:t>int[]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myArrayOfInts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= { 10, 20, 30, 40 };</a:t>
            </a:r>
          </a:p>
          <a:p>
            <a:r>
              <a:rPr sz="1500" dirty="0"/>
              <a:t> </a:t>
            </a:r>
          </a:p>
          <a:p>
            <a:r>
              <a:rPr sz="1500" b="1" dirty="0">
                <a:solidFill>
                  <a:srgbClr val="1B4F9C"/>
                </a:solidFill>
                <a:latin typeface="Consolas"/>
              </a:rPr>
              <a:t>foreach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(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i in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myArrayOfInts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)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Console.WriteLine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(i);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Компілятор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розгортає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це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через</a:t>
            </a:r>
            <a:endParaRPr sz="1500" i="1" dirty="0">
              <a:solidFill>
                <a:srgbClr val="2E7D32"/>
              </a:solidFill>
              <a:latin typeface="Consolas"/>
            </a:endParaRPr>
          </a:p>
          <a:p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IEnumerable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/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IEnumerator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14541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Офіційна документація: IEnumerable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27479"/>
            <a:ext cx="11231880" cy="7696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500">
                <a:solidFill>
                  <a:srgbClr val="202028"/>
                </a:solidFill>
                <a:latin typeface="Calibri"/>
              </a:rPr>
              <a:t>Довідка Microsoft Learn з описом інтерфейсу IEnumerable.</a:t>
            </a:r>
          </a:p>
        </p:txBody>
      </p:sp>
      <p:pic>
        <p:nvPicPr>
          <p:cNvPr id="4" name="Picture 3" descr="cap_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917" y="2334258"/>
            <a:ext cx="7945886" cy="42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373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Офіційна документація: GetEnumerator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27479"/>
            <a:ext cx="11231880" cy="7696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1500">
                <a:solidFill>
                  <a:srgbClr val="202028"/>
                </a:solidFill>
                <a:latin typeface="Calibri"/>
              </a:rPr>
              <a:t>Метод GetEnumerator() - єдиний член інтерфейсу IEnumerable.</a:t>
            </a:r>
          </a:p>
        </p:txBody>
      </p:sp>
      <p:pic>
        <p:nvPicPr>
          <p:cNvPr id="4" name="Picture 3" descr="cap_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800" y="2334258"/>
            <a:ext cx="8094119" cy="42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29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 dirty="0" err="1">
                <a:solidFill>
                  <a:srgbClr val="202028"/>
                </a:solidFill>
                <a:latin typeface="Calibri"/>
              </a:rPr>
              <a:t>Офіційна</a:t>
            </a:r>
            <a:r>
              <a:rPr sz="2800" b="1" dirty="0">
                <a:solidFill>
                  <a:srgbClr val="20202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202028"/>
                </a:solidFill>
                <a:latin typeface="Calibri"/>
              </a:rPr>
              <a:t>документація</a:t>
            </a:r>
            <a:r>
              <a:rPr sz="2800" b="1" dirty="0">
                <a:solidFill>
                  <a:srgbClr val="202028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202028"/>
                </a:solidFill>
                <a:latin typeface="Calibri"/>
              </a:rPr>
              <a:t>IEnumerator</a:t>
            </a:r>
            <a:endParaRPr sz="2800" b="1" dirty="0">
              <a:solidFill>
                <a:srgbClr val="20202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51229"/>
            <a:ext cx="11231880" cy="7696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dirty="0" err="1">
                <a:solidFill>
                  <a:srgbClr val="202028"/>
                </a:solidFill>
                <a:latin typeface="Calibri"/>
              </a:rPr>
              <a:t>Сам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dirty="0">
                <a:solidFill>
                  <a:srgbClr val="202028"/>
                </a:solidFill>
                <a:latin typeface="Calibri"/>
              </a:rPr>
              <a:t> </a:t>
            </a:r>
            <a:r>
              <a:rPr dirty="0" err="1">
                <a:solidFill>
                  <a:srgbClr val="202028"/>
                </a:solidFill>
                <a:latin typeface="Calibri"/>
              </a:rPr>
              <a:t>IEnumerator</a:t>
            </a:r>
            <a:r>
              <a:rPr dirty="0">
                <a:solidFill>
                  <a:srgbClr val="202028"/>
                </a:solidFill>
                <a:latin typeface="Calibri"/>
              </a:rPr>
              <a:t> - </a:t>
            </a:r>
            <a:r>
              <a:rPr dirty="0" err="1">
                <a:solidFill>
                  <a:srgbClr val="202028"/>
                </a:solidFill>
                <a:latin typeface="Calibri"/>
              </a:rPr>
              <a:t>MoveNext</a:t>
            </a:r>
            <a:r>
              <a:rPr dirty="0">
                <a:solidFill>
                  <a:srgbClr val="202028"/>
                </a:solidFill>
                <a:latin typeface="Calibri"/>
              </a:rPr>
              <a:t>(), Current, Reset().</a:t>
            </a:r>
          </a:p>
        </p:txBody>
      </p:sp>
      <p:pic>
        <p:nvPicPr>
          <p:cNvPr id="4" name="Picture 3" descr="cap_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14" y="2334258"/>
            <a:ext cx="7610692" cy="42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292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Приклад: побудова власного enumerator'а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19" y="1336039"/>
            <a:ext cx="11231880" cy="7696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>
                <a:solidFill>
                  <a:srgbClr val="202028"/>
                </a:solidFill>
                <a:latin typeface="Calibri"/>
              </a:rPr>
              <a:t>Структура демо-проєкту CustomEnumerator (Car, Garage, Radio) з наступних слайдів.</a:t>
            </a:r>
          </a:p>
        </p:txBody>
      </p:sp>
      <p:pic>
        <p:nvPicPr>
          <p:cNvPr id="4" name="Picture 3" descr="cap_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444" y="2334258"/>
            <a:ext cx="6958831" cy="42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417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A64BE4-9BB1-4FD8-94F6-9DFBF8654A7B}"/>
              </a:ext>
            </a:extLst>
          </p:cNvPr>
          <p:cNvSpPr txBox="1"/>
          <p:nvPr/>
        </p:nvSpPr>
        <p:spPr>
          <a:xfrm>
            <a:off x="838891" y="4358516"/>
            <a:ext cx="101089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The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heSansMonoConNormal9"/>
              </a:rPr>
              <a:t>yield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keyword is used to specify the value (or values) to be returned to the caller’s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heSansMonoConNormal9"/>
              </a:rPr>
              <a:t>foreach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construct. When the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heSansMonoConNormal9"/>
              </a:rPr>
              <a:t>yield return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statement is reached, the current location in the container is stored, and execution is restarted from this location the next time the iterator is called.</a:t>
            </a:r>
            <a:r>
              <a:rPr lang="en-US" dirty="0"/>
              <a:t> </a:t>
            </a:r>
            <a:br>
              <a:rPr lang="en-US" dirty="0"/>
            </a:b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Власний ітератор через yield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60117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 dirty="0" err="1">
                <a:solidFill>
                  <a:srgbClr val="202028"/>
                </a:solidFill>
                <a:latin typeface="Calibri"/>
              </a:rPr>
              <a:t>Клас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Garage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реалізує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IEnumerable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Ключове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слово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yield у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методі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GetEnumerator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саме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й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задає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значення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які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черзі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повертатимуться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виклику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foreach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компілятор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сам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генерує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потрібну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машину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станів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87039"/>
            <a:ext cx="11231880" cy="35509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class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Garage :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IEnumerable</a:t>
            </a:r>
            <a:endParaRPr sz="1500" b="0" dirty="0">
              <a:solidFill>
                <a:srgbClr val="202028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i="1" dirty="0">
                <a:solidFill>
                  <a:srgbClr val="2E7D32"/>
                </a:solidFill>
                <a:latin typeface="Consolas"/>
              </a:rPr>
              <a:t>  // ...</a:t>
            </a:r>
          </a:p>
          <a:p>
            <a:r>
              <a:rPr sz="1500" dirty="0"/>
              <a:t> 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IEnumerator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GetEnumerator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()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Метод-ітератор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foreach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(Car c in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carArray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)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        yield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c;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Повертає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елемент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 і "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запам'ятовує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" </a:t>
            </a:r>
            <a:r>
              <a:rPr sz="1500" i="1" dirty="0" err="1">
                <a:solidFill>
                  <a:srgbClr val="2E7D32"/>
                </a:solidFill>
                <a:latin typeface="Consolas"/>
              </a:rPr>
              <a:t>місце</a:t>
            </a:r>
            <a:r>
              <a:rPr sz="15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95032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Іменований ітератор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1138903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 dirty="0">
                <a:solidFill>
                  <a:srgbClr val="202028"/>
                </a:solidFill>
                <a:latin typeface="Calibri"/>
              </a:rPr>
              <a:t>yield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можна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використати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в БУДЬ-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якому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методі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а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лише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в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GetEnumerator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такий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метод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називають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іменованим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ітератором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Він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може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навіть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приймати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параметри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які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впливають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порядок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повернення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елементів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87039"/>
            <a:ext cx="11231880" cy="35509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6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600" b="0" dirty="0" err="1">
                <a:solidFill>
                  <a:srgbClr val="202028"/>
                </a:solidFill>
                <a:latin typeface="Consolas"/>
              </a:rPr>
              <a:t>IEnumerable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600" b="0" dirty="0" err="1">
                <a:solidFill>
                  <a:srgbClr val="202028"/>
                </a:solidFill>
                <a:latin typeface="Consolas"/>
              </a:rPr>
              <a:t>GetTheCars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bool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600" b="0" dirty="0" err="1">
                <a:solidFill>
                  <a:srgbClr val="202028"/>
                </a:solidFill>
                <a:latin typeface="Consolas"/>
              </a:rPr>
              <a:t>returnReversed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)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 // "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Іменований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"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ітератор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-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{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може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приймати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аргументи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if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(</a:t>
            </a:r>
            <a:r>
              <a:rPr sz="1600" b="0" dirty="0" err="1">
                <a:solidFill>
                  <a:srgbClr val="202028"/>
                </a:solidFill>
                <a:latin typeface="Consolas"/>
              </a:rPr>
              <a:t>returnReversed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)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for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(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i = </a:t>
            </a:r>
            <a:r>
              <a:rPr sz="1600" b="0" dirty="0" err="1">
                <a:solidFill>
                  <a:srgbClr val="202028"/>
                </a:solidFill>
                <a:latin typeface="Consolas"/>
              </a:rPr>
              <a:t>carArray.Length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; i != 0; i--)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        yield 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600" b="0" dirty="0" err="1">
                <a:solidFill>
                  <a:srgbClr val="202028"/>
                </a:solidFill>
                <a:latin typeface="Consolas"/>
              </a:rPr>
              <a:t>carArray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[i - 1];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 // У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зворотному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порядку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else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{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    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foreach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(Car c in </a:t>
            </a:r>
            <a:r>
              <a:rPr sz="1600" b="0" dirty="0" err="1">
                <a:solidFill>
                  <a:srgbClr val="202028"/>
                </a:solidFill>
                <a:latin typeface="Consolas"/>
              </a:rPr>
              <a:t>carArray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)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        yield 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return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c;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 // У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порядку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масиву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}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17370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14820F-D9CA-468B-8DE3-8BC1F3B8E0FE}"/>
              </a:ext>
            </a:extLst>
          </p:cNvPr>
          <p:cNvSpPr txBox="1"/>
          <p:nvPr/>
        </p:nvSpPr>
        <p:spPr>
          <a:xfrm>
            <a:off x="4403667" y="2379810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hlinkClick r:id="rId2"/>
              </a:rPr>
              <a:t>https://dotnetfiddle.net/TfEKn9</a:t>
            </a:r>
            <a:endParaRPr lang="en-US" b="1" dirty="0"/>
          </a:p>
          <a:p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EA92A-52C4-4099-B8A8-4C1BD9FBD3A2}"/>
              </a:ext>
            </a:extLst>
          </p:cNvPr>
          <p:cNvSpPr txBox="1"/>
          <p:nvPr/>
        </p:nvSpPr>
        <p:spPr>
          <a:xfrm>
            <a:off x="3672147" y="3508694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https://www.youtube.com/watch?v=B74jCYZebvg</a:t>
            </a:r>
            <a:endParaRPr lang="en-US" dirty="0"/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30307-41C9-4257-9F6B-D438CB122E01}"/>
              </a:ext>
            </a:extLst>
          </p:cNvPr>
          <p:cNvSpPr txBox="1"/>
          <p:nvPr/>
        </p:nvSpPr>
        <p:spPr>
          <a:xfrm>
            <a:off x="4037909" y="871050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 err="1"/>
              <a:t>IEnumerable</a:t>
            </a:r>
            <a:endParaRPr lang="ru-RU" sz="5400" b="1" dirty="0"/>
          </a:p>
        </p:txBody>
      </p:sp>
    </p:spTree>
    <p:extLst>
      <p:ext uri="{BB962C8B-B14F-4D97-AF65-F5344CB8AC3E}">
        <p14:creationId xmlns:p14="http://schemas.microsoft.com/office/powerpoint/2010/main" val="39376645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7B6FF-D3AC-4555-979F-EDFB53C19373}"/>
              </a:ext>
            </a:extLst>
          </p:cNvPr>
          <p:cNvSpPr txBox="1"/>
          <p:nvPr/>
        </p:nvSpPr>
        <p:spPr>
          <a:xfrm>
            <a:off x="3397827" y="3930034"/>
            <a:ext cx="60973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hlinkClick r:id="rId2"/>
              </a:rPr>
              <a:t>https://dotnetfiddle.net/4daKtz</a:t>
            </a:r>
            <a:endParaRPr lang="en-US" sz="3200" b="1" dirty="0"/>
          </a:p>
          <a:p>
            <a:endParaRPr lang="ru-RU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68413-6F42-4340-B5FC-30118F2D26A8}"/>
              </a:ext>
            </a:extLst>
          </p:cNvPr>
          <p:cNvSpPr txBox="1"/>
          <p:nvPr/>
        </p:nvSpPr>
        <p:spPr>
          <a:xfrm>
            <a:off x="3397827" y="2584539"/>
            <a:ext cx="60973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hlinkClick r:id="rId3"/>
              </a:rPr>
              <a:t>https://dotnetfiddle.net/iI4Ra8</a:t>
            </a:r>
            <a:endParaRPr lang="en-US" sz="3200" b="1" dirty="0"/>
          </a:p>
          <a:p>
            <a:endParaRPr lang="ru-RU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8C6DA-D32F-4634-B9C6-6AED0E0790B3}"/>
              </a:ext>
            </a:extLst>
          </p:cNvPr>
          <p:cNvSpPr txBox="1"/>
          <p:nvPr/>
        </p:nvSpPr>
        <p:spPr>
          <a:xfrm>
            <a:off x="5401194" y="542698"/>
            <a:ext cx="6097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 err="1"/>
              <a:t>yield</a:t>
            </a:r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9324752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452996" y="2897383"/>
            <a:ext cx="56430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ICloneable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0145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Інтерфейс ICloneable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68085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 dirty="0">
                <a:solidFill>
                  <a:srgbClr val="202028"/>
                </a:solidFill>
                <a:latin typeface="Calibri"/>
              </a:rPr>
              <a:t>У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System.Object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є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метод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MemberwiseClone</a:t>
            </a:r>
            <a:r>
              <a:rPr sz="2400" dirty="0">
                <a:solidFill>
                  <a:srgbClr val="202028"/>
                </a:solidFill>
                <a:latin typeface="Calibri"/>
              </a:rPr>
              <a:t>()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він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повертає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поверхневу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копію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об'єкта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але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позначений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protected,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тому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ззовні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його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викликати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можна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ICloneable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дає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стандартний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ПУБЛІЧНИЙ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спосіб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попросити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об'єкт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створити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власну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копію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987039"/>
            <a:ext cx="11231880" cy="3550921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5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202028"/>
                </a:solidFill>
                <a:latin typeface="Consolas"/>
              </a:rPr>
              <a:t>ICloneable</a:t>
            </a:r>
            <a:endParaRPr sz="1500" b="0" dirty="0">
              <a:solidFill>
                <a:srgbClr val="202028"/>
              </a:solidFill>
              <a:latin typeface="Consolas"/>
            </a:endParaRP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500" b="1" dirty="0">
                <a:solidFill>
                  <a:srgbClr val="1B4F9C"/>
                </a:solidFill>
                <a:latin typeface="Consolas"/>
              </a:rPr>
              <a:t>object</a:t>
            </a:r>
            <a:r>
              <a:rPr sz="1500" b="0" dirty="0">
                <a:solidFill>
                  <a:srgbClr val="202028"/>
                </a:solidFill>
                <a:latin typeface="Consolas"/>
              </a:rPr>
              <a:t> Clone();</a:t>
            </a:r>
          </a:p>
          <a:p>
            <a:r>
              <a:rPr sz="15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95150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060" y="529959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 dirty="0" err="1">
                <a:solidFill>
                  <a:srgbClr val="202028"/>
                </a:solidFill>
                <a:latin typeface="Calibri"/>
              </a:rPr>
              <a:t>Приклади</a:t>
            </a:r>
            <a:r>
              <a:rPr sz="2800" b="1" dirty="0">
                <a:solidFill>
                  <a:srgbClr val="202028"/>
                </a:solidFill>
                <a:latin typeface="Calibri"/>
              </a:rPr>
              <a:t> в </a:t>
            </a:r>
            <a:r>
              <a:rPr sz="2800" b="1" dirty="0" err="1">
                <a:solidFill>
                  <a:srgbClr val="202028"/>
                </a:solidFill>
                <a:latin typeface="Calibri"/>
              </a:rPr>
              <a:t>репозиторії</a:t>
            </a:r>
            <a:r>
              <a:rPr sz="2800" b="1" dirty="0">
                <a:solidFill>
                  <a:srgbClr val="202028"/>
                </a:solidFill>
                <a:latin typeface="Calibri"/>
              </a:rPr>
              <a:t>: ex-IClonable01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765" y="2211110"/>
            <a:ext cx="11231880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 dirty="0">
                <a:solidFill>
                  <a:srgbClr val="202028"/>
                </a:solidFill>
                <a:latin typeface="Calibri"/>
              </a:rPr>
              <a:t>ex-IClonable01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демонструє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базове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поверхневе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клонування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(Clone()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просто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копіює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прості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поля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в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новий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об'єкт</a:t>
            </a:r>
            <a:r>
              <a:rPr sz="2400" dirty="0">
                <a:solidFill>
                  <a:srgbClr val="202028"/>
                </a:solidFill>
                <a:latin typeface="Calibri"/>
              </a:rPr>
              <a:t>). </a:t>
            </a:r>
            <a:endParaRPr lang="en-US" sz="2400" dirty="0">
              <a:solidFill>
                <a:srgbClr val="202028"/>
              </a:solidFill>
              <a:latin typeface="Calibri"/>
            </a:endParaRPr>
          </a:p>
          <a:p>
            <a:pPr algn="ctr"/>
            <a:endParaRPr lang="en-US" sz="2400" dirty="0">
              <a:solidFill>
                <a:srgbClr val="202028"/>
              </a:solidFill>
              <a:latin typeface="Calibri"/>
            </a:endParaRPr>
          </a:p>
          <a:p>
            <a:pPr algn="ctr"/>
            <a:r>
              <a:rPr sz="2400" dirty="0">
                <a:solidFill>
                  <a:srgbClr val="202028"/>
                </a:solidFill>
                <a:latin typeface="Calibri"/>
              </a:rPr>
              <a:t>ex-IClonable02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показує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чому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цього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досить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якщо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в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класі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є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посилальне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поле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(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список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Hobbies) - і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як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зробити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СПРАВЖНЄ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глибоке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клонування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незалежне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від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оригіналу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64826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531654" y="2598003"/>
            <a:ext cx="56430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Icomparer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&amp; </a:t>
            </a:r>
            <a:r>
              <a:rPr lang="en-US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Icomparable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640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Інтерфейс IComparable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95407"/>
            <a:ext cx="11231880" cy="1595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 dirty="0" err="1">
                <a:solidFill>
                  <a:srgbClr val="202028"/>
                </a:solidFill>
                <a:latin typeface="Calibri"/>
              </a:rPr>
              <a:t>IComparable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дозволяє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об'єкту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самому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визначити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свій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порядок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сортування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через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один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метод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CompareTo</a:t>
            </a:r>
            <a:r>
              <a:rPr sz="2400" dirty="0">
                <a:solidFill>
                  <a:srgbClr val="202028"/>
                </a:solidFill>
                <a:latin typeface="Calibri"/>
              </a:rPr>
              <a:t>(). </a:t>
            </a:r>
            <a:br>
              <a:rPr lang="uk-UA" sz="2400" dirty="0">
                <a:solidFill>
                  <a:srgbClr val="202028"/>
                </a:solidFill>
                <a:latin typeface="Calibri"/>
              </a:rPr>
            </a:br>
            <a:r>
              <a:rPr sz="2400" dirty="0" err="1">
                <a:solidFill>
                  <a:srgbClr val="202028"/>
                </a:solidFill>
                <a:latin typeface="Calibri"/>
              </a:rPr>
              <a:t>За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домовленістю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він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повертає</a:t>
            </a:r>
            <a:r>
              <a:rPr sz="2400" dirty="0">
                <a:solidFill>
                  <a:srgbClr val="202028"/>
                </a:solidFill>
                <a:latin typeface="Calibri"/>
              </a:rPr>
              <a:t>: </a:t>
            </a:r>
            <a:br>
              <a:rPr lang="uk-UA" sz="2400" dirty="0">
                <a:solidFill>
                  <a:srgbClr val="202028"/>
                </a:solidFill>
                <a:latin typeface="Calibri"/>
              </a:rPr>
            </a:br>
            <a:r>
              <a:rPr lang="uk-UA" sz="2400" dirty="0">
                <a:solidFill>
                  <a:srgbClr val="202028"/>
                </a:solidFill>
                <a:latin typeface="Calibri"/>
              </a:rPr>
              <a:t>	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менше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нуля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об'єкт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менший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за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переданий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; </a:t>
            </a:r>
            <a:br>
              <a:rPr lang="uk-UA" sz="2400" dirty="0">
                <a:solidFill>
                  <a:srgbClr val="202028"/>
                </a:solidFill>
                <a:latin typeface="Calibri"/>
              </a:rPr>
            </a:br>
            <a:r>
              <a:rPr lang="uk-UA" sz="2400" dirty="0">
                <a:solidFill>
                  <a:srgbClr val="202028"/>
                </a:solidFill>
                <a:latin typeface="Calibri"/>
              </a:rPr>
              <a:t>	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нуль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об'єкти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рівні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; </a:t>
            </a:r>
            <a:br>
              <a:rPr lang="uk-UA" sz="2400" dirty="0">
                <a:solidFill>
                  <a:srgbClr val="202028"/>
                </a:solidFill>
                <a:latin typeface="Calibri"/>
              </a:rPr>
            </a:br>
            <a:r>
              <a:rPr lang="uk-UA" sz="2400" dirty="0">
                <a:solidFill>
                  <a:srgbClr val="202028"/>
                </a:solidFill>
                <a:latin typeface="Calibri"/>
              </a:rPr>
              <a:t>	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більше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нуля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-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об'єкт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більший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 </a:t>
            </a:r>
            <a:br>
              <a:rPr lang="uk-UA" sz="2400" dirty="0">
                <a:solidFill>
                  <a:srgbClr val="202028"/>
                </a:solidFill>
                <a:latin typeface="Calibri"/>
              </a:rPr>
            </a:br>
            <a:r>
              <a:rPr sz="2400" dirty="0" err="1">
                <a:solidFill>
                  <a:srgbClr val="202028"/>
                </a:solidFill>
                <a:latin typeface="Calibri"/>
              </a:rPr>
              <a:t>Готові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приклади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- ex-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Icomparable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та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ex-IComparable02.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4476955"/>
            <a:ext cx="11231880" cy="15951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r>
              <a:rPr sz="1600"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Дозволяє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об'єкту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визначити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власний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порядок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 </a:t>
            </a:r>
            <a:r>
              <a:rPr sz="1600" i="1" dirty="0" err="1">
                <a:solidFill>
                  <a:srgbClr val="2E7D32"/>
                </a:solidFill>
                <a:latin typeface="Consolas"/>
              </a:rPr>
              <a:t>сортування</a:t>
            </a:r>
            <a:r>
              <a:rPr sz="1600"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sz="1600" b="1" dirty="0">
                <a:solidFill>
                  <a:srgbClr val="1B4F9C"/>
                </a:solidFill>
                <a:latin typeface="Consolas"/>
              </a:rPr>
              <a:t>public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600" b="0" dirty="0" err="1">
                <a:solidFill>
                  <a:srgbClr val="202028"/>
                </a:solidFill>
                <a:latin typeface="Consolas"/>
              </a:rPr>
              <a:t>IComparable</a:t>
            </a:r>
            <a:endParaRPr sz="1600" b="0" dirty="0">
              <a:solidFill>
                <a:srgbClr val="202028"/>
              </a:solidFill>
              <a:latin typeface="Consolas"/>
            </a:endParaRP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</a:t>
            </a:r>
            <a:r>
              <a:rPr sz="1600" b="0" dirty="0" err="1">
                <a:solidFill>
                  <a:srgbClr val="202028"/>
                </a:solidFill>
                <a:latin typeface="Consolas"/>
              </a:rPr>
              <a:t>CompareTo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(</a:t>
            </a:r>
            <a:r>
              <a:rPr sz="1600" b="1" dirty="0">
                <a:solidFill>
                  <a:srgbClr val="1B4F9C"/>
                </a:solidFill>
                <a:latin typeface="Consolas"/>
              </a:rPr>
              <a:t>object</a:t>
            </a:r>
            <a:r>
              <a:rPr sz="1600" b="0" dirty="0">
                <a:solidFill>
                  <a:srgbClr val="202028"/>
                </a:solidFill>
                <a:latin typeface="Consolas"/>
              </a:rPr>
              <a:t> o);</a:t>
            </a:r>
          </a:p>
          <a:p>
            <a:r>
              <a:rPr sz="1600"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01815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Офіційна документація: IComparable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9230" y="951229"/>
            <a:ext cx="11231880" cy="7696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400" dirty="0" err="1">
                <a:solidFill>
                  <a:srgbClr val="202028"/>
                </a:solidFill>
                <a:latin typeface="Calibri"/>
              </a:rPr>
              <a:t>Довідка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Microsoft Learn з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описом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IComparable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cap_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118" y="2428335"/>
            <a:ext cx="8279843" cy="42037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76A740-843F-2ACA-BD9D-0C90AF78A6A7}"/>
              </a:ext>
            </a:extLst>
          </p:cNvPr>
          <p:cNvSpPr txBox="1"/>
          <p:nvPr/>
        </p:nvSpPr>
        <p:spPr>
          <a:xfrm>
            <a:off x="1173233" y="1689782"/>
            <a:ext cx="9635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https://learn.microsoft.com/ru-ru/dotnet/api/system.icomparable?view=net-10.0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7210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>
                <a:solidFill>
                  <a:srgbClr val="202028"/>
                </a:solidFill>
                <a:latin typeface="Calibri"/>
              </a:rPr>
              <a:t>Кілька способів сортування: IComparer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36039"/>
            <a:ext cx="11231880" cy="1330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800" dirty="0">
                <a:solidFill>
                  <a:srgbClr val="FF0000"/>
                </a:solidFill>
                <a:latin typeface="Calibri"/>
              </a:rPr>
              <a:t>А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що</a:t>
            </a:r>
            <a:r>
              <a:rPr sz="2800" dirty="0">
                <a:solidFill>
                  <a:srgbClr val="FF0000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якщо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один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і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той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самий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тип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потрібно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сортувати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по-різному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(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наприклад</a:t>
            </a:r>
            <a:r>
              <a:rPr sz="2800" dirty="0">
                <a:solidFill>
                  <a:srgbClr val="FF0000"/>
                </a:solidFill>
                <a:latin typeface="Calibri"/>
              </a:rPr>
              <a:t>, і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за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ID, і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за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іменем</a:t>
            </a:r>
            <a:r>
              <a:rPr sz="2800" dirty="0">
                <a:solidFill>
                  <a:srgbClr val="FF0000"/>
                </a:solidFill>
                <a:latin typeface="Calibri"/>
              </a:rPr>
              <a:t>)?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IComparable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дає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лише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ОДИН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вбудований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спосіб</a:t>
            </a:r>
            <a:r>
              <a:rPr sz="2800" dirty="0">
                <a:solidFill>
                  <a:srgbClr val="FF0000"/>
                </a:solidFill>
                <a:latin typeface="Calibri"/>
              </a:rPr>
              <a:t>.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IComparer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виносить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логіку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порівняння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в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окремий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клас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-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готові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приклади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в ex-IComparer01 </a:t>
            </a:r>
            <a:r>
              <a:rPr sz="2800" dirty="0" err="1">
                <a:solidFill>
                  <a:srgbClr val="FF0000"/>
                </a:solidFill>
                <a:latin typeface="Calibri"/>
              </a:rPr>
              <a:t>та</a:t>
            </a:r>
            <a:r>
              <a:rPr sz="2800" dirty="0">
                <a:solidFill>
                  <a:srgbClr val="FF0000"/>
                </a:solidFill>
                <a:latin typeface="Calibri"/>
              </a:rPr>
              <a:t> ex-Icomparer02.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8894" y="3992918"/>
            <a:ext cx="11231880" cy="1729458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8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t">
            <a:noAutofit/>
          </a:bodyPr>
          <a:lstStyle/>
          <a:p>
            <a:pPr algn="ctr"/>
            <a:r>
              <a:rPr i="1" dirty="0">
                <a:solidFill>
                  <a:srgbClr val="2E7D32"/>
                </a:solidFill>
                <a:latin typeface="Consolas"/>
              </a:rPr>
              <a:t>  // </a:t>
            </a:r>
            <a:r>
              <a:rPr i="1" dirty="0" err="1">
                <a:solidFill>
                  <a:srgbClr val="2E7D32"/>
                </a:solidFill>
                <a:latin typeface="Consolas"/>
              </a:rPr>
              <a:t>Універсальний</a:t>
            </a:r>
            <a:r>
              <a:rPr i="1" dirty="0">
                <a:solidFill>
                  <a:srgbClr val="2E7D32"/>
                </a:solidFill>
                <a:latin typeface="Consolas"/>
              </a:rPr>
              <a:t> </a:t>
            </a:r>
            <a:r>
              <a:rPr i="1" dirty="0" err="1">
                <a:solidFill>
                  <a:srgbClr val="2E7D32"/>
                </a:solidFill>
                <a:latin typeface="Consolas"/>
              </a:rPr>
              <a:t>спосіб</a:t>
            </a:r>
            <a:r>
              <a:rPr i="1" dirty="0">
                <a:solidFill>
                  <a:srgbClr val="2E7D32"/>
                </a:solidFill>
                <a:latin typeface="Consolas"/>
              </a:rPr>
              <a:t> </a:t>
            </a:r>
            <a:r>
              <a:rPr i="1" dirty="0" err="1">
                <a:solidFill>
                  <a:srgbClr val="2E7D32"/>
                </a:solidFill>
                <a:latin typeface="Consolas"/>
              </a:rPr>
              <a:t>порівняти</a:t>
            </a:r>
            <a:r>
              <a:rPr i="1" dirty="0">
                <a:solidFill>
                  <a:srgbClr val="2E7D32"/>
                </a:solidFill>
                <a:latin typeface="Consolas"/>
              </a:rPr>
              <a:t> </a:t>
            </a:r>
            <a:r>
              <a:rPr i="1" dirty="0" err="1">
                <a:solidFill>
                  <a:srgbClr val="2E7D32"/>
                </a:solidFill>
                <a:latin typeface="Consolas"/>
              </a:rPr>
              <a:t>два</a:t>
            </a:r>
            <a:r>
              <a:rPr i="1" dirty="0">
                <a:solidFill>
                  <a:srgbClr val="2E7D32"/>
                </a:solidFill>
                <a:latin typeface="Consolas"/>
              </a:rPr>
              <a:t> </a:t>
            </a:r>
            <a:r>
              <a:rPr i="1" dirty="0" err="1">
                <a:solidFill>
                  <a:srgbClr val="2E7D32"/>
                </a:solidFill>
                <a:latin typeface="Consolas"/>
              </a:rPr>
              <a:t>об'єкти</a:t>
            </a:r>
            <a:r>
              <a:rPr i="1" dirty="0">
                <a:solidFill>
                  <a:srgbClr val="2E7D32"/>
                </a:solidFill>
                <a:latin typeface="Consolas"/>
              </a:rPr>
              <a:t> ЗОВНІ </a:t>
            </a:r>
            <a:r>
              <a:rPr i="1" dirty="0" err="1">
                <a:solidFill>
                  <a:srgbClr val="2E7D32"/>
                </a:solidFill>
                <a:latin typeface="Consolas"/>
              </a:rPr>
              <a:t>них</a:t>
            </a:r>
            <a:r>
              <a:rPr i="1" dirty="0">
                <a:solidFill>
                  <a:srgbClr val="2E7D32"/>
                </a:solidFill>
                <a:latin typeface="Consolas"/>
              </a:rPr>
              <a:t> </a:t>
            </a:r>
            <a:r>
              <a:rPr i="1" dirty="0" err="1">
                <a:solidFill>
                  <a:srgbClr val="2E7D32"/>
                </a:solidFill>
                <a:latin typeface="Consolas"/>
              </a:rPr>
              <a:t>самих</a:t>
            </a:r>
            <a:r>
              <a:rPr i="1" dirty="0">
                <a:solidFill>
                  <a:srgbClr val="2E7D32"/>
                </a:solidFill>
                <a:latin typeface="Consolas"/>
              </a:rPr>
              <a:t>.</a:t>
            </a:r>
          </a:p>
          <a:p>
            <a:r>
              <a:rPr b="1" dirty="0">
                <a:solidFill>
                  <a:srgbClr val="1B4F9C"/>
                </a:solidFill>
                <a:latin typeface="Consolas"/>
              </a:rPr>
              <a:t>interface</a:t>
            </a:r>
            <a:r>
              <a:rPr b="0" dirty="0">
                <a:solidFill>
                  <a:srgbClr val="202028"/>
                </a:solidFill>
                <a:latin typeface="Consolas"/>
              </a:rPr>
              <a:t> </a:t>
            </a:r>
            <a:r>
              <a:rPr b="0" dirty="0" err="1">
                <a:solidFill>
                  <a:srgbClr val="202028"/>
                </a:solidFill>
                <a:latin typeface="Consolas"/>
              </a:rPr>
              <a:t>IComparer</a:t>
            </a:r>
            <a:endParaRPr b="0" dirty="0">
              <a:solidFill>
                <a:srgbClr val="202028"/>
              </a:solidFill>
              <a:latin typeface="Consolas"/>
            </a:endParaRPr>
          </a:p>
          <a:p>
            <a:r>
              <a:rPr b="0" dirty="0">
                <a:solidFill>
                  <a:srgbClr val="202028"/>
                </a:solidFill>
                <a:latin typeface="Consolas"/>
              </a:rPr>
              <a:t>{</a:t>
            </a:r>
          </a:p>
          <a:p>
            <a:r>
              <a:rPr b="0" dirty="0">
                <a:solidFill>
                  <a:srgbClr val="202028"/>
                </a:solidFill>
                <a:latin typeface="Consolas"/>
              </a:rPr>
              <a:t>    </a:t>
            </a:r>
            <a:r>
              <a:rPr b="1" dirty="0">
                <a:solidFill>
                  <a:srgbClr val="1B4F9C"/>
                </a:solidFill>
                <a:latin typeface="Consolas"/>
              </a:rPr>
              <a:t>int</a:t>
            </a:r>
            <a:r>
              <a:rPr b="0" dirty="0">
                <a:solidFill>
                  <a:srgbClr val="202028"/>
                </a:solidFill>
                <a:latin typeface="Consolas"/>
              </a:rPr>
              <a:t> Compare(</a:t>
            </a:r>
            <a:r>
              <a:rPr b="1" dirty="0">
                <a:solidFill>
                  <a:srgbClr val="1B4F9C"/>
                </a:solidFill>
                <a:latin typeface="Consolas"/>
              </a:rPr>
              <a:t>object</a:t>
            </a:r>
            <a:r>
              <a:rPr b="0" dirty="0">
                <a:solidFill>
                  <a:srgbClr val="202028"/>
                </a:solidFill>
                <a:latin typeface="Consolas"/>
              </a:rPr>
              <a:t> o1, </a:t>
            </a:r>
            <a:r>
              <a:rPr b="1" dirty="0">
                <a:solidFill>
                  <a:srgbClr val="1B4F9C"/>
                </a:solidFill>
                <a:latin typeface="Consolas"/>
              </a:rPr>
              <a:t>object</a:t>
            </a:r>
            <a:r>
              <a:rPr b="0" dirty="0">
                <a:solidFill>
                  <a:srgbClr val="202028"/>
                </a:solidFill>
                <a:latin typeface="Consolas"/>
              </a:rPr>
              <a:t> o2);</a:t>
            </a:r>
          </a:p>
          <a:p>
            <a:r>
              <a:rPr b="0" dirty="0">
                <a:solidFill>
                  <a:srgbClr val="202028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16352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231880" cy="10617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sz="2800" b="1" dirty="0" err="1">
                <a:solidFill>
                  <a:srgbClr val="202028"/>
                </a:solidFill>
                <a:latin typeface="Calibri"/>
              </a:rPr>
              <a:t>Офіційна</a:t>
            </a:r>
            <a:r>
              <a:rPr sz="2800" b="1" dirty="0">
                <a:solidFill>
                  <a:srgbClr val="202028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202028"/>
                </a:solidFill>
                <a:latin typeface="Calibri"/>
              </a:rPr>
              <a:t>документація</a:t>
            </a:r>
            <a:r>
              <a:rPr sz="2800" b="1" dirty="0">
                <a:solidFill>
                  <a:srgbClr val="202028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202028"/>
                </a:solidFill>
                <a:latin typeface="Calibri"/>
              </a:rPr>
              <a:t>IComparer</a:t>
            </a:r>
            <a:endParaRPr sz="2800" b="1" dirty="0">
              <a:solidFill>
                <a:srgbClr val="20202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8056" y="951229"/>
            <a:ext cx="11231880" cy="76961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400" dirty="0" err="1">
                <a:solidFill>
                  <a:srgbClr val="202028"/>
                </a:solidFill>
                <a:latin typeface="Calibri"/>
              </a:rPr>
              <a:t>Довідка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Microsoft Learn з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описом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інтерфейсу</a:t>
            </a:r>
            <a:r>
              <a:rPr sz="2400" dirty="0">
                <a:solidFill>
                  <a:srgbClr val="202028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202028"/>
                </a:solidFill>
                <a:latin typeface="Calibri"/>
              </a:rPr>
              <a:t>IComparer</a:t>
            </a:r>
            <a:r>
              <a:rPr sz="2400" dirty="0">
                <a:solidFill>
                  <a:srgbClr val="202028"/>
                </a:solidFill>
                <a:latin typeface="Calibri"/>
              </a:rPr>
              <a:t>.</a:t>
            </a:r>
            <a:br>
              <a:rPr lang="en-US" sz="2400" dirty="0">
                <a:solidFill>
                  <a:srgbClr val="202028"/>
                </a:solidFill>
                <a:latin typeface="Calibri"/>
              </a:rPr>
            </a:br>
            <a:br>
              <a:rPr lang="en-US" sz="2400" dirty="0">
                <a:solidFill>
                  <a:srgbClr val="202028"/>
                </a:solidFill>
                <a:latin typeface="Calibri"/>
              </a:rPr>
            </a:br>
            <a:r>
              <a:rPr lang="en-US" sz="2400" dirty="0">
                <a:solidFill>
                  <a:srgbClr val="202028"/>
                </a:solidFill>
                <a:latin typeface="Calibri"/>
                <a:hlinkClick r:id="rId2"/>
              </a:rPr>
              <a:t>https://learn.microsoft.com/ru-ru/dotnet/api/system.collections.generic.icomparer-1?view=net-10.0</a:t>
            </a:r>
            <a:endParaRPr lang="en-US" sz="2400" dirty="0">
              <a:solidFill>
                <a:srgbClr val="202028"/>
              </a:solidFill>
              <a:latin typeface="Calibri"/>
            </a:endParaRPr>
          </a:p>
          <a:p>
            <a:endParaRPr sz="2400" dirty="0">
              <a:solidFill>
                <a:srgbClr val="202028"/>
              </a:solidFill>
              <a:latin typeface="Calibri"/>
            </a:endParaRPr>
          </a:p>
        </p:txBody>
      </p:sp>
      <p:pic>
        <p:nvPicPr>
          <p:cNvPr id="4" name="Picture 3" descr="cap_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223" y="2560400"/>
            <a:ext cx="7911554" cy="42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623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B8B7E3-A974-4A24-AA26-CC83F5EE5770}"/>
              </a:ext>
            </a:extLst>
          </p:cNvPr>
          <p:cNvSpPr txBox="1"/>
          <p:nvPr/>
        </p:nvSpPr>
        <p:spPr>
          <a:xfrm>
            <a:off x="4511732" y="3779081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hlinkClick r:id="rId2"/>
              </a:rPr>
              <a:t>https://dotnetfiddle.net/lefy5l</a:t>
            </a:r>
            <a:endParaRPr lang="ru-RU" b="1" dirty="0"/>
          </a:p>
          <a:p>
            <a:endParaRPr lang="ru-RU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2D3B2-95F9-4265-A1BA-4CAF15012212}"/>
              </a:ext>
            </a:extLst>
          </p:cNvPr>
          <p:cNvSpPr txBox="1"/>
          <p:nvPr/>
        </p:nvSpPr>
        <p:spPr>
          <a:xfrm>
            <a:off x="4854632" y="872430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 err="1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IComparer</a:t>
            </a:r>
            <a:endParaRPr lang="ru-RU" sz="3600" b="1" i="0" dirty="0">
              <a:effectLst/>
              <a:highlight>
                <a:srgbClr val="FFFF00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6C96C-673D-4757-A56B-A4EC729330C9}"/>
              </a:ext>
            </a:extLst>
          </p:cNvPr>
          <p:cNvSpPr txBox="1"/>
          <p:nvPr/>
        </p:nvSpPr>
        <p:spPr>
          <a:xfrm>
            <a:off x="2225386" y="2155589"/>
            <a:ext cx="77412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hlinkClick r:id="rId3"/>
              </a:rPr>
              <a:t>https://learn.microsoft.com/ru-ru/dotnet/api/system.collections.icomparer?view=net-6.0</a:t>
            </a:r>
            <a:endParaRPr lang="ru-RU" dirty="0"/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100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59267E-1408-4D87-9E44-58150AC1F40B}"/>
              </a:ext>
            </a:extLst>
          </p:cNvPr>
          <p:cNvSpPr txBox="1"/>
          <p:nvPr/>
        </p:nvSpPr>
        <p:spPr>
          <a:xfrm>
            <a:off x="4295602" y="703193"/>
            <a:ext cx="3534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 err="1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IComparable</a:t>
            </a:r>
            <a:r>
              <a:rPr lang="en-US" sz="3200" b="1" i="0" dirty="0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&lt;T&gt;</a:t>
            </a:r>
            <a:endParaRPr lang="ru-RU" sz="3200" b="1" i="0" dirty="0">
              <a:effectLst/>
              <a:highlight>
                <a:srgbClr val="FFFF00"/>
              </a:highlight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CB6E85-ADB5-42DD-9C2D-666F414884FC}"/>
              </a:ext>
            </a:extLst>
          </p:cNvPr>
          <p:cNvSpPr txBox="1"/>
          <p:nvPr/>
        </p:nvSpPr>
        <p:spPr>
          <a:xfrm>
            <a:off x="1120967" y="2199328"/>
            <a:ext cx="93012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hlinkClick r:id="rId2"/>
              </a:rPr>
              <a:t>https://learn.microsoft.com/ru-ru/dotnet/api/system.icomparable-1?view=net-6.0#code-try-2</a:t>
            </a:r>
            <a:endParaRPr lang="ru-RU" sz="3600" dirty="0"/>
          </a:p>
          <a:p>
            <a:pPr algn="ctr"/>
            <a:endParaRPr lang="ru-RU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BD623-FC7B-46C5-87F2-119104DC64B1}"/>
              </a:ext>
            </a:extLst>
          </p:cNvPr>
          <p:cNvSpPr txBox="1"/>
          <p:nvPr/>
        </p:nvSpPr>
        <p:spPr>
          <a:xfrm>
            <a:off x="2879757" y="4818847"/>
            <a:ext cx="7542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hlinkClick r:id="rId3"/>
              </a:rPr>
              <a:t>https://dotnetfiddle.net/9diSHu</a:t>
            </a:r>
            <a:endParaRPr lang="en-US" sz="3600" b="1" dirty="0"/>
          </a:p>
          <a:p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440863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2B0CE1-48B4-4122-A2A1-64A2F1E9856F}"/>
              </a:ext>
            </a:extLst>
          </p:cNvPr>
          <p:cNvSpPr txBox="1"/>
          <p:nvPr/>
        </p:nvSpPr>
        <p:spPr>
          <a:xfrm>
            <a:off x="3047308" y="1827863"/>
            <a:ext cx="60973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hlinkClick r:id="rId2"/>
              </a:rPr>
              <a:t>https://dev.to/digionix/icomparable-vs-icomparer-274f</a:t>
            </a:r>
            <a:endParaRPr lang="en-US" sz="3600" dirty="0"/>
          </a:p>
          <a:p>
            <a:pPr algn="ctr"/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3D0A5-3116-42B6-8CB0-99A55937A097}"/>
              </a:ext>
            </a:extLst>
          </p:cNvPr>
          <p:cNvSpPr txBox="1"/>
          <p:nvPr/>
        </p:nvSpPr>
        <p:spPr>
          <a:xfrm>
            <a:off x="1860822" y="3696848"/>
            <a:ext cx="8724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hlinkClick r:id="rId3"/>
              </a:rPr>
              <a:t>https://www.c-sharpcorner.com/article/icomparable-vs-icomparer-interface-in-c-sharp/</a:t>
            </a:r>
            <a:endParaRPr lang="en-US" sz="3600" dirty="0"/>
          </a:p>
          <a:p>
            <a:pPr algn="ctr"/>
            <a:endParaRPr lang="ru-RU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77C04-6EFF-80DD-AD3F-92906145D794}"/>
              </a:ext>
            </a:extLst>
          </p:cNvPr>
          <p:cNvSpPr txBox="1"/>
          <p:nvPr/>
        </p:nvSpPr>
        <p:spPr>
          <a:xfrm>
            <a:off x="5147657" y="689028"/>
            <a:ext cx="3534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i="0" dirty="0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ЧИТАТИ</a:t>
            </a:r>
          </a:p>
        </p:txBody>
      </p:sp>
    </p:spTree>
    <p:extLst>
      <p:ext uri="{BB962C8B-B14F-4D97-AF65-F5344CB8AC3E}">
        <p14:creationId xmlns:p14="http://schemas.microsoft.com/office/powerpoint/2010/main" val="35797976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круг, Графика, Шрифт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3F647D4-A926-8EC3-BD22-656B950C7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949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5020</Words>
  <Application>Microsoft Office PowerPoint</Application>
  <PresentationFormat>Широкоэкранный</PresentationFormat>
  <Paragraphs>614</Paragraphs>
  <Slides>68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68</vt:i4>
      </vt:variant>
    </vt:vector>
  </HeadingPairs>
  <TitlesOfParts>
    <vt:vector size="78" baseType="lpstr">
      <vt:lpstr>agave Nerd Font</vt:lpstr>
      <vt:lpstr>agave Nerd Font Mono</vt:lpstr>
      <vt:lpstr>Arial</vt:lpstr>
      <vt:lpstr>Calibri</vt:lpstr>
      <vt:lpstr>Calibri Light</vt:lpstr>
      <vt:lpstr>Consolas</vt:lpstr>
      <vt:lpstr>Segoe UI</vt:lpstr>
      <vt:lpstr>TheSansMonoConNormal9</vt:lpstr>
      <vt:lpstr>UtopiaStd-Regular9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Tomka</dc:creator>
  <cp:lastModifiedBy>Yuriy Tomka</cp:lastModifiedBy>
  <cp:revision>24</cp:revision>
  <dcterms:created xsi:type="dcterms:W3CDTF">2022-10-02T19:29:19Z</dcterms:created>
  <dcterms:modified xsi:type="dcterms:W3CDTF">2026-09-15T08:15:25Z</dcterms:modified>
</cp:coreProperties>
</file>